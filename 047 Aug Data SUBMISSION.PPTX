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xls" ContentType="application/vnd.ms-exce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Default Extension="vml" ContentType="application/vnd.openxmlformats-officedocument.vmlDrawing"/>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74" r:id="rId2"/>
    <p:sldId id="287" r:id="rId3"/>
    <p:sldId id="308" r:id="rId4"/>
    <p:sldId id="271" r:id="rId5"/>
    <p:sldId id="330" r:id="rId6"/>
    <p:sldId id="328" r:id="rId7"/>
    <p:sldId id="324" r:id="rId8"/>
    <p:sldId id="325" r:id="rId9"/>
    <p:sldId id="326" r:id="rId10"/>
    <p:sldId id="327" r:id="rId11"/>
    <p:sldId id="316" r:id="rId12"/>
    <p:sldId id="310" r:id="rId13"/>
    <p:sldId id="311" r:id="rId14"/>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hn D Gardner" initials="" lastIdx="7" clrIdx="0"/>
  <p:cmAuthor id="1" name="EIE Desktop Technologies" initials="ED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CC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0867" autoAdjust="0"/>
    <p:restoredTop sz="99314" autoAdjust="0"/>
  </p:normalViewPr>
  <p:slideViewPr>
    <p:cSldViewPr>
      <p:cViewPr>
        <p:scale>
          <a:sx n="100" d="100"/>
          <a:sy n="100" d="100"/>
        </p:scale>
        <p:origin x="-14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8475" cy="465138"/>
          </a:xfrm>
          <a:prstGeom prst="rect">
            <a:avLst/>
          </a:prstGeom>
        </p:spPr>
        <p:txBody>
          <a:bodyPr vert="horz" lIns="91431" tIns="45715" rIns="91431" bIns="45715" rtlCol="0"/>
          <a:lstStyle>
            <a:lvl1pPr algn="l">
              <a:defRPr sz="1200"/>
            </a:lvl1pPr>
          </a:lstStyle>
          <a:p>
            <a:endParaRPr lang="en-US" dirty="0"/>
          </a:p>
        </p:txBody>
      </p:sp>
      <p:sp>
        <p:nvSpPr>
          <p:cNvPr id="3" name="Date Placeholder 2"/>
          <p:cNvSpPr>
            <a:spLocks noGrp="1"/>
          </p:cNvSpPr>
          <p:nvPr>
            <p:ph type="dt" sz="quarter" idx="1"/>
          </p:nvPr>
        </p:nvSpPr>
        <p:spPr>
          <a:xfrm>
            <a:off x="3970339" y="1"/>
            <a:ext cx="3038475" cy="465138"/>
          </a:xfrm>
          <a:prstGeom prst="rect">
            <a:avLst/>
          </a:prstGeom>
        </p:spPr>
        <p:txBody>
          <a:bodyPr vert="horz" lIns="91431" tIns="45715" rIns="91431" bIns="45715" rtlCol="0"/>
          <a:lstStyle>
            <a:lvl1pPr algn="r">
              <a:defRPr sz="1200"/>
            </a:lvl1pPr>
          </a:lstStyle>
          <a:p>
            <a:fld id="{6F9EC5CB-E02C-4104-B359-1DA73B213AE1}" type="datetimeFigureOut">
              <a:rPr lang="en-US" smtClean="0"/>
              <a:pPr/>
              <a:t>9/17/2012</a:t>
            </a:fld>
            <a:endParaRPr lang="en-US" dirty="0"/>
          </a:p>
        </p:txBody>
      </p:sp>
      <p:sp>
        <p:nvSpPr>
          <p:cNvPr id="4" name="Footer Placeholder 3"/>
          <p:cNvSpPr>
            <a:spLocks noGrp="1"/>
          </p:cNvSpPr>
          <p:nvPr>
            <p:ph type="ftr" sz="quarter" idx="2"/>
          </p:nvPr>
        </p:nvSpPr>
        <p:spPr>
          <a:xfrm>
            <a:off x="1" y="8829675"/>
            <a:ext cx="3038475" cy="465138"/>
          </a:xfrm>
          <a:prstGeom prst="rect">
            <a:avLst/>
          </a:prstGeom>
        </p:spPr>
        <p:txBody>
          <a:bodyPr vert="horz" lIns="91431" tIns="45715" rIns="91431" bIns="45715"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339" y="8829675"/>
            <a:ext cx="3038475" cy="465138"/>
          </a:xfrm>
          <a:prstGeom prst="rect">
            <a:avLst/>
          </a:prstGeom>
        </p:spPr>
        <p:txBody>
          <a:bodyPr vert="horz" lIns="91431" tIns="45715" rIns="91431" bIns="45715" rtlCol="0" anchor="b"/>
          <a:lstStyle>
            <a:lvl1pPr algn="r">
              <a:defRPr sz="1200"/>
            </a:lvl1pPr>
          </a:lstStyle>
          <a:p>
            <a:fld id="{8EA5F596-A565-47D9-8E82-97FA1716913F}" type="slidenum">
              <a:rPr lang="en-US" smtClean="0"/>
              <a:pPr/>
              <a:t>‹#›</a:t>
            </a:fld>
            <a:endParaRPr lang="en-US" dirty="0"/>
          </a:p>
        </p:txBody>
      </p:sp>
    </p:spTree>
    <p:extLst>
      <p:ext uri="{BB962C8B-B14F-4D97-AF65-F5344CB8AC3E}">
        <p14:creationId xmlns:p14="http://schemas.microsoft.com/office/powerpoint/2010/main" xmlns="" val="4238226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8475" cy="465138"/>
          </a:xfrm>
          <a:prstGeom prst="rect">
            <a:avLst/>
          </a:prstGeom>
        </p:spPr>
        <p:txBody>
          <a:bodyPr vert="horz" lIns="91431" tIns="45715" rIns="91431" bIns="45715" rtlCol="0"/>
          <a:lstStyle>
            <a:lvl1pPr algn="l">
              <a:defRPr sz="1200"/>
            </a:lvl1pPr>
          </a:lstStyle>
          <a:p>
            <a:endParaRPr lang="en-US" dirty="0"/>
          </a:p>
        </p:txBody>
      </p:sp>
      <p:sp>
        <p:nvSpPr>
          <p:cNvPr id="3" name="Date Placeholder 2"/>
          <p:cNvSpPr>
            <a:spLocks noGrp="1"/>
          </p:cNvSpPr>
          <p:nvPr>
            <p:ph type="dt" idx="1"/>
          </p:nvPr>
        </p:nvSpPr>
        <p:spPr>
          <a:xfrm>
            <a:off x="3970339" y="1"/>
            <a:ext cx="3038475" cy="465138"/>
          </a:xfrm>
          <a:prstGeom prst="rect">
            <a:avLst/>
          </a:prstGeom>
        </p:spPr>
        <p:txBody>
          <a:bodyPr vert="horz" lIns="91431" tIns="45715" rIns="91431" bIns="45715" rtlCol="0"/>
          <a:lstStyle>
            <a:lvl1pPr algn="r">
              <a:defRPr sz="1200"/>
            </a:lvl1pPr>
          </a:lstStyle>
          <a:p>
            <a:fld id="{93CD0360-B7DD-409A-B109-F5D002317353}" type="datetimeFigureOut">
              <a:rPr lang="en-US" smtClean="0"/>
              <a:pPr/>
              <a:t>9/17/2012</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31" tIns="45715" rIns="91431" bIns="45715" rtlCol="0" anchor="ctr"/>
          <a:lstStyle/>
          <a:p>
            <a:endParaRPr lang="en-US"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31" tIns="45715" rIns="91431" bIns="45715"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8829675"/>
            <a:ext cx="3038475" cy="465138"/>
          </a:xfrm>
          <a:prstGeom prst="rect">
            <a:avLst/>
          </a:prstGeom>
        </p:spPr>
        <p:txBody>
          <a:bodyPr vert="horz" lIns="91431" tIns="45715" rIns="91431" bIns="4571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9" y="8829675"/>
            <a:ext cx="3038475" cy="465138"/>
          </a:xfrm>
          <a:prstGeom prst="rect">
            <a:avLst/>
          </a:prstGeom>
        </p:spPr>
        <p:txBody>
          <a:bodyPr vert="horz" lIns="91431" tIns="45715" rIns="91431" bIns="45715" rtlCol="0" anchor="b"/>
          <a:lstStyle>
            <a:lvl1pPr algn="r">
              <a:defRPr sz="1200"/>
            </a:lvl1pPr>
          </a:lstStyle>
          <a:p>
            <a:fld id="{79E2357B-7FAA-434E-849E-AEFDB903030B}" type="slidenum">
              <a:rPr lang="en-US" smtClean="0"/>
              <a:pPr/>
              <a:t>‹#›</a:t>
            </a:fld>
            <a:endParaRPr lang="en-US" dirty="0"/>
          </a:p>
        </p:txBody>
      </p:sp>
    </p:spTree>
    <p:extLst>
      <p:ext uri="{BB962C8B-B14F-4D97-AF65-F5344CB8AC3E}">
        <p14:creationId xmlns:p14="http://schemas.microsoft.com/office/powerpoint/2010/main" xmlns="" val="2083369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0EC46EA1-56EA-43C2-AD64-B5A8B72717E8}" type="slidenum">
              <a:rPr lang="en-US" smtClean="0">
                <a:latin typeface="Arial" pitchFamily="34" charset="0"/>
              </a:rPr>
              <a:pPr/>
              <a:t>4</a:t>
            </a:fld>
            <a:endParaRPr lang="en-US" dirty="0" smtClean="0">
              <a:latin typeface="Arial" pitchFamily="3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0EC46EA1-56EA-43C2-AD64-B5A8B72717E8}" type="slidenum">
              <a:rPr lang="en-US" smtClean="0">
                <a:latin typeface="Arial" pitchFamily="34" charset="0"/>
              </a:rPr>
              <a:pPr/>
              <a:t>6</a:t>
            </a:fld>
            <a:endParaRPr lang="en-US" dirty="0" smtClean="0">
              <a:latin typeface="Arial" pitchFamily="3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F6A7868B-CAA5-49CC-AA7A-B7EACB283011}" type="slidenum">
              <a:rPr lang="en-US" smtClean="0">
                <a:latin typeface="Arial" pitchFamily="34" charset="0"/>
              </a:rPr>
              <a:pPr/>
              <a:t>8</a:t>
            </a:fld>
            <a:endParaRPr lang="en-US" dirty="0" smtClean="0">
              <a:latin typeface="Arial" pitchFamily="34"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en-US" dirty="0"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0EC46EA1-56EA-43C2-AD64-B5A8B72717E8}" type="slidenum">
              <a:rPr lang="en-US" smtClean="0">
                <a:latin typeface="Arial" pitchFamily="34" charset="0"/>
              </a:rPr>
              <a:pPr/>
              <a:t>10</a:t>
            </a:fld>
            <a:endParaRPr lang="en-US" dirty="0" smtClean="0">
              <a:latin typeface="Arial" pitchFamily="3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txBox="1">
            <a:spLocks noGrp="1" noChangeArrowheads="1"/>
          </p:cNvSpPr>
          <p:nvPr/>
        </p:nvSpPr>
        <p:spPr bwMode="auto">
          <a:xfrm>
            <a:off x="3969593" y="8827449"/>
            <a:ext cx="3039219" cy="467363"/>
          </a:xfrm>
          <a:prstGeom prst="rect">
            <a:avLst/>
          </a:prstGeom>
          <a:noFill/>
          <a:ln w="9525">
            <a:noFill/>
            <a:miter lim="800000"/>
            <a:headEnd/>
            <a:tailEnd/>
          </a:ln>
        </p:spPr>
        <p:txBody>
          <a:bodyPr lIns="89688" tIns="44842" rIns="89688" bIns="44842" anchor="b"/>
          <a:lstStyle/>
          <a:p>
            <a:pPr algn="r" defTabSz="893674"/>
            <a:fld id="{6FD409A2-575B-4F72-97FC-F06CD1D9BFF3}" type="slidenum">
              <a:rPr lang="en-US" sz="1200"/>
              <a:pPr algn="r" defTabSz="893674"/>
              <a:t>11</a:t>
            </a:fld>
            <a:endParaRPr lang="en-US" sz="1200" dirty="0"/>
          </a:p>
        </p:txBody>
      </p:sp>
      <p:sp>
        <p:nvSpPr>
          <p:cNvPr id="13315" name="Rectangle 7"/>
          <p:cNvSpPr txBox="1">
            <a:spLocks noGrp="1" noChangeArrowheads="1"/>
          </p:cNvSpPr>
          <p:nvPr/>
        </p:nvSpPr>
        <p:spPr bwMode="auto">
          <a:xfrm>
            <a:off x="3969593" y="8827449"/>
            <a:ext cx="3039219" cy="467363"/>
          </a:xfrm>
          <a:prstGeom prst="rect">
            <a:avLst/>
          </a:prstGeom>
          <a:noFill/>
          <a:ln w="9525">
            <a:noFill/>
            <a:miter lim="800000"/>
            <a:headEnd/>
            <a:tailEnd/>
          </a:ln>
        </p:spPr>
        <p:txBody>
          <a:bodyPr lIns="91382" tIns="45691" rIns="91382" bIns="45691" anchor="b"/>
          <a:lstStyle/>
          <a:p>
            <a:pPr algn="r" defTabSz="907960"/>
            <a:fld id="{2F23E326-28CA-47E4-BF97-86E285315D5A}" type="slidenum">
              <a:rPr lang="en-US" sz="1200"/>
              <a:pPr algn="r" defTabSz="907960"/>
              <a:t>11</a:t>
            </a:fld>
            <a:endParaRPr lang="en-US" sz="1200" dirty="0"/>
          </a:p>
        </p:txBody>
      </p:sp>
      <p:sp>
        <p:nvSpPr>
          <p:cNvPr id="13316" name="Rectangle 2"/>
          <p:cNvSpPr>
            <a:spLocks noGrp="1" noRot="1" noChangeAspect="1" noChangeArrowheads="1" noTextEdit="1"/>
          </p:cNvSpPr>
          <p:nvPr>
            <p:ph type="sldImg"/>
          </p:nvPr>
        </p:nvSpPr>
        <p:spPr>
          <a:xfrm>
            <a:off x="1179513" y="693738"/>
            <a:ext cx="4651375" cy="3487737"/>
          </a:xfrm>
          <a:ln/>
        </p:spPr>
      </p:sp>
      <p:sp>
        <p:nvSpPr>
          <p:cNvPr id="13317" name="Rectangle 3"/>
          <p:cNvSpPr>
            <a:spLocks noGrp="1" noChangeArrowheads="1"/>
          </p:cNvSpPr>
          <p:nvPr>
            <p:ph type="body" idx="1"/>
          </p:nvPr>
        </p:nvSpPr>
        <p:spPr>
          <a:xfrm>
            <a:off x="701360" y="4416107"/>
            <a:ext cx="5607684" cy="4185606"/>
          </a:xfrm>
          <a:noFill/>
          <a:ln/>
        </p:spPr>
        <p:txBody>
          <a:bodyPr lIns="91382" tIns="45691" rIns="91382" bIns="45691"/>
          <a:lstStyle/>
          <a:p>
            <a:endParaRPr lang="en-US" dirty="0" smtClean="0">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7AB3000B-A311-49A9-A73A-D7550865C310}" type="slidenum">
              <a:rPr lang="en-US" smtClean="0">
                <a:latin typeface="Arial" charset="0"/>
              </a:rPr>
              <a:pPr/>
              <a:t>12</a:t>
            </a:fld>
            <a:endParaRPr lang="en-US" dirty="0" smtClean="0">
              <a:latin typeface="Arial" charset="0"/>
            </a:endParaRPr>
          </a:p>
        </p:txBody>
      </p:sp>
      <p:sp>
        <p:nvSpPr>
          <p:cNvPr id="17411" name="Rectangle 7"/>
          <p:cNvSpPr txBox="1">
            <a:spLocks noGrp="1" noChangeArrowheads="1"/>
          </p:cNvSpPr>
          <p:nvPr/>
        </p:nvSpPr>
        <p:spPr bwMode="auto">
          <a:xfrm>
            <a:off x="3971184" y="8829037"/>
            <a:ext cx="3037628" cy="465774"/>
          </a:xfrm>
          <a:prstGeom prst="rect">
            <a:avLst/>
          </a:prstGeom>
          <a:noFill/>
          <a:ln w="9525">
            <a:noFill/>
            <a:miter lim="800000"/>
            <a:headEnd/>
            <a:tailEnd/>
          </a:ln>
        </p:spPr>
        <p:txBody>
          <a:bodyPr lIns="93121" tIns="46560" rIns="93121" bIns="46560" anchor="b"/>
          <a:lstStyle/>
          <a:p>
            <a:pPr algn="r" defTabSz="925421"/>
            <a:fld id="{A5740B29-6D14-4724-94FA-C45725008B25}" type="slidenum">
              <a:rPr lang="en-US" sz="1200"/>
              <a:pPr algn="r" defTabSz="925421"/>
              <a:t>12</a:t>
            </a:fld>
            <a:endParaRPr lang="en-US" sz="1200" dirty="0"/>
          </a:p>
        </p:txBody>
      </p:sp>
      <p:sp>
        <p:nvSpPr>
          <p:cNvPr id="17412" name="Rectangle 7"/>
          <p:cNvSpPr txBox="1">
            <a:spLocks noGrp="1" noChangeArrowheads="1"/>
          </p:cNvSpPr>
          <p:nvPr/>
        </p:nvSpPr>
        <p:spPr bwMode="auto">
          <a:xfrm>
            <a:off x="3971184" y="8829037"/>
            <a:ext cx="3037628" cy="465774"/>
          </a:xfrm>
          <a:prstGeom prst="rect">
            <a:avLst/>
          </a:prstGeom>
          <a:noFill/>
          <a:ln w="9525">
            <a:noFill/>
            <a:miter lim="800000"/>
            <a:headEnd/>
            <a:tailEnd/>
          </a:ln>
        </p:spPr>
        <p:txBody>
          <a:bodyPr lIns="93111" tIns="46555" rIns="93111" bIns="46555" anchor="b"/>
          <a:lstStyle/>
          <a:p>
            <a:pPr algn="r" defTabSz="925421"/>
            <a:fld id="{823D6AFF-7923-4668-870A-CEA9385809B2}" type="slidenum">
              <a:rPr lang="en-US" sz="1200"/>
              <a:pPr algn="r" defTabSz="925421"/>
              <a:t>12</a:t>
            </a:fld>
            <a:endParaRPr lang="en-US" sz="1200" dirty="0"/>
          </a:p>
        </p:txBody>
      </p:sp>
      <p:sp>
        <p:nvSpPr>
          <p:cNvPr id="17413" name="Rectangle 2"/>
          <p:cNvSpPr>
            <a:spLocks noGrp="1" noRot="1" noChangeAspect="1" noChangeArrowheads="1" noTextEdit="1"/>
          </p:cNvSpPr>
          <p:nvPr>
            <p:ph type="sldImg"/>
          </p:nvPr>
        </p:nvSpPr>
        <p:spPr>
          <a:xfrm>
            <a:off x="1169988" y="203200"/>
            <a:ext cx="4702175" cy="3525838"/>
          </a:xfrm>
          <a:ln/>
        </p:spPr>
      </p:sp>
      <p:sp>
        <p:nvSpPr>
          <p:cNvPr id="17414" name="Rectangle 3"/>
          <p:cNvSpPr>
            <a:spLocks noGrp="1" noChangeArrowheads="1"/>
          </p:cNvSpPr>
          <p:nvPr>
            <p:ph type="body" idx="1"/>
          </p:nvPr>
        </p:nvSpPr>
        <p:spPr>
          <a:xfrm>
            <a:off x="112917" y="3840648"/>
            <a:ext cx="6609624" cy="4141095"/>
          </a:xfrm>
          <a:noFill/>
          <a:ln/>
        </p:spPr>
        <p:txBody>
          <a:bodyPr lIns="89507" tIns="44753" rIns="89507" bIns="44753"/>
          <a:lstStyle/>
          <a:p>
            <a:pPr>
              <a:lnSpc>
                <a:spcPct val="80000"/>
              </a:lnSpc>
            </a:pPr>
            <a:endParaRPr lang="en-US" sz="1000" dirty="0" smtClean="0">
              <a:latin typeface="Arial Narrow"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4F9D01A8-DCEE-41EE-AAE1-98D3C84B97EA}" type="datetimeFigureOut">
              <a:rPr lang="en-US"/>
              <a:pPr>
                <a:defRPr/>
              </a:pPr>
              <a:t>9/17/2012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800F546-5A33-400E-B18E-A2057131E90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DBE65A1-62D3-4D8A-9025-0E48739EC81B}" type="datetimeFigureOut">
              <a:rPr lang="en-US"/>
              <a:pPr>
                <a:defRPr/>
              </a:pPr>
              <a:t>9/17/2012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DCB05AD-5A8F-4B8C-8B43-D7FAF87F64A6}"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1B96C4D-42A1-4456-AF34-0DD8F0AFC9EF}" type="datetimeFigureOut">
              <a:rPr lang="en-US"/>
              <a:pPr>
                <a:defRPr/>
              </a:pPr>
              <a:t>9/17/2012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0C9EAB-3A7A-4C37-8BF8-17D0AB8795CB}"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81626B0-0143-4AD4-8577-7953715D53B6}" type="datetimeFigureOut">
              <a:rPr lang="en-US"/>
              <a:pPr>
                <a:defRPr/>
              </a:pPr>
              <a:t>9/17/2012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3C19449-6446-4070-844B-664C756D0792}"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608ABFE8-8F7C-4EEC-B6BF-9BD845FB8681}" type="datetimeFigureOut">
              <a:rPr lang="en-US"/>
              <a:pPr>
                <a:defRPr/>
              </a:pPr>
              <a:t>9/17/2012</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0D948C1A-A970-4B2D-B929-1C43CF394227}"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C6E14C79-0BFF-47AC-A6AD-108B90AF5598}" type="datetimeFigureOut">
              <a:rPr lang="en-US"/>
              <a:pPr>
                <a:defRPr/>
              </a:pPr>
              <a:t>9/17/2012</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7E3FDE02-CF0D-49AA-A277-DE210052B5D6}"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4614A08-DB01-4902-BD56-CF1FCF32B398}" type="datetimeFigureOut">
              <a:rPr lang="en-US"/>
              <a:pPr>
                <a:defRPr/>
              </a:pPr>
              <a:t>9/17/2012</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E473B72-BA8B-4860-A65E-04746F6CEC4D}"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24CAC5A-EC72-49DB-B792-8F32F457D94F}" type="datetimeFigureOut">
              <a:rPr lang="en-US"/>
              <a:pPr>
                <a:defRPr/>
              </a:pPr>
              <a:t>9/17/2012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150BAAF-92F4-4C7E-A6EF-0B2EF1CF171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F5E71F8-0E4B-429B-A45F-50A767803508}" type="datetimeFigureOut">
              <a:rPr lang="en-US"/>
              <a:pPr>
                <a:defRPr/>
              </a:pPr>
              <a:t>9/17/2012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7485DA9-586F-4F96-B0AC-9977566BAD5C}"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7660E6A7-E25F-423E-A8DF-6447F9A1998D}" type="datetimeFigureOut">
              <a:rPr lang="en-US"/>
              <a:pPr>
                <a:defRPr/>
              </a:pPr>
              <a:t>9/17/2012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BADFEF2-6B8D-464A-9788-5632D771CC0A}"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75DB3F22-45BC-4887-B62F-E86825FCF9BD}" type="datetimeFigureOut">
              <a:rPr lang="en-US"/>
              <a:pPr>
                <a:defRPr/>
              </a:pPr>
              <a:t>9/17/2012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795FCFB-606E-46DE-9B28-AE0A6B9570E0}"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36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536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4994FAF2-562E-48BE-B7BD-B4900E6FEF0A}" type="datetimeFigureOut">
              <a:rPr lang="en-US"/>
              <a:pPr>
                <a:defRPr/>
              </a:pPr>
              <a:t>9/17/2012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20E1CF58-27A6-4B77-96D0-CF79433701E3}"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Kevin.Miers@va.gov"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oleObject" Target="../embeddings/Microsoft_Office_Excel_97-2003_Worksheet1.xls"/></Relationships>
</file>

<file path=ppt/slides/_rels/slide5.xml.rels><?xml version="1.0" encoding="UTF-8" standalone="yes"?>
<Relationships xmlns="http://schemas.openxmlformats.org/package/2006/relationships"><Relationship Id="rId2" Type="http://schemas.openxmlformats.org/officeDocument/2006/relationships/hyperlink" Target="mailto:Kevin.Miers@va.gov"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4.png"/><Relationship Id="rId4" Type="http://schemas.openxmlformats.org/officeDocument/2006/relationships/oleObject" Target="../embeddings/Microsoft_Office_Excel_97-2003_Worksheet2.xls"/></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oleObject" Target="../embeddings/Microsoft_Office_Excel_97-2003_Worksheet3.xls"/></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oleObject" Target="../embeddings/Microsoft_Office_Excel_97-2003_Worksheet4.xls"/></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mailto:Kevin.Miers@va.gov"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1" descr="VA Logo"/>
          <p:cNvPicPr>
            <a:picLocks noChangeAspect="1" noChangeArrowheads="1"/>
          </p:cNvPicPr>
          <p:nvPr/>
        </p:nvPicPr>
        <p:blipFill>
          <a:blip r:embed="rId2" cstate="print"/>
          <a:srcRect/>
          <a:stretch>
            <a:fillRect/>
          </a:stretch>
        </p:blipFill>
        <p:spPr bwMode="auto">
          <a:xfrm>
            <a:off x="3200400" y="609600"/>
            <a:ext cx="3124200" cy="2800350"/>
          </a:xfrm>
          <a:prstGeom prst="rect">
            <a:avLst/>
          </a:prstGeom>
          <a:noFill/>
          <a:ln w="9525">
            <a:noFill/>
            <a:miter lim="800000"/>
            <a:headEnd/>
            <a:tailEnd/>
          </a:ln>
        </p:spPr>
      </p:pic>
      <p:sp>
        <p:nvSpPr>
          <p:cNvPr id="8" name="TextBox 7"/>
          <p:cNvSpPr txBox="1"/>
          <p:nvPr/>
        </p:nvSpPr>
        <p:spPr>
          <a:xfrm>
            <a:off x="1905000" y="3657600"/>
            <a:ext cx="5562600" cy="2523768"/>
          </a:xfrm>
          <a:prstGeom prst="rect">
            <a:avLst/>
          </a:prstGeom>
          <a:noFill/>
        </p:spPr>
        <p:txBody>
          <a:bodyPr>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r>
              <a:rPr lang="en-US" sz="2000" b="1" dirty="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rPr>
              <a:t>MONTHLY</a:t>
            </a:r>
          </a:p>
          <a:p>
            <a:pPr algn="ctr">
              <a:defRPr/>
            </a:pPr>
            <a:endParaRPr lang="en-US" sz="2000" b="1" dirty="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algn="ctr">
              <a:defRPr/>
            </a:pPr>
            <a:r>
              <a:rPr lang="en-US" sz="2000" b="1" dirty="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rPr>
              <a:t>PERFORMANCE  REVIEW</a:t>
            </a:r>
          </a:p>
          <a:p>
            <a:pPr algn="ctr">
              <a:defRPr/>
            </a:pPr>
            <a:endParaRPr lang="en-US" sz="2000" b="1" dirty="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algn="ctr">
              <a:defRPr/>
            </a:pPr>
            <a:r>
              <a:rPr lang="en-US" sz="2000" b="1" dirty="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rPr>
              <a:t>[FINANCE]</a:t>
            </a:r>
          </a:p>
          <a:p>
            <a:pPr algn="ctr">
              <a:defRPr/>
            </a:pPr>
            <a:endParaRPr lang="en-US" sz="2000" b="1" dirty="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endParaRPr>
          </a:p>
          <a:p>
            <a:pPr algn="ctr">
              <a:defRPr/>
            </a:pPr>
            <a:r>
              <a:rPr lang="en-US" sz="2000" b="1" dirty="0" smtClean="0">
                <a:ln w="12700">
                  <a:solidFill>
                    <a:schemeClr val="tx2">
                      <a:satMod val="155000"/>
                    </a:schemeClr>
                  </a:solidFill>
                  <a:prstDash val="solid"/>
                </a:ln>
                <a:solidFill>
                  <a:srgbClr val="0070C0"/>
                </a:solidFill>
                <a:effectLst>
                  <a:outerShdw blurRad="41275" dist="20320" dir="1800000" algn="tl" rotWithShape="0">
                    <a:srgbClr val="000000">
                      <a:alpha val="40000"/>
                    </a:srgbClr>
                  </a:outerShdw>
                </a:effectLst>
              </a:rPr>
              <a:t>September (August Data) 2012</a:t>
            </a:r>
            <a:endParaRPr lang="en-US" sz="2000" b="1" dirty="0">
              <a:ln>
                <a:prstDash val="solid"/>
              </a:ln>
              <a:solidFill>
                <a:srgbClr val="0070C0"/>
              </a:solidFill>
              <a:effectLst>
                <a:outerShdw blurRad="88000" dist="50800" dir="5040000" algn="tl">
                  <a:schemeClr val="accent4">
                    <a:tint val="80000"/>
                    <a:satMod val="250000"/>
                    <a:alpha val="45000"/>
                  </a:schemeClr>
                </a:outerShdw>
              </a:effectLst>
            </a:endParaRPr>
          </a:p>
          <a:p>
            <a:pPr algn="ctr">
              <a:defRPr/>
            </a:pPr>
            <a:endParaRPr lang="en-US"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457200" y="536575"/>
            <a:ext cx="8229600" cy="1143000"/>
          </a:xfrm>
        </p:spPr>
        <p:txBody>
          <a:bodyPr/>
          <a:lstStyle/>
          <a:p>
            <a:pPr eaLnBrk="1" hangingPunct="1"/>
            <a:r>
              <a:rPr lang="en-US" sz="2500" u="sng" dirty="0" smtClean="0"/>
              <a:t>Slide F</a:t>
            </a:r>
            <a:r>
              <a:rPr lang="en-US" sz="2500" dirty="0" smtClean="0"/>
              <a:t/>
            </a:r>
            <a:br>
              <a:rPr lang="en-US" sz="2500" dirty="0" smtClean="0"/>
            </a:br>
            <a:r>
              <a:rPr lang="en-US" sz="2200" dirty="0" smtClean="0"/>
              <a:t> Training Status of Project Managers Assigned to Major Initiatives</a:t>
            </a:r>
            <a:endParaRPr lang="en-US" sz="2500" dirty="0" smtClean="0"/>
          </a:p>
        </p:txBody>
      </p:sp>
      <p:sp>
        <p:nvSpPr>
          <p:cNvPr id="4" name="Content Placeholder 2"/>
          <p:cNvSpPr txBox="1">
            <a:spLocks/>
          </p:cNvSpPr>
          <p:nvPr/>
        </p:nvSpPr>
        <p:spPr bwMode="auto">
          <a:xfrm>
            <a:off x="482600" y="1917701"/>
            <a:ext cx="8229600" cy="3148013"/>
          </a:xfrm>
          <a:prstGeom prst="rect">
            <a:avLst/>
          </a:prstGeom>
          <a:noFill/>
          <a:ln w="9525">
            <a:noFill/>
            <a:miter lim="800000"/>
            <a:headEnd/>
            <a:tailEnd/>
          </a:ln>
        </p:spPr>
        <p:txBody>
          <a:bodyPr/>
          <a:lstStyle/>
          <a:p>
            <a:pPr marL="800100" lvl="1" indent="-342900" eaLnBrk="0" fontAlgn="auto" hangingPunct="0">
              <a:spcBef>
                <a:spcPct val="20000"/>
              </a:spcBef>
              <a:spcAft>
                <a:spcPts val="0"/>
              </a:spcAft>
              <a:defRPr/>
            </a:pPr>
            <a:endParaRPr lang="en-US" sz="2000" dirty="0">
              <a:latin typeface="+mn-lt"/>
              <a:cs typeface="+mn-cs"/>
            </a:endParaRPr>
          </a:p>
          <a:p>
            <a:pPr marL="800100" lvl="1" indent="-342900" eaLnBrk="0" fontAlgn="auto" hangingPunct="0">
              <a:spcBef>
                <a:spcPct val="20000"/>
              </a:spcBef>
              <a:spcAft>
                <a:spcPts val="0"/>
              </a:spcAft>
              <a:buFontTx/>
              <a:buChar char="•"/>
              <a:defRPr/>
            </a:pPr>
            <a:r>
              <a:rPr lang="en-US" sz="2000" dirty="0" smtClean="0">
                <a:ea typeface="Calibri"/>
                <a:cs typeface="Times New Roman"/>
              </a:rPr>
              <a:t>OPP snapshot of PM training is correct</a:t>
            </a:r>
          </a:p>
          <a:p>
            <a:pPr marL="800100" lvl="1" indent="-342900" eaLnBrk="0" fontAlgn="auto" hangingPunct="0">
              <a:spcBef>
                <a:spcPct val="20000"/>
              </a:spcBef>
              <a:spcAft>
                <a:spcPts val="0"/>
              </a:spcAft>
              <a:defRPr/>
            </a:pPr>
            <a:endParaRPr lang="en-US" sz="2000" dirty="0">
              <a:latin typeface="+mn-lt"/>
              <a:cs typeface="+mn-cs"/>
            </a:endParaRPr>
          </a:p>
          <a:p>
            <a:pPr marL="1257300" lvl="2" indent="-342900" eaLnBrk="0" fontAlgn="auto" hangingPunct="0">
              <a:spcBef>
                <a:spcPct val="20000"/>
              </a:spcBef>
              <a:spcAft>
                <a:spcPts val="0"/>
              </a:spcAft>
              <a:buFontTx/>
              <a:buChar char="•"/>
              <a:defRPr/>
            </a:pPr>
            <a:endParaRPr lang="en-US" kern="0" dirty="0">
              <a:latin typeface="+mn-lt"/>
              <a:cs typeface="+mn-cs"/>
            </a:endParaRPr>
          </a:p>
        </p:txBody>
      </p:sp>
      <p:sp>
        <p:nvSpPr>
          <p:cNvPr id="5" name="TextBox 4"/>
          <p:cNvSpPr txBox="1"/>
          <p:nvPr/>
        </p:nvSpPr>
        <p:spPr>
          <a:xfrm>
            <a:off x="6053138" y="1"/>
            <a:ext cx="3090863" cy="307777"/>
          </a:xfrm>
          <a:prstGeom prst="rect">
            <a:avLst/>
          </a:prstGeom>
          <a:solidFill>
            <a:schemeClr val="accent2"/>
          </a:solidFill>
        </p:spPr>
        <p:txBody>
          <a:bodyPr>
            <a:spAutoFit/>
          </a:bodyPr>
          <a:lstStyle/>
          <a:p>
            <a:pPr algn="r" fontAlgn="auto">
              <a:spcBef>
                <a:spcPts val="0"/>
              </a:spcBef>
              <a:spcAft>
                <a:spcPts val="0"/>
              </a:spcAft>
              <a:defRPr/>
            </a:pPr>
            <a:r>
              <a:rPr lang="en-US" sz="1400" kern="0" dirty="0">
                <a:solidFill>
                  <a:schemeClr val="bg1"/>
                </a:solidFill>
                <a:latin typeface="+mn-lt"/>
                <a:cs typeface="+mn-cs"/>
              </a:rPr>
              <a:t>Systems to Drive </a:t>
            </a:r>
            <a:r>
              <a:rPr lang="en-US" sz="1400" kern="0" dirty="0" smtClean="0">
                <a:solidFill>
                  <a:schemeClr val="bg1"/>
                </a:solidFill>
                <a:latin typeface="+mn-lt"/>
                <a:cs typeface="+mn-cs"/>
              </a:rPr>
              <a:t>Performance</a:t>
            </a:r>
            <a:endParaRPr lang="en-US" sz="1400" dirty="0">
              <a:solidFill>
                <a:schemeClr val="bg1"/>
              </a:solidFill>
              <a:latin typeface="+mn-lt"/>
              <a:cs typeface="+mn-c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762000"/>
            <a:ext cx="7962900" cy="4401205"/>
          </a:xfrm>
          <a:prstGeom prst="rect">
            <a:avLst/>
          </a:prstGeom>
          <a:ln>
            <a:noFill/>
          </a:ln>
        </p:spPr>
        <p:txBody>
          <a:bodyPr>
            <a:spAutoFit/>
          </a:bodyPr>
          <a:lstStyle/>
          <a:p>
            <a:pPr eaLnBrk="1" hangingPunct="1">
              <a:defRPr/>
            </a:pPr>
            <a:r>
              <a:rPr lang="en-US" sz="1400" b="1" i="1" dirty="0" smtClean="0">
                <a:latin typeface="Arial Narrow" pitchFamily="34" charset="0"/>
                <a:cs typeface="Arial" pitchFamily="34" charset="0"/>
              </a:rPr>
              <a:t>Note:  </a:t>
            </a:r>
            <a:r>
              <a:rPr lang="en-US" sz="1400" i="1" dirty="0" smtClean="0">
                <a:latin typeface="Arial Narrow" pitchFamily="34" charset="0"/>
                <a:cs typeface="Arial" pitchFamily="34" charset="0"/>
              </a:rPr>
              <a:t>OMB instructed Agencies to accelerate payments to small businesses with the goal of paying small businesses within 15 days of receipt of appropriate documentation.  Delivery of goods and acceptance of services must still occur before making payment. VA has for many years used existing authority in the Prompt Payment Act to accelerate commercial vendor small business payments after receiving all proper documentation, including acceptance.  Entities designated as small businesses are submitted for payment through FMS (not money managed) when acceptance occurs.  </a:t>
            </a:r>
          </a:p>
          <a:p>
            <a:pPr marL="456379" indent="-456379" eaLnBrk="1" hangingPunct="1">
              <a:lnSpc>
                <a:spcPct val="80000"/>
              </a:lnSpc>
              <a:defRPr/>
            </a:pPr>
            <a:endParaRPr lang="en-US" sz="1200" b="1" dirty="0" smtClean="0">
              <a:latin typeface="Arial Narrow" pitchFamily="34" charset="0"/>
              <a:cs typeface="Arial" charset="0"/>
            </a:endParaRPr>
          </a:p>
          <a:p>
            <a:pPr>
              <a:lnSpc>
                <a:spcPct val="80000"/>
              </a:lnSpc>
              <a:defRPr/>
            </a:pPr>
            <a:r>
              <a:rPr lang="en-US" sz="1400" b="1" dirty="0" smtClean="0">
                <a:latin typeface="Arial Narrow" pitchFamily="34" charset="0"/>
                <a:cs typeface="Arial" pitchFamily="34" charset="0"/>
              </a:rPr>
              <a:t>August Highlights</a:t>
            </a:r>
            <a:r>
              <a:rPr lang="en-US" sz="1400" dirty="0">
                <a:latin typeface="Arial Narrow" pitchFamily="34" charset="0"/>
                <a:cs typeface="Arial" pitchFamily="34" charset="0"/>
              </a:rPr>
              <a:t>:</a:t>
            </a:r>
          </a:p>
          <a:p>
            <a:pPr eaLnBrk="1" hangingPunct="1">
              <a:lnSpc>
                <a:spcPct val="80000"/>
              </a:lnSpc>
              <a:defRPr/>
            </a:pPr>
            <a:endParaRPr lang="en-US" sz="1400" dirty="0" smtClean="0">
              <a:latin typeface="Arial Narrow" pitchFamily="34" charset="0"/>
              <a:cs typeface="Arial" charset="0"/>
            </a:endParaRPr>
          </a:p>
          <a:p>
            <a:pPr marL="182804" indent="-182804" eaLnBrk="1" hangingPunct="1">
              <a:lnSpc>
                <a:spcPct val="80000"/>
              </a:lnSpc>
              <a:buFontTx/>
              <a:buChar char="•"/>
              <a:defRPr/>
            </a:pPr>
            <a:r>
              <a:rPr lang="en-US" sz="1400" dirty="0" smtClean="0">
                <a:latin typeface="Arial Narrow" pitchFamily="34" charset="0"/>
                <a:cs typeface="Arial" charset="0"/>
              </a:rPr>
              <a:t>VA paid </a:t>
            </a:r>
            <a:r>
              <a:rPr lang="en-US" sz="1400" dirty="0" smtClean="0">
                <a:latin typeface="Arial Narrow" pitchFamily="34" charset="0"/>
              </a:rPr>
              <a:t>94</a:t>
            </a:r>
            <a:r>
              <a:rPr lang="en-US" sz="1400" dirty="0" smtClean="0">
                <a:latin typeface="Arial Narrow" pitchFamily="34" charset="0"/>
                <a:cs typeface="Arial" charset="0"/>
              </a:rPr>
              <a:t> percent of small business invoices in July within the 15 day timeliness metric bettering the VA goal </a:t>
            </a:r>
          </a:p>
          <a:p>
            <a:pPr marL="166688" lvl="1" indent="-166688">
              <a:lnSpc>
                <a:spcPct val="80000"/>
              </a:lnSpc>
              <a:buFontTx/>
              <a:buChar char="•"/>
              <a:defRPr/>
            </a:pPr>
            <a:r>
              <a:rPr lang="en-US" sz="1400" dirty="0" smtClean="0">
                <a:latin typeface="Arial Narrow" pitchFamily="34" charset="0"/>
              </a:rPr>
              <a:t>FSC  issued a notice to VA stations highlighting the OMB goal and encouraged timely certification of invoices and receipt processing during VHA Fiscal Officers Calls</a:t>
            </a:r>
          </a:p>
          <a:p>
            <a:pPr marL="166688" lvl="1" indent="-166688">
              <a:lnSpc>
                <a:spcPct val="80000"/>
              </a:lnSpc>
              <a:buFontTx/>
              <a:buChar char="•"/>
              <a:defRPr/>
            </a:pPr>
            <a:r>
              <a:rPr lang="en-US" sz="1400" dirty="0" smtClean="0">
                <a:latin typeface="Arial Narrow" pitchFamily="34" charset="0"/>
              </a:rPr>
              <a:t>FSC has an ongoing mail campaign to vendors to promote ways to shorten the payment cycle time and obtain payment information by using Electronic Funds Transfer (EFT), Electronic Invoicing, Central Contractor Registration (CCR), and FSC’s Vendor Inquiry System (VIS) web portal to monitor payment information</a:t>
            </a:r>
          </a:p>
          <a:p>
            <a:pPr marL="166688" lvl="1" indent="-166688">
              <a:lnSpc>
                <a:spcPct val="80000"/>
              </a:lnSpc>
              <a:buFontTx/>
              <a:buChar char="•"/>
              <a:defRPr/>
            </a:pPr>
            <a:r>
              <a:rPr lang="en-US" sz="1400" dirty="0" smtClean="0">
                <a:latin typeface="Arial Narrow" pitchFamily="34" charset="0"/>
              </a:rPr>
              <a:t>FSC continues to analyze small business payment data to identify opportunities to further increase payment timeliness and will work with Administrations/Stations to identify causes for delayed payments and potential procedures for accelerating payments</a:t>
            </a:r>
          </a:p>
          <a:p>
            <a:pPr marL="640004" lvl="1" indent="-182804">
              <a:lnSpc>
                <a:spcPct val="80000"/>
              </a:lnSpc>
              <a:buFontTx/>
              <a:buChar char="•"/>
              <a:defRPr/>
            </a:pPr>
            <a:endParaRPr lang="en-US" sz="1400" dirty="0" smtClean="0">
              <a:latin typeface="Arial Narrow" pitchFamily="34" charset="0"/>
              <a:cs typeface="Arial" charset="0"/>
            </a:endParaRPr>
          </a:p>
          <a:p>
            <a:pPr marL="457014" indent="-457014" eaLnBrk="1" hangingPunct="1">
              <a:defRPr/>
            </a:pPr>
            <a:endParaRPr lang="en-US" sz="1200" b="1" dirty="0">
              <a:latin typeface="Arial Narrow" pitchFamily="34" charset="0"/>
            </a:endParaRPr>
          </a:p>
          <a:p>
            <a:pPr marL="457014" indent="-457014" eaLnBrk="1" hangingPunct="1">
              <a:defRPr/>
            </a:pPr>
            <a:endParaRPr lang="en-US" sz="1000" b="1" dirty="0">
              <a:latin typeface="Arial Narrow" pitchFamily="34" charset="0"/>
            </a:endParaRPr>
          </a:p>
          <a:p>
            <a:pPr marL="457014" indent="-457014" eaLnBrk="1" hangingPunct="1">
              <a:defRPr/>
            </a:pPr>
            <a:r>
              <a:rPr lang="en-US" sz="1000" b="1" dirty="0">
                <a:latin typeface="Arial Narrow" pitchFamily="34" charset="0"/>
              </a:rPr>
              <a:t>Prepared by:</a:t>
            </a:r>
            <a:r>
              <a:rPr lang="en-US" sz="1000" dirty="0">
                <a:latin typeface="Arial Narrow" pitchFamily="34" charset="0"/>
              </a:rPr>
              <a:t>  </a:t>
            </a:r>
            <a:r>
              <a:rPr lang="en-US" sz="1000" dirty="0" smtClean="0">
                <a:latin typeface="Arial Narrow" pitchFamily="34" charset="0"/>
              </a:rPr>
              <a:t>Kevin Miers, Systems &amp; Procedures Analyst, </a:t>
            </a:r>
            <a:r>
              <a:rPr lang="en-US" sz="1000" dirty="0">
                <a:latin typeface="Arial Narrow" pitchFamily="34" charset="0"/>
              </a:rPr>
              <a:t>VA Financial Services Center, </a:t>
            </a:r>
            <a:r>
              <a:rPr lang="en-US" sz="1000" dirty="0" smtClean="0">
                <a:latin typeface="Arial Narrow" pitchFamily="34" charset="0"/>
                <a:hlinkClick r:id="rId2"/>
              </a:rPr>
              <a:t>Kevin.Miers@va.gov</a:t>
            </a:r>
            <a:r>
              <a:rPr lang="en-US" sz="1000" dirty="0" smtClean="0">
                <a:latin typeface="Arial Narrow" pitchFamily="34" charset="0"/>
              </a:rPr>
              <a:t> </a:t>
            </a:r>
            <a:endParaRPr lang="en-US" sz="1000" dirty="0">
              <a:latin typeface="Arial Narrow" pitchFamily="34" charset="0"/>
            </a:endParaRPr>
          </a:p>
          <a:p>
            <a:pPr marL="457014" indent="-457014" eaLnBrk="1" hangingPunct="1">
              <a:defRPr/>
            </a:pPr>
            <a:r>
              <a:rPr lang="en-US" sz="1000" b="1" dirty="0">
                <a:latin typeface="Arial Narrow" pitchFamily="34" charset="0"/>
              </a:rPr>
              <a:t>Approved by:</a:t>
            </a:r>
            <a:r>
              <a:rPr lang="en-US" sz="1000" dirty="0">
                <a:latin typeface="Arial Narrow" pitchFamily="34" charset="0"/>
              </a:rPr>
              <a:t>  Robert Adams, Deputy Director, VA Financial Services Center, (512) 460-5002 </a:t>
            </a:r>
            <a:endParaRPr lang="en-US" sz="1000" dirty="0" smtClean="0">
              <a:latin typeface="Arial Narrow" pitchFamily="34" charset="0"/>
            </a:endParaRPr>
          </a:p>
          <a:p>
            <a:pPr marL="457014" indent="-457014" eaLnBrk="1" hangingPunct="1">
              <a:defRPr/>
            </a:pPr>
            <a:r>
              <a:rPr lang="en-US" sz="1000" b="1" dirty="0" smtClean="0">
                <a:latin typeface="Arial Narrow" pitchFamily="34" charset="0"/>
              </a:rPr>
              <a:t>Version </a:t>
            </a:r>
            <a:r>
              <a:rPr lang="en-US" sz="1000" b="1" dirty="0">
                <a:latin typeface="Arial Narrow" pitchFamily="34" charset="0"/>
              </a:rPr>
              <a:t>Date:</a:t>
            </a:r>
            <a:r>
              <a:rPr lang="en-US" sz="1000" dirty="0">
                <a:latin typeface="Arial Narrow" pitchFamily="34" charset="0"/>
              </a:rPr>
              <a:t>  </a:t>
            </a:r>
            <a:r>
              <a:rPr lang="en-US" sz="1000" dirty="0" smtClean="0">
                <a:latin typeface="Arial Narrow" pitchFamily="34" charset="0"/>
              </a:rPr>
              <a:t>September 11, 2012</a:t>
            </a:r>
            <a:endParaRPr lang="en-US" sz="1000" dirty="0">
              <a:latin typeface="Arial Narrow" pitchFamily="34" charset="0"/>
            </a:endParaRPr>
          </a:p>
        </p:txBody>
      </p:sp>
      <p:sp>
        <p:nvSpPr>
          <p:cNvPr id="3" name="TextBox 2"/>
          <p:cNvSpPr txBox="1"/>
          <p:nvPr/>
        </p:nvSpPr>
        <p:spPr>
          <a:xfrm>
            <a:off x="533400" y="304800"/>
            <a:ext cx="8001000" cy="369332"/>
          </a:xfrm>
          <a:prstGeom prst="rect">
            <a:avLst/>
          </a:prstGeom>
          <a:noFill/>
        </p:spPr>
        <p:txBody>
          <a:bodyPr wrap="square" rtlCol="0">
            <a:spAutoFit/>
          </a:bodyPr>
          <a:lstStyle/>
          <a:p>
            <a:pPr algn="ctr"/>
            <a:r>
              <a:rPr lang="en-US" dirty="0" smtClean="0">
                <a:latin typeface="Arial Rounded MT Bold" pitchFamily="34" charset="0"/>
              </a:rPr>
              <a:t>Commercial Small Business Payments</a:t>
            </a:r>
            <a:endParaRPr lang="en-US" dirty="0"/>
          </a:p>
        </p:txBody>
      </p:sp>
    </p:spTree>
    <p:extLst>
      <p:ext uri="{BB962C8B-B14F-4D97-AF65-F5344CB8AC3E}">
        <p14:creationId xmlns:p14="http://schemas.microsoft.com/office/powerpoint/2010/main" xmlns="" val="11732096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7" name="Group 3"/>
          <p:cNvGraphicFramePr>
            <a:graphicFrameLocks noGrp="1"/>
          </p:cNvGraphicFramePr>
          <p:nvPr>
            <p:extLst>
              <p:ext uri="{D42A27DB-BD31-4B8C-83A1-F6EECF244321}">
                <p14:modId xmlns:p14="http://schemas.microsoft.com/office/powerpoint/2010/main" xmlns="" val="1403255675"/>
              </p:ext>
            </p:extLst>
          </p:nvPr>
        </p:nvGraphicFramePr>
        <p:xfrm>
          <a:off x="6689725" y="0"/>
          <a:ext cx="2444750" cy="991553"/>
        </p:xfrm>
        <a:graphic>
          <a:graphicData uri="http://schemas.openxmlformats.org/drawingml/2006/table">
            <a:tbl>
              <a:tblPr/>
              <a:tblGrid>
                <a:gridCol w="1647329"/>
                <a:gridCol w="797421"/>
              </a:tblGrid>
              <a:tr h="228600">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Status</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B8D2EA"/>
                    </a:solidFill>
                  </a:tcPr>
                </a:tc>
                <a:tc hMerge="1">
                  <a:txBody>
                    <a:bodyPr/>
                    <a:lstStyle/>
                    <a:p>
                      <a:endParaRPr lang="en-US"/>
                    </a:p>
                  </a:txBody>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Current Month (August)</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Next Month (September)</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Projected Green Date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   N/A</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5136" name="Rectangle 26"/>
          <p:cNvSpPr>
            <a:spLocks noChangeArrowheads="1"/>
          </p:cNvSpPr>
          <p:nvPr/>
        </p:nvSpPr>
        <p:spPr bwMode="auto">
          <a:xfrm>
            <a:off x="3657600" y="914400"/>
            <a:ext cx="5248275" cy="1244600"/>
          </a:xfrm>
          <a:prstGeom prst="rect">
            <a:avLst/>
          </a:prstGeom>
          <a:noFill/>
          <a:ln w="9525">
            <a:noFill/>
            <a:miter lim="800000"/>
            <a:headEnd/>
            <a:tailEnd/>
          </a:ln>
        </p:spPr>
        <p:txBody>
          <a:bodyPr anchor="ctr"/>
          <a:lstStyle/>
          <a:p>
            <a:pPr algn="ctr"/>
            <a:r>
              <a:rPr lang="en-US" sz="1600" dirty="0" smtClean="0">
                <a:solidFill>
                  <a:srgbClr val="0000FF"/>
                </a:solidFill>
                <a:latin typeface="Arial Rounded MT Bold" pitchFamily="34" charset="0"/>
              </a:rPr>
              <a:t>Metrics Detail: </a:t>
            </a:r>
            <a:r>
              <a:rPr lang="en-US" sz="1600" dirty="0">
                <a:solidFill>
                  <a:srgbClr val="0000FF"/>
                </a:solidFill>
                <a:latin typeface="Arial Rounded MT Bold" pitchFamily="34" charset="0"/>
              </a:rPr>
              <a:t/>
            </a:r>
            <a:br>
              <a:rPr lang="en-US" sz="1600" dirty="0">
                <a:solidFill>
                  <a:srgbClr val="0000FF"/>
                </a:solidFill>
                <a:latin typeface="Arial Rounded MT Bold" pitchFamily="34" charset="0"/>
              </a:rPr>
            </a:br>
            <a:r>
              <a:rPr lang="en-US" sz="1600" dirty="0" smtClean="0">
                <a:solidFill>
                  <a:srgbClr val="800000"/>
                </a:solidFill>
                <a:latin typeface="Arial Rounded MT Bold" pitchFamily="34" charset="0"/>
              </a:rPr>
              <a:t> Commercial Small Business Payment Timeliness</a:t>
            </a:r>
          </a:p>
          <a:p>
            <a:pPr algn="ctr"/>
            <a:r>
              <a:rPr lang="en-US" sz="1600" b="1" dirty="0" smtClean="0"/>
              <a:t>Timeliness Exceeds Goal </a:t>
            </a:r>
            <a:r>
              <a:rPr lang="en-US" sz="1600" dirty="0">
                <a:solidFill>
                  <a:srgbClr val="0000FF"/>
                </a:solidFill>
                <a:latin typeface="Arial Rounded MT Bold" pitchFamily="34" charset="0"/>
              </a:rPr>
              <a:t/>
            </a:r>
            <a:br>
              <a:rPr lang="en-US" sz="1600" dirty="0">
                <a:solidFill>
                  <a:srgbClr val="0000FF"/>
                </a:solidFill>
                <a:latin typeface="Arial Rounded MT Bold" pitchFamily="34" charset="0"/>
              </a:rPr>
            </a:br>
            <a:r>
              <a:rPr lang="en-US" sz="1600" dirty="0">
                <a:latin typeface="Arial Rounded MT Bold" pitchFamily="34" charset="0"/>
              </a:rPr>
              <a:t> </a:t>
            </a:r>
            <a:endParaRPr lang="en-US" sz="1400" dirty="0">
              <a:latin typeface="Arial Rounded MT Bold" pitchFamily="34" charset="0"/>
            </a:endParaRPr>
          </a:p>
        </p:txBody>
      </p:sp>
      <p:graphicFrame>
        <p:nvGraphicFramePr>
          <p:cNvPr id="93211" name="Group 27"/>
          <p:cNvGraphicFramePr>
            <a:graphicFrameLocks noGrp="1"/>
          </p:cNvGraphicFramePr>
          <p:nvPr/>
        </p:nvGraphicFramePr>
        <p:xfrm>
          <a:off x="0" y="0"/>
          <a:ext cx="2971800" cy="1813561"/>
        </p:xfrm>
        <a:graphic>
          <a:graphicData uri="http://schemas.openxmlformats.org/drawingml/2006/table">
            <a:tbl>
              <a:tblPr/>
              <a:tblGrid>
                <a:gridCol w="914400"/>
                <a:gridCol w="2057400"/>
              </a:tblGrid>
              <a:tr h="227013">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Linkages</a:t>
                      </a:r>
                    </a:p>
                  </a:txBody>
                  <a:tcPr horzOverflow="overflow">
                    <a:lnL cap="flat">
                      <a:noFill/>
                    </a:lnL>
                    <a:lnR cap="flat">
                      <a:noFill/>
                    </a:lnR>
                    <a:lnT cap="flat">
                      <a:noFill/>
                    </a:lnT>
                    <a:lnB>
                      <a:noFill/>
                    </a:lnB>
                    <a:lnTlToBr>
                      <a:noFill/>
                    </a:lnTlToBr>
                    <a:lnBlToTr>
                      <a:noFill/>
                    </a:lnBlToTr>
                    <a:solidFill>
                      <a:srgbClr val="EDD4A1"/>
                    </a:solidFill>
                  </a:tcPr>
                </a:tc>
                <a:tc hMerge="1">
                  <a:txBody>
                    <a:bodyPr/>
                    <a:lstStyle/>
                    <a:p>
                      <a:endParaRPr lang="en-US"/>
                    </a:p>
                  </a:txBody>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Org</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OM</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651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B/Line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Enabling</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Metric Type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Performance</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B/Scorecard</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Operations</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81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Strategic Goal</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4</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Corp Outcome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pitchFamily="34" charset="0"/>
                        </a:rPr>
                        <a:t>Improve Management and Support Services Timeliness</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r>
            </a:tbl>
          </a:graphicData>
        </a:graphic>
      </p:graphicFrame>
      <p:sp>
        <p:nvSpPr>
          <p:cNvPr id="5157" name="TextBox 16"/>
          <p:cNvSpPr txBox="1">
            <a:spLocks noChangeArrowheads="1"/>
          </p:cNvSpPr>
          <p:nvPr/>
        </p:nvSpPr>
        <p:spPr bwMode="auto">
          <a:xfrm>
            <a:off x="5562600" y="838200"/>
            <a:ext cx="914400" cy="369888"/>
          </a:xfrm>
          <a:prstGeom prst="rect">
            <a:avLst/>
          </a:prstGeom>
          <a:noFill/>
          <a:ln w="9525">
            <a:noFill/>
            <a:miter lim="800000"/>
            <a:headEnd/>
            <a:tailEnd/>
          </a:ln>
        </p:spPr>
        <p:txBody>
          <a:bodyPr>
            <a:spAutoFit/>
          </a:bodyPr>
          <a:lstStyle/>
          <a:p>
            <a:endParaRPr lang="en-US" dirty="0"/>
          </a:p>
        </p:txBody>
      </p:sp>
      <p:sp>
        <p:nvSpPr>
          <p:cNvPr id="5159" name="Slide Number Placeholder 16"/>
          <p:cNvSpPr>
            <a:spLocks noGrp="1"/>
          </p:cNvSpPr>
          <p:nvPr>
            <p:ph type="sldNum" sz="quarter" idx="11"/>
          </p:nvPr>
        </p:nvSpPr>
        <p:spPr>
          <a:xfrm>
            <a:off x="6553200" y="6356350"/>
            <a:ext cx="2133600" cy="365125"/>
          </a:xfrm>
          <a:noFill/>
        </p:spPr>
        <p:txBody>
          <a:bodyPr/>
          <a:lstStyle/>
          <a:p>
            <a:fld id="{B0756BEF-E3B6-4B30-98B6-41D82E769A60}" type="slidenum">
              <a:rPr lang="en-US" smtClean="0">
                <a:latin typeface="Arial" pitchFamily="34" charset="0"/>
              </a:rPr>
              <a:pPr/>
              <a:t>4</a:t>
            </a:fld>
            <a:endParaRPr lang="en-US" dirty="0" smtClean="0">
              <a:latin typeface="Arial" pitchFamily="34" charset="0"/>
            </a:endParaRPr>
          </a:p>
        </p:txBody>
      </p:sp>
      <p:sp>
        <p:nvSpPr>
          <p:cNvPr id="5161" name="Date Placeholder 1"/>
          <p:cNvSpPr>
            <a:spLocks noGrp="1"/>
          </p:cNvSpPr>
          <p:nvPr>
            <p:ph type="dt" sz="quarter" idx="10"/>
          </p:nvPr>
        </p:nvSpPr>
        <p:spPr>
          <a:xfrm>
            <a:off x="457200" y="6400799"/>
            <a:ext cx="2938463" cy="304801"/>
          </a:xfrm>
          <a:noFill/>
        </p:spPr>
        <p:txBody>
          <a:bodyPr/>
          <a:lstStyle/>
          <a:p>
            <a:r>
              <a:rPr lang="en-US" dirty="0" smtClean="0">
                <a:latin typeface="Arial" pitchFamily="34" charset="0"/>
              </a:rPr>
              <a:t>SG4 - Data Through August 2012</a:t>
            </a:r>
          </a:p>
        </p:txBody>
      </p:sp>
      <p:graphicFrame>
        <p:nvGraphicFramePr>
          <p:cNvPr id="36867" name="Object 2"/>
          <p:cNvGraphicFramePr>
            <a:graphicFrameLocks noGrp="1" noChangeAspect="1"/>
          </p:cNvGraphicFramePr>
          <p:nvPr>
            <p:extLst>
              <p:ext uri="{D42A27DB-BD31-4B8C-83A1-F6EECF244321}">
                <p14:modId xmlns:p14="http://schemas.microsoft.com/office/powerpoint/2010/main" xmlns="" val="2303403203"/>
              </p:ext>
            </p:extLst>
          </p:nvPr>
        </p:nvGraphicFramePr>
        <p:xfrm>
          <a:off x="787400" y="1752600"/>
          <a:ext cx="8061325" cy="4843463"/>
        </p:xfrm>
        <a:graphic>
          <a:graphicData uri="http://schemas.openxmlformats.org/presentationml/2006/ole">
            <p:oleObj spid="_x0000_s36976" name="Worksheet" r:id="rId4" imgW="6372166" imgH="5010120" progId="Excel.Sheet.8">
              <p:embed/>
            </p:oleObj>
          </a:graphicData>
        </a:graphic>
      </p:graphicFrame>
      <p:sp>
        <p:nvSpPr>
          <p:cNvPr id="12" name="TextBox 11"/>
          <p:cNvSpPr txBox="1"/>
          <p:nvPr/>
        </p:nvSpPr>
        <p:spPr>
          <a:xfrm>
            <a:off x="990600" y="3276600"/>
            <a:ext cx="1600200" cy="738664"/>
          </a:xfrm>
          <a:prstGeom prst="rect">
            <a:avLst/>
          </a:prstGeom>
          <a:noFill/>
        </p:spPr>
        <p:txBody>
          <a:bodyPr wrap="square" rtlCol="0">
            <a:spAutoFit/>
          </a:bodyPr>
          <a:lstStyle/>
          <a:p>
            <a:r>
              <a:rPr lang="en-US" sz="1050" dirty="0" smtClean="0"/>
              <a:t>Percent Paid Within 15 Days of Receipt of All Proper Payment Documentation</a:t>
            </a:r>
            <a:endParaRPr lang="en-US" sz="1050" dirty="0"/>
          </a:p>
        </p:txBody>
      </p:sp>
      <p:sp>
        <p:nvSpPr>
          <p:cNvPr id="15" name="Oval 28"/>
          <p:cNvSpPr>
            <a:spLocks noChangeArrowheads="1"/>
          </p:cNvSpPr>
          <p:nvPr/>
        </p:nvSpPr>
        <p:spPr bwMode="auto">
          <a:xfrm>
            <a:off x="8610600" y="5334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sp>
        <p:nvSpPr>
          <p:cNvPr id="16" name="Oval 28"/>
          <p:cNvSpPr>
            <a:spLocks noChangeArrowheads="1"/>
          </p:cNvSpPr>
          <p:nvPr/>
        </p:nvSpPr>
        <p:spPr bwMode="auto">
          <a:xfrm>
            <a:off x="8610600" y="3048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762000"/>
            <a:ext cx="7962900" cy="4524315"/>
          </a:xfrm>
          <a:prstGeom prst="rect">
            <a:avLst/>
          </a:prstGeom>
          <a:ln>
            <a:noFill/>
          </a:ln>
        </p:spPr>
        <p:txBody>
          <a:bodyPr>
            <a:spAutoFit/>
          </a:bodyPr>
          <a:lstStyle/>
          <a:p>
            <a:pPr>
              <a:defRPr/>
            </a:pPr>
            <a:r>
              <a:rPr lang="en-US" sz="1400" b="1" i="1" dirty="0" smtClean="0">
                <a:latin typeface="Arial Narrow" pitchFamily="34" charset="0"/>
                <a:cs typeface="Arial" pitchFamily="34" charset="0"/>
              </a:rPr>
              <a:t>Note:  </a:t>
            </a:r>
            <a:r>
              <a:rPr lang="en-US" sz="1400" b="1" i="1" u="sng" dirty="0" smtClean="0">
                <a:latin typeface="Arial Narrow" pitchFamily="34" charset="0"/>
                <a:cs typeface="Arial" pitchFamily="34" charset="0"/>
              </a:rPr>
              <a:t>Overall Commercial Vendor Commercial  </a:t>
            </a:r>
            <a:r>
              <a:rPr lang="en-US" sz="1400" b="1" i="1" u="sng" dirty="0">
                <a:latin typeface="Arial Narrow" pitchFamily="34" charset="0"/>
                <a:cs typeface="Arial" pitchFamily="34" charset="0"/>
              </a:rPr>
              <a:t>P</a:t>
            </a:r>
            <a:r>
              <a:rPr lang="en-US" sz="1400" b="1" i="1" u="sng" dirty="0" smtClean="0">
                <a:latin typeface="Arial Narrow" pitchFamily="34" charset="0"/>
                <a:cs typeface="Arial" pitchFamily="34" charset="0"/>
              </a:rPr>
              <a:t>ayment Timeliness</a:t>
            </a:r>
            <a:r>
              <a:rPr lang="en-US" sz="1400" i="1" dirty="0" smtClean="0">
                <a:latin typeface="Arial Narrow" pitchFamily="34" charset="0"/>
                <a:cs typeface="Arial" pitchFamily="34" charset="0"/>
              </a:rPr>
              <a:t> measures VA vendor payment timeliness against the July 2012 OMB guidance to pay all commercial vendors within 15 days of receipt of all payment documentation.  </a:t>
            </a:r>
            <a:r>
              <a:rPr lang="en-US" sz="1400" i="1" dirty="0" smtClean="0">
                <a:latin typeface="Arial Narrow" pitchFamily="34" charset="0"/>
              </a:rPr>
              <a:t>Delivery </a:t>
            </a:r>
            <a:r>
              <a:rPr lang="en-US" sz="1400" i="1" dirty="0">
                <a:latin typeface="Arial Narrow" pitchFamily="34" charset="0"/>
              </a:rPr>
              <a:t>of goods and acceptance of services must still occur before making </a:t>
            </a:r>
            <a:r>
              <a:rPr lang="en-US" sz="1400" i="1" dirty="0" smtClean="0">
                <a:latin typeface="Arial Narrow" pitchFamily="34" charset="0"/>
              </a:rPr>
              <a:t>payment.</a:t>
            </a:r>
            <a:endParaRPr lang="en-US" sz="1400" i="1" dirty="0" smtClean="0">
              <a:latin typeface="Arial Narrow" pitchFamily="34" charset="0"/>
              <a:cs typeface="Arial" pitchFamily="34" charset="0"/>
            </a:endParaRPr>
          </a:p>
          <a:p>
            <a:pPr eaLnBrk="1" hangingPunct="1">
              <a:defRPr/>
            </a:pPr>
            <a:endParaRPr lang="en-US" sz="1400" i="1" dirty="0" smtClean="0">
              <a:latin typeface="Arial Narrow" pitchFamily="34" charset="0"/>
              <a:cs typeface="Arial" pitchFamily="34" charset="0"/>
            </a:endParaRPr>
          </a:p>
          <a:p>
            <a:pPr marL="456379" indent="-456379" eaLnBrk="1" hangingPunct="1">
              <a:lnSpc>
                <a:spcPct val="80000"/>
              </a:lnSpc>
              <a:defRPr/>
            </a:pPr>
            <a:r>
              <a:rPr lang="en-US" sz="1400" b="1" dirty="0" smtClean="0">
                <a:latin typeface="Arial Narrow" pitchFamily="34" charset="0"/>
              </a:rPr>
              <a:t>August </a:t>
            </a:r>
            <a:r>
              <a:rPr lang="en-US" sz="1400" b="1" dirty="0" smtClean="0">
                <a:latin typeface="Arial Narrow" pitchFamily="34" charset="0"/>
                <a:cs typeface="Arial" pitchFamily="34" charset="0"/>
              </a:rPr>
              <a:t>Highlights</a:t>
            </a:r>
            <a:r>
              <a:rPr lang="en-US" sz="1400" dirty="0">
                <a:latin typeface="Arial Narrow" pitchFamily="34" charset="0"/>
                <a:cs typeface="Arial" pitchFamily="34" charset="0"/>
              </a:rPr>
              <a:t>:</a:t>
            </a:r>
          </a:p>
          <a:p>
            <a:pPr>
              <a:lnSpc>
                <a:spcPct val="80000"/>
              </a:lnSpc>
              <a:defRPr/>
            </a:pPr>
            <a:endParaRPr lang="en-US" sz="1400" dirty="0">
              <a:latin typeface="Arial Narrow" pitchFamily="34" charset="0"/>
              <a:cs typeface="Arial" pitchFamily="34" charset="0"/>
            </a:endParaRPr>
          </a:p>
          <a:p>
            <a:pPr marL="182804" indent="-182804" eaLnBrk="1" hangingPunct="1">
              <a:lnSpc>
                <a:spcPct val="80000"/>
              </a:lnSpc>
              <a:buFontTx/>
              <a:buChar char="•"/>
              <a:defRPr/>
            </a:pPr>
            <a:r>
              <a:rPr lang="en-US" sz="1400" dirty="0" smtClean="0">
                <a:latin typeface="Arial Narrow" pitchFamily="34" charset="0"/>
              </a:rPr>
              <a:t>In August, </a:t>
            </a:r>
            <a:r>
              <a:rPr lang="en-US" sz="1400" dirty="0" smtClean="0">
                <a:latin typeface="Arial Narrow" pitchFamily="34" charset="0"/>
                <a:cs typeface="Arial" charset="0"/>
              </a:rPr>
              <a:t>VA established a new Prompt Payment Type Code (“Y”) to facilitate acceleration of commercial vendor payments to pay at 14 days after receipt of all proper payment documentation</a:t>
            </a:r>
          </a:p>
          <a:p>
            <a:pPr marL="182804" indent="-182804" eaLnBrk="1" hangingPunct="1">
              <a:lnSpc>
                <a:spcPct val="80000"/>
              </a:lnSpc>
              <a:buFontTx/>
              <a:buChar char="•"/>
              <a:defRPr/>
            </a:pPr>
            <a:r>
              <a:rPr lang="en-US" sz="1400" dirty="0" smtClean="0">
                <a:latin typeface="Arial Narrow" pitchFamily="34" charset="0"/>
              </a:rPr>
              <a:t>For August, VA paid 38 percent of all commercial vendors within the 15 day OMB goal</a:t>
            </a:r>
          </a:p>
          <a:p>
            <a:pPr marL="182804" indent="-182804" eaLnBrk="1" hangingPunct="1">
              <a:lnSpc>
                <a:spcPct val="80000"/>
              </a:lnSpc>
              <a:buFontTx/>
              <a:buChar char="•"/>
              <a:defRPr/>
            </a:pPr>
            <a:r>
              <a:rPr lang="en-US" sz="1400" dirty="0" smtClean="0">
                <a:latin typeface="Arial Narrow" pitchFamily="34" charset="0"/>
                <a:cs typeface="Arial" charset="0"/>
              </a:rPr>
              <a:t>FSC began manually accelerating commercial vendor payments on August 3</a:t>
            </a:r>
            <a:r>
              <a:rPr lang="en-US" sz="1400" baseline="30000" dirty="0" smtClean="0">
                <a:latin typeface="Arial Narrow" pitchFamily="34" charset="0"/>
                <a:cs typeface="Arial" charset="0"/>
              </a:rPr>
              <a:t>rd</a:t>
            </a:r>
            <a:r>
              <a:rPr lang="en-US" sz="1400" dirty="0" smtClean="0">
                <a:latin typeface="Arial Narrow" pitchFamily="34" charset="0"/>
                <a:cs typeface="Arial" charset="0"/>
              </a:rPr>
              <a:t>, paying 67 percent of August’s payments within the 15 day goal</a:t>
            </a:r>
          </a:p>
          <a:p>
            <a:pPr marL="182804" indent="-182804" eaLnBrk="1" hangingPunct="1">
              <a:lnSpc>
                <a:spcPct val="80000"/>
              </a:lnSpc>
              <a:buFontTx/>
              <a:buChar char="•"/>
              <a:defRPr/>
            </a:pPr>
            <a:r>
              <a:rPr lang="en-US" sz="1400" dirty="0" smtClean="0">
                <a:latin typeface="Arial Narrow" pitchFamily="34" charset="0"/>
              </a:rPr>
              <a:t>Non-FSC entities paid 20 percent of all commercial vendors within the 15 day OMB goal</a:t>
            </a:r>
          </a:p>
          <a:p>
            <a:pPr marL="182804" indent="-182804">
              <a:lnSpc>
                <a:spcPct val="80000"/>
              </a:lnSpc>
              <a:buFontTx/>
              <a:buChar char="•"/>
              <a:defRPr/>
            </a:pPr>
            <a:r>
              <a:rPr lang="en-US" sz="1400" dirty="0" smtClean="0">
                <a:latin typeface="Arial Narrow" pitchFamily="34" charset="0"/>
                <a:cs typeface="Arial" charset="0"/>
              </a:rPr>
              <a:t>FSC is working </a:t>
            </a:r>
            <a:r>
              <a:rPr lang="en-US" sz="1400" dirty="0">
                <a:latin typeface="Arial Narrow" pitchFamily="34" charset="0"/>
              </a:rPr>
              <a:t>with the Denver Acquisition and Logistics Center (DALC</a:t>
            </a:r>
            <a:r>
              <a:rPr lang="en-US" sz="1400" dirty="0" smtClean="0">
                <a:latin typeface="Arial Narrow" pitchFamily="34" charset="0"/>
              </a:rPr>
              <a:t>) to </a:t>
            </a:r>
            <a:r>
              <a:rPr lang="en-US" sz="1400" dirty="0">
                <a:latin typeface="Arial Narrow" pitchFamily="34" charset="0"/>
              </a:rPr>
              <a:t>program the use of the new Prompt Payment Type “Y” code to pay vendors at the 14 day point into their prosthetics </a:t>
            </a:r>
            <a:r>
              <a:rPr lang="en-US" sz="1400" dirty="0" smtClean="0">
                <a:latin typeface="Arial Narrow" pitchFamily="34" charset="0"/>
              </a:rPr>
              <a:t>EDI payment process.  </a:t>
            </a:r>
            <a:r>
              <a:rPr lang="en-US" sz="1400" dirty="0">
                <a:latin typeface="Arial Narrow" pitchFamily="34" charset="0"/>
              </a:rPr>
              <a:t>That conversion </a:t>
            </a:r>
            <a:r>
              <a:rPr lang="en-US" sz="1400" dirty="0" smtClean="0">
                <a:latin typeface="Arial Narrow" pitchFamily="34" charset="0"/>
              </a:rPr>
              <a:t>is expected to enable VA to exceed the VA  goal </a:t>
            </a:r>
            <a:r>
              <a:rPr lang="en-US" sz="1400" dirty="0">
                <a:latin typeface="Arial Narrow" pitchFamily="34" charset="0"/>
              </a:rPr>
              <a:t>in </a:t>
            </a:r>
            <a:r>
              <a:rPr lang="en-US" sz="1400" dirty="0" smtClean="0">
                <a:latin typeface="Arial Narrow" pitchFamily="34" charset="0"/>
              </a:rPr>
              <a:t>September</a:t>
            </a:r>
          </a:p>
          <a:p>
            <a:pPr lvl="1">
              <a:lnSpc>
                <a:spcPct val="80000"/>
              </a:lnSpc>
              <a:defRPr/>
            </a:pPr>
            <a:endParaRPr lang="en-US" sz="1400" dirty="0" smtClean="0">
              <a:latin typeface="Arial Narrow" pitchFamily="34" charset="0"/>
            </a:endParaRPr>
          </a:p>
          <a:p>
            <a:pPr marL="640004" lvl="1" indent="-182804">
              <a:lnSpc>
                <a:spcPct val="80000"/>
              </a:lnSpc>
              <a:buFontTx/>
              <a:buChar char="•"/>
              <a:defRPr/>
            </a:pPr>
            <a:endParaRPr lang="en-US" sz="1400" dirty="0" smtClean="0">
              <a:latin typeface="Arial Narrow" pitchFamily="34" charset="0"/>
            </a:endParaRPr>
          </a:p>
          <a:p>
            <a:pPr marL="640004" lvl="1" indent="-182804">
              <a:lnSpc>
                <a:spcPct val="80000"/>
              </a:lnSpc>
              <a:buFontTx/>
              <a:buChar char="•"/>
              <a:defRPr/>
            </a:pPr>
            <a:endParaRPr lang="en-US" sz="1400" dirty="0" smtClean="0">
              <a:latin typeface="Arial Narrow" pitchFamily="34" charset="0"/>
            </a:endParaRPr>
          </a:p>
          <a:p>
            <a:pPr marL="457014" indent="-457014" eaLnBrk="1" hangingPunct="1">
              <a:defRPr/>
            </a:pPr>
            <a:endParaRPr lang="en-US" sz="1200" b="1" dirty="0" smtClean="0">
              <a:latin typeface="Arial Narrow" pitchFamily="34" charset="0"/>
            </a:endParaRPr>
          </a:p>
          <a:p>
            <a:pPr marL="457014" indent="-457014" eaLnBrk="1" hangingPunct="1">
              <a:defRPr/>
            </a:pPr>
            <a:endParaRPr lang="en-US" sz="1200" b="1" dirty="0">
              <a:latin typeface="Arial Narrow" pitchFamily="34" charset="0"/>
            </a:endParaRPr>
          </a:p>
          <a:p>
            <a:pPr marL="457014" indent="-457014" eaLnBrk="1" hangingPunct="1">
              <a:defRPr/>
            </a:pPr>
            <a:endParaRPr lang="en-US" sz="1000" b="1" dirty="0">
              <a:latin typeface="Arial Narrow" pitchFamily="34" charset="0"/>
            </a:endParaRPr>
          </a:p>
          <a:p>
            <a:pPr marL="457014" indent="-457014" eaLnBrk="1" hangingPunct="1">
              <a:defRPr/>
            </a:pPr>
            <a:r>
              <a:rPr lang="en-US" sz="1000" b="1" dirty="0">
                <a:latin typeface="Arial Narrow" pitchFamily="34" charset="0"/>
              </a:rPr>
              <a:t>Prepared by:</a:t>
            </a:r>
            <a:r>
              <a:rPr lang="en-US" sz="1000" dirty="0">
                <a:latin typeface="Arial Narrow" pitchFamily="34" charset="0"/>
              </a:rPr>
              <a:t>  </a:t>
            </a:r>
            <a:r>
              <a:rPr lang="en-US" sz="1000" dirty="0" smtClean="0">
                <a:latin typeface="Arial Narrow" pitchFamily="34" charset="0"/>
              </a:rPr>
              <a:t>Kevin Miers, Systems &amp; Procedures Analyst, </a:t>
            </a:r>
            <a:r>
              <a:rPr lang="en-US" sz="1000" dirty="0">
                <a:latin typeface="Arial Narrow" pitchFamily="34" charset="0"/>
              </a:rPr>
              <a:t>VA Financial Services Center, </a:t>
            </a:r>
            <a:r>
              <a:rPr lang="en-US" sz="1000" dirty="0" smtClean="0">
                <a:latin typeface="Arial Narrow" pitchFamily="34" charset="0"/>
                <a:hlinkClick r:id="rId2"/>
              </a:rPr>
              <a:t>Kevin.Miers@va.gov</a:t>
            </a:r>
            <a:r>
              <a:rPr lang="en-US" sz="1000" dirty="0" smtClean="0">
                <a:latin typeface="Arial Narrow" pitchFamily="34" charset="0"/>
              </a:rPr>
              <a:t> </a:t>
            </a:r>
          </a:p>
          <a:p>
            <a:pPr marL="457014" indent="-457014" eaLnBrk="1" hangingPunct="1">
              <a:defRPr/>
            </a:pPr>
            <a:r>
              <a:rPr lang="en-US" sz="1000" b="1" dirty="0" smtClean="0">
                <a:latin typeface="Arial Narrow" pitchFamily="34" charset="0"/>
              </a:rPr>
              <a:t>Approved </a:t>
            </a:r>
            <a:r>
              <a:rPr lang="en-US" sz="1000" b="1" dirty="0">
                <a:latin typeface="Arial Narrow" pitchFamily="34" charset="0"/>
              </a:rPr>
              <a:t>by:</a:t>
            </a:r>
            <a:r>
              <a:rPr lang="en-US" sz="1000" dirty="0">
                <a:latin typeface="Arial Narrow" pitchFamily="34" charset="0"/>
              </a:rPr>
              <a:t>  Robert Adams, Deputy Director, VA Financial Services Center, (512) 460-5002 </a:t>
            </a:r>
            <a:endParaRPr lang="en-US" sz="1000" dirty="0" smtClean="0">
              <a:latin typeface="Arial Narrow" pitchFamily="34" charset="0"/>
            </a:endParaRPr>
          </a:p>
          <a:p>
            <a:pPr marL="457014" indent="-457014" eaLnBrk="1" hangingPunct="1">
              <a:defRPr/>
            </a:pPr>
            <a:r>
              <a:rPr lang="en-US" sz="1000" b="1" dirty="0" smtClean="0">
                <a:latin typeface="Arial Narrow" pitchFamily="34" charset="0"/>
              </a:rPr>
              <a:t>Version </a:t>
            </a:r>
            <a:r>
              <a:rPr lang="en-US" sz="1000" b="1" dirty="0">
                <a:latin typeface="Arial Narrow" pitchFamily="34" charset="0"/>
              </a:rPr>
              <a:t>Date:</a:t>
            </a:r>
            <a:r>
              <a:rPr lang="en-US" sz="1000" dirty="0">
                <a:latin typeface="Arial Narrow" pitchFamily="34" charset="0"/>
              </a:rPr>
              <a:t> </a:t>
            </a:r>
            <a:r>
              <a:rPr lang="en-US" sz="1000" dirty="0" smtClean="0">
                <a:latin typeface="Arial Narrow" pitchFamily="34" charset="0"/>
              </a:rPr>
              <a:t>September 11, 2012</a:t>
            </a:r>
            <a:endParaRPr lang="en-US" sz="1000" dirty="0">
              <a:latin typeface="Arial Narrow" pitchFamily="34" charset="0"/>
            </a:endParaRPr>
          </a:p>
        </p:txBody>
      </p:sp>
      <p:sp>
        <p:nvSpPr>
          <p:cNvPr id="3" name="TextBox 2"/>
          <p:cNvSpPr txBox="1"/>
          <p:nvPr/>
        </p:nvSpPr>
        <p:spPr>
          <a:xfrm>
            <a:off x="533400" y="304800"/>
            <a:ext cx="8001000" cy="369332"/>
          </a:xfrm>
          <a:prstGeom prst="rect">
            <a:avLst/>
          </a:prstGeom>
          <a:noFill/>
        </p:spPr>
        <p:txBody>
          <a:bodyPr wrap="square" rtlCol="0">
            <a:spAutoFit/>
          </a:bodyPr>
          <a:lstStyle/>
          <a:p>
            <a:pPr algn="ctr"/>
            <a:r>
              <a:rPr lang="en-US" dirty="0" smtClean="0">
                <a:latin typeface="Arial Rounded MT Bold" pitchFamily="34" charset="0"/>
              </a:rPr>
              <a:t>Overall Commercial Vendor Payment Timeliness</a:t>
            </a:r>
            <a:endParaRPr lang="en-US" dirty="0"/>
          </a:p>
        </p:txBody>
      </p:sp>
    </p:spTree>
    <p:extLst>
      <p:ext uri="{BB962C8B-B14F-4D97-AF65-F5344CB8AC3E}">
        <p14:creationId xmlns:p14="http://schemas.microsoft.com/office/powerpoint/2010/main" xmlns="" val="278750077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7" name="Group 3"/>
          <p:cNvGraphicFramePr>
            <a:graphicFrameLocks noGrp="1"/>
          </p:cNvGraphicFramePr>
          <p:nvPr>
            <p:extLst>
              <p:ext uri="{D42A27DB-BD31-4B8C-83A1-F6EECF244321}">
                <p14:modId xmlns:p14="http://schemas.microsoft.com/office/powerpoint/2010/main" xmlns="" val="3327070655"/>
              </p:ext>
            </p:extLst>
          </p:nvPr>
        </p:nvGraphicFramePr>
        <p:xfrm>
          <a:off x="6781800" y="0"/>
          <a:ext cx="2362200" cy="991553"/>
        </p:xfrm>
        <a:graphic>
          <a:graphicData uri="http://schemas.openxmlformats.org/drawingml/2006/table">
            <a:tbl>
              <a:tblPr/>
              <a:tblGrid>
                <a:gridCol w="1591705"/>
                <a:gridCol w="770495"/>
              </a:tblGrid>
              <a:tr h="228600">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Status</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B8D2EA"/>
                    </a:solidFill>
                  </a:tcPr>
                </a:tc>
                <a:tc hMerge="1">
                  <a:txBody>
                    <a:bodyPr/>
                    <a:lstStyle/>
                    <a:p>
                      <a:endParaRPr lang="en-US"/>
                    </a:p>
                  </a:txBody>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Current Month (August)</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Next Month (September)</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Projected Green Date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   N/A</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5136" name="Rectangle 26"/>
          <p:cNvSpPr>
            <a:spLocks noChangeArrowheads="1"/>
          </p:cNvSpPr>
          <p:nvPr/>
        </p:nvSpPr>
        <p:spPr bwMode="auto">
          <a:xfrm>
            <a:off x="2971800" y="1185863"/>
            <a:ext cx="5934075" cy="1244600"/>
          </a:xfrm>
          <a:prstGeom prst="rect">
            <a:avLst/>
          </a:prstGeom>
          <a:noFill/>
          <a:ln w="9525">
            <a:noFill/>
            <a:miter lim="800000"/>
            <a:headEnd/>
            <a:tailEnd/>
          </a:ln>
        </p:spPr>
        <p:txBody>
          <a:bodyPr anchor="ctr"/>
          <a:lstStyle/>
          <a:p>
            <a:pPr algn="ctr"/>
            <a:r>
              <a:rPr lang="en-US" sz="1600" dirty="0" smtClean="0">
                <a:solidFill>
                  <a:srgbClr val="0000FF"/>
                </a:solidFill>
                <a:latin typeface="Arial Rounded MT Bold" pitchFamily="34" charset="0"/>
              </a:rPr>
              <a:t>Metrics Detail: </a:t>
            </a:r>
            <a:r>
              <a:rPr lang="en-US" sz="1600" dirty="0">
                <a:solidFill>
                  <a:srgbClr val="0000FF"/>
                </a:solidFill>
                <a:latin typeface="Arial Rounded MT Bold" pitchFamily="34" charset="0"/>
              </a:rPr>
              <a:t/>
            </a:r>
            <a:br>
              <a:rPr lang="en-US" sz="1600" dirty="0">
                <a:solidFill>
                  <a:srgbClr val="0000FF"/>
                </a:solidFill>
                <a:latin typeface="Arial Rounded MT Bold" pitchFamily="34" charset="0"/>
              </a:rPr>
            </a:br>
            <a:r>
              <a:rPr lang="en-US" sz="1600" dirty="0" smtClean="0">
                <a:solidFill>
                  <a:srgbClr val="800000"/>
                </a:solidFill>
                <a:latin typeface="Arial Rounded MT Bold" pitchFamily="34" charset="0"/>
              </a:rPr>
              <a:t> Overall Commercial Vendor Payment Timeliness</a:t>
            </a:r>
          </a:p>
          <a:p>
            <a:pPr algn="ctr"/>
            <a:r>
              <a:rPr lang="en-US" sz="1600" b="1" dirty="0" smtClean="0"/>
              <a:t>Implementation During August</a:t>
            </a:r>
            <a:r>
              <a:rPr lang="en-US" sz="1600" dirty="0">
                <a:solidFill>
                  <a:srgbClr val="0000FF"/>
                </a:solidFill>
                <a:latin typeface="Arial Rounded MT Bold" pitchFamily="34" charset="0"/>
              </a:rPr>
              <a:t/>
            </a:r>
            <a:br>
              <a:rPr lang="en-US" sz="1600" dirty="0">
                <a:solidFill>
                  <a:srgbClr val="0000FF"/>
                </a:solidFill>
                <a:latin typeface="Arial Rounded MT Bold" pitchFamily="34" charset="0"/>
              </a:rPr>
            </a:br>
            <a:endParaRPr lang="en-US" sz="1600" dirty="0" smtClean="0">
              <a:solidFill>
                <a:srgbClr val="800000"/>
              </a:solidFill>
              <a:latin typeface="Arial Rounded MT Bold" pitchFamily="34" charset="0"/>
            </a:endParaRPr>
          </a:p>
          <a:p>
            <a:pPr algn="ctr"/>
            <a:r>
              <a:rPr lang="en-US" sz="1600" dirty="0" smtClean="0">
                <a:latin typeface="Arial Rounded MT Bold" pitchFamily="34" charset="0"/>
              </a:rPr>
              <a:t> </a:t>
            </a:r>
            <a:endParaRPr lang="en-US" sz="1400" dirty="0">
              <a:latin typeface="Arial Rounded MT Bold" pitchFamily="34" charset="0"/>
            </a:endParaRPr>
          </a:p>
        </p:txBody>
      </p:sp>
      <p:graphicFrame>
        <p:nvGraphicFramePr>
          <p:cNvPr id="93211" name="Group 27"/>
          <p:cNvGraphicFramePr>
            <a:graphicFrameLocks noGrp="1"/>
          </p:cNvGraphicFramePr>
          <p:nvPr/>
        </p:nvGraphicFramePr>
        <p:xfrm>
          <a:off x="0" y="0"/>
          <a:ext cx="2971800" cy="1813561"/>
        </p:xfrm>
        <a:graphic>
          <a:graphicData uri="http://schemas.openxmlformats.org/drawingml/2006/table">
            <a:tbl>
              <a:tblPr/>
              <a:tblGrid>
                <a:gridCol w="914400"/>
                <a:gridCol w="2057400"/>
              </a:tblGrid>
              <a:tr h="227013">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Linkages</a:t>
                      </a:r>
                    </a:p>
                  </a:txBody>
                  <a:tcPr horzOverflow="overflow">
                    <a:lnL cap="flat">
                      <a:noFill/>
                    </a:lnL>
                    <a:lnR cap="flat">
                      <a:noFill/>
                    </a:lnR>
                    <a:lnT cap="flat">
                      <a:noFill/>
                    </a:lnT>
                    <a:lnB>
                      <a:noFill/>
                    </a:lnB>
                    <a:lnTlToBr>
                      <a:noFill/>
                    </a:lnTlToBr>
                    <a:lnBlToTr>
                      <a:noFill/>
                    </a:lnBlToTr>
                    <a:solidFill>
                      <a:srgbClr val="EDD4A1"/>
                    </a:solidFill>
                  </a:tcPr>
                </a:tc>
                <a:tc hMerge="1">
                  <a:txBody>
                    <a:bodyPr/>
                    <a:lstStyle/>
                    <a:p>
                      <a:endParaRPr lang="en-US"/>
                    </a:p>
                  </a:txBody>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Org</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OM</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651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B/Line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Enabling</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Metric Type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Performance</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B/Scorecard</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Operations</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81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Strategic Goal</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4</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Corp Outcome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pitchFamily="34" charset="0"/>
                        </a:rPr>
                        <a:t>Improve Management and Support Services Timeliness</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r>
            </a:tbl>
          </a:graphicData>
        </a:graphic>
      </p:graphicFrame>
      <p:sp>
        <p:nvSpPr>
          <p:cNvPr id="5157" name="TextBox 16"/>
          <p:cNvSpPr txBox="1">
            <a:spLocks noChangeArrowheads="1"/>
          </p:cNvSpPr>
          <p:nvPr/>
        </p:nvSpPr>
        <p:spPr bwMode="auto">
          <a:xfrm>
            <a:off x="5562600" y="838200"/>
            <a:ext cx="914400" cy="369888"/>
          </a:xfrm>
          <a:prstGeom prst="rect">
            <a:avLst/>
          </a:prstGeom>
          <a:noFill/>
          <a:ln w="9525">
            <a:noFill/>
            <a:miter lim="800000"/>
            <a:headEnd/>
            <a:tailEnd/>
          </a:ln>
        </p:spPr>
        <p:txBody>
          <a:bodyPr>
            <a:spAutoFit/>
          </a:bodyPr>
          <a:lstStyle/>
          <a:p>
            <a:endParaRPr lang="en-US" dirty="0"/>
          </a:p>
        </p:txBody>
      </p:sp>
      <p:sp>
        <p:nvSpPr>
          <p:cNvPr id="5159" name="Slide Number Placeholder 16"/>
          <p:cNvSpPr>
            <a:spLocks noGrp="1"/>
          </p:cNvSpPr>
          <p:nvPr>
            <p:ph type="sldNum" sz="quarter" idx="11"/>
          </p:nvPr>
        </p:nvSpPr>
        <p:spPr>
          <a:xfrm>
            <a:off x="6553200" y="6356350"/>
            <a:ext cx="2133600" cy="365125"/>
          </a:xfrm>
          <a:noFill/>
        </p:spPr>
        <p:txBody>
          <a:bodyPr/>
          <a:lstStyle/>
          <a:p>
            <a:fld id="{B0756BEF-E3B6-4B30-98B6-41D82E769A60}" type="slidenum">
              <a:rPr lang="en-US" smtClean="0">
                <a:latin typeface="Arial" pitchFamily="34" charset="0"/>
              </a:rPr>
              <a:pPr/>
              <a:t>6</a:t>
            </a:fld>
            <a:endParaRPr lang="en-US" dirty="0" smtClean="0">
              <a:latin typeface="Arial" pitchFamily="34" charset="0"/>
            </a:endParaRPr>
          </a:p>
        </p:txBody>
      </p:sp>
      <p:sp>
        <p:nvSpPr>
          <p:cNvPr id="5161" name="Date Placeholder 1"/>
          <p:cNvSpPr>
            <a:spLocks noGrp="1"/>
          </p:cNvSpPr>
          <p:nvPr>
            <p:ph type="dt" sz="quarter" idx="10"/>
          </p:nvPr>
        </p:nvSpPr>
        <p:spPr>
          <a:xfrm>
            <a:off x="457200" y="6400799"/>
            <a:ext cx="2938463" cy="304801"/>
          </a:xfrm>
          <a:noFill/>
        </p:spPr>
        <p:txBody>
          <a:bodyPr/>
          <a:lstStyle/>
          <a:p>
            <a:r>
              <a:rPr lang="en-US" dirty="0" smtClean="0">
                <a:latin typeface="Arial" pitchFamily="34" charset="0"/>
              </a:rPr>
              <a:t>SG4 - Data Through August 2012</a:t>
            </a:r>
          </a:p>
        </p:txBody>
      </p:sp>
      <p:graphicFrame>
        <p:nvGraphicFramePr>
          <p:cNvPr id="36867" name="Object 2"/>
          <p:cNvGraphicFramePr>
            <a:graphicFrameLocks noGrp="1" noChangeAspect="1"/>
          </p:cNvGraphicFramePr>
          <p:nvPr>
            <p:extLst>
              <p:ext uri="{D42A27DB-BD31-4B8C-83A1-F6EECF244321}">
                <p14:modId xmlns:p14="http://schemas.microsoft.com/office/powerpoint/2010/main" xmlns="" val="419960206"/>
              </p:ext>
            </p:extLst>
          </p:nvPr>
        </p:nvGraphicFramePr>
        <p:xfrm>
          <a:off x="0" y="1905000"/>
          <a:ext cx="8869363" cy="4729163"/>
        </p:xfrm>
        <a:graphic>
          <a:graphicData uri="http://schemas.openxmlformats.org/presentationml/2006/ole">
            <p:oleObj spid="_x0000_s99359" name="Worksheet" r:id="rId4" imgW="6419979" imgH="4848120" progId="Excel.Sheet.8">
              <p:embed/>
            </p:oleObj>
          </a:graphicData>
        </a:graphic>
      </p:graphicFrame>
      <p:sp>
        <p:nvSpPr>
          <p:cNvPr id="12" name="TextBox 11"/>
          <p:cNvSpPr txBox="1"/>
          <p:nvPr/>
        </p:nvSpPr>
        <p:spPr>
          <a:xfrm>
            <a:off x="457200" y="2580607"/>
            <a:ext cx="1600200" cy="738664"/>
          </a:xfrm>
          <a:prstGeom prst="rect">
            <a:avLst/>
          </a:prstGeom>
          <a:noFill/>
        </p:spPr>
        <p:txBody>
          <a:bodyPr wrap="square" rtlCol="0">
            <a:spAutoFit/>
          </a:bodyPr>
          <a:lstStyle/>
          <a:p>
            <a:r>
              <a:rPr lang="en-US" sz="1050" dirty="0"/>
              <a:t>Percent Paid Within 15 Days of Receipt of </a:t>
            </a:r>
            <a:r>
              <a:rPr lang="en-US" sz="1050" dirty="0" smtClean="0"/>
              <a:t>All </a:t>
            </a:r>
            <a:r>
              <a:rPr lang="en-US" sz="1050" dirty="0"/>
              <a:t>Proper Payment Documentation</a:t>
            </a:r>
          </a:p>
        </p:txBody>
      </p:sp>
      <p:sp>
        <p:nvSpPr>
          <p:cNvPr id="15" name="Oval 28"/>
          <p:cNvSpPr>
            <a:spLocks noChangeArrowheads="1"/>
          </p:cNvSpPr>
          <p:nvPr/>
        </p:nvSpPr>
        <p:spPr bwMode="auto">
          <a:xfrm>
            <a:off x="8610600" y="5334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sp>
        <p:nvSpPr>
          <p:cNvPr id="16" name="Oval 28"/>
          <p:cNvSpPr>
            <a:spLocks noChangeArrowheads="1"/>
          </p:cNvSpPr>
          <p:nvPr/>
        </p:nvSpPr>
        <p:spPr bwMode="auto">
          <a:xfrm>
            <a:off x="8610600" y="304800"/>
            <a:ext cx="152400" cy="152400"/>
          </a:xfrm>
          <a:prstGeom prst="ellipse">
            <a:avLst/>
          </a:prstGeom>
          <a:solidFill>
            <a:srgbClr val="FF0000"/>
          </a:solidFill>
          <a:ln w="9525">
            <a:solidFill>
              <a:schemeClr val="tx1"/>
            </a:solidFill>
            <a:round/>
            <a:headEnd/>
            <a:tailEnd/>
          </a:ln>
        </p:spPr>
        <p:txBody>
          <a:bodyPr wrap="none" anchor="ctr"/>
          <a:lstStyle/>
          <a:p>
            <a:pPr algn="ctr"/>
            <a:r>
              <a:rPr lang="en-US" sz="1000" dirty="0"/>
              <a:t>R</a:t>
            </a:r>
          </a:p>
        </p:txBody>
      </p:sp>
      <p:grpSp>
        <p:nvGrpSpPr>
          <p:cNvPr id="14" name="Group 13"/>
          <p:cNvGrpSpPr>
            <a:grpSpLocks/>
          </p:cNvGrpSpPr>
          <p:nvPr/>
        </p:nvGrpSpPr>
        <p:grpSpPr bwMode="auto">
          <a:xfrm>
            <a:off x="2819400" y="0"/>
            <a:ext cx="2895600" cy="1384422"/>
            <a:chOff x="4717" y="-23"/>
            <a:chExt cx="1131" cy="699"/>
          </a:xfrm>
        </p:grpSpPr>
        <p:sp>
          <p:nvSpPr>
            <p:cNvPr id="17" name="Text Box 64" descr="70%"/>
            <p:cNvSpPr txBox="1">
              <a:spLocks noChangeArrowheads="1"/>
            </p:cNvSpPr>
            <p:nvPr/>
          </p:nvSpPr>
          <p:spPr bwMode="auto">
            <a:xfrm>
              <a:off x="4717" y="-23"/>
              <a:ext cx="1131" cy="544"/>
            </a:xfrm>
            <a:prstGeom prst="rect">
              <a:avLst/>
            </a:prstGeom>
            <a:pattFill prst="pct70">
              <a:fgClr>
                <a:srgbClr val="F1CFCB"/>
              </a:fgClr>
              <a:bgClr>
                <a:schemeClr val="bg1"/>
              </a:bgClr>
            </a:pattFill>
            <a:ln w="31750">
              <a:noFill/>
              <a:miter lim="800000"/>
              <a:headEnd/>
              <a:tailEnd/>
            </a:ln>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spcBef>
                  <a:spcPct val="50000"/>
                </a:spcBef>
                <a:tabLst>
                  <a:tab pos="114300" algn="l"/>
                </a:tabLst>
              </a:pPr>
              <a:r>
                <a:rPr lang="en-US" sz="900" u="sng" dirty="0">
                  <a:latin typeface="Calibri" pitchFamily="34" charset="0"/>
                </a:rPr>
                <a:t>Mini Drill-Down for </a:t>
              </a:r>
              <a:r>
                <a:rPr lang="en-US" sz="900" u="sng" dirty="0" smtClean="0">
                  <a:latin typeface="Calibri" pitchFamily="34" charset="0"/>
                </a:rPr>
                <a:t/>
              </a:r>
              <a:br>
                <a:rPr lang="en-US" sz="900" u="sng" dirty="0" smtClean="0">
                  <a:latin typeface="Calibri" pitchFamily="34" charset="0"/>
                </a:rPr>
              </a:br>
              <a:r>
                <a:rPr lang="en-US" sz="900" b="1" u="sng" dirty="0" smtClean="0">
                  <a:latin typeface="Calibri" pitchFamily="34" charset="0"/>
                </a:rPr>
                <a:t>RED</a:t>
              </a:r>
              <a:r>
                <a:rPr lang="en-US" sz="900" u="sng" dirty="0" smtClean="0">
                  <a:latin typeface="Calibri" pitchFamily="34" charset="0"/>
                </a:rPr>
                <a:t> </a:t>
              </a:r>
              <a:r>
                <a:rPr lang="en-US" sz="900" u="sng" dirty="0">
                  <a:latin typeface="Calibri" pitchFamily="34" charset="0"/>
                </a:rPr>
                <a:t>Status</a:t>
              </a:r>
            </a:p>
            <a:p>
              <a:pPr>
                <a:spcBef>
                  <a:spcPts val="340"/>
                </a:spcBef>
                <a:buFontTx/>
                <a:buChar char="•"/>
                <a:tabLst>
                  <a:tab pos="114300" algn="l"/>
                </a:tabLst>
              </a:pPr>
              <a:r>
                <a:rPr lang="en-US" sz="900" dirty="0">
                  <a:latin typeface="Calibri" pitchFamily="34" charset="0"/>
                </a:rPr>
                <a:t>	Why off plan</a:t>
              </a:r>
              <a:r>
                <a:rPr lang="en-US" sz="900" dirty="0" smtClean="0">
                  <a:latin typeface="Calibri" pitchFamily="34" charset="0"/>
                </a:rPr>
                <a:t>? </a:t>
              </a:r>
              <a:endParaRPr lang="en-US" sz="900" dirty="0">
                <a:latin typeface="Calibri" pitchFamily="34" charset="0"/>
              </a:endParaRPr>
            </a:p>
            <a:p>
              <a:pPr>
                <a:spcBef>
                  <a:spcPts val="340"/>
                </a:spcBef>
                <a:buFontTx/>
                <a:buChar char="•"/>
                <a:tabLst>
                  <a:tab pos="114300" algn="l"/>
                </a:tabLst>
              </a:pPr>
              <a:r>
                <a:rPr lang="en-US" sz="900" dirty="0">
                  <a:latin typeface="Calibri" pitchFamily="34" charset="0"/>
                </a:rPr>
                <a:t>	When back on plan</a:t>
              </a:r>
              <a:r>
                <a:rPr lang="en-US" sz="900" dirty="0" smtClean="0">
                  <a:latin typeface="Calibri" pitchFamily="34" charset="0"/>
                </a:rPr>
                <a:t>?  </a:t>
              </a:r>
              <a:endParaRPr lang="en-US" sz="900" dirty="0">
                <a:latin typeface="Calibri" pitchFamily="34" charset="0"/>
              </a:endParaRPr>
            </a:p>
            <a:p>
              <a:pPr>
                <a:spcBef>
                  <a:spcPts val="340"/>
                </a:spcBef>
                <a:buFontTx/>
                <a:buChar char="•"/>
                <a:tabLst>
                  <a:tab pos="114300" algn="l"/>
                </a:tabLst>
              </a:pPr>
              <a:r>
                <a:rPr lang="en-US" sz="900" dirty="0">
                  <a:latin typeface="Calibri" pitchFamily="34" charset="0"/>
                </a:rPr>
                <a:t>	What will it take to get </a:t>
              </a:r>
              <a:r>
                <a:rPr lang="en-US" sz="900" dirty="0" smtClean="0">
                  <a:latin typeface="Calibri" pitchFamily="34" charset="0"/>
                </a:rPr>
                <a:t>back </a:t>
              </a:r>
              <a:r>
                <a:rPr lang="en-US" sz="900" dirty="0">
                  <a:latin typeface="Calibri" pitchFamily="34" charset="0"/>
                </a:rPr>
                <a:t>on plan</a:t>
              </a:r>
              <a:r>
                <a:rPr lang="en-US" sz="900" dirty="0" smtClean="0">
                  <a:latin typeface="Calibri" pitchFamily="34" charset="0"/>
                </a:rPr>
                <a:t>?  </a:t>
              </a:r>
            </a:p>
            <a:p>
              <a:pPr>
                <a:spcBef>
                  <a:spcPts val="340"/>
                </a:spcBef>
                <a:tabLst>
                  <a:tab pos="114300" algn="l"/>
                </a:tabLst>
              </a:pPr>
              <a:endParaRPr lang="en-US" sz="900" dirty="0">
                <a:latin typeface="Calibri" pitchFamily="34" charset="0"/>
              </a:endParaRPr>
            </a:p>
          </p:txBody>
        </p:sp>
        <p:grpSp>
          <p:nvGrpSpPr>
            <p:cNvPr id="18" name="Group 12"/>
            <p:cNvGrpSpPr>
              <a:grpSpLocks/>
            </p:cNvGrpSpPr>
            <p:nvPr/>
          </p:nvGrpSpPr>
          <p:grpSpPr bwMode="auto">
            <a:xfrm>
              <a:off x="4827" y="-21"/>
              <a:ext cx="907" cy="697"/>
              <a:chOff x="4827" y="-21"/>
              <a:chExt cx="907" cy="697"/>
            </a:xfrm>
          </p:grpSpPr>
          <p:pic>
            <p:nvPicPr>
              <p:cNvPr id="19" name="Picture 18"/>
              <p:cNvPicPr>
                <a:picLocks noChangeAspect="1" noChangeArrowheads="1"/>
              </p:cNvPicPr>
              <p:nvPr/>
            </p:nvPicPr>
            <p:blipFill>
              <a:blip r:embed="rId5" cstate="print"/>
              <a:srcRect/>
              <a:stretch>
                <a:fillRect/>
              </a:stretch>
            </p:blipFill>
            <p:spPr bwMode="auto">
              <a:xfrm>
                <a:off x="4827" y="606"/>
                <a:ext cx="70" cy="70"/>
              </a:xfrm>
              <a:prstGeom prst="rect">
                <a:avLst/>
              </a:prstGeom>
              <a:noFill/>
              <a:ln w="9525">
                <a:noFill/>
                <a:miter lim="800000"/>
                <a:headEnd/>
                <a:tailEnd/>
              </a:ln>
            </p:spPr>
          </p:pic>
          <p:pic>
            <p:nvPicPr>
              <p:cNvPr id="20" name="Picture 19"/>
              <p:cNvPicPr>
                <a:picLocks noChangeAspect="1" noChangeArrowheads="1"/>
              </p:cNvPicPr>
              <p:nvPr/>
            </p:nvPicPr>
            <p:blipFill>
              <a:blip r:embed="rId5" cstate="print"/>
              <a:srcRect/>
              <a:stretch>
                <a:fillRect/>
              </a:stretch>
            </p:blipFill>
            <p:spPr bwMode="auto">
              <a:xfrm>
                <a:off x="5664" y="606"/>
                <a:ext cx="70" cy="70"/>
              </a:xfrm>
              <a:prstGeom prst="rect">
                <a:avLst/>
              </a:prstGeom>
              <a:noFill/>
              <a:ln w="9525">
                <a:noFill/>
                <a:miter lim="800000"/>
                <a:headEnd/>
                <a:tailEnd/>
              </a:ln>
            </p:spPr>
          </p:pic>
          <p:pic>
            <p:nvPicPr>
              <p:cNvPr id="21" name="Picture 20"/>
              <p:cNvPicPr>
                <a:picLocks noChangeAspect="1" noChangeArrowheads="1"/>
              </p:cNvPicPr>
              <p:nvPr/>
            </p:nvPicPr>
            <p:blipFill>
              <a:blip r:embed="rId5" cstate="print"/>
              <a:srcRect/>
              <a:stretch>
                <a:fillRect/>
              </a:stretch>
            </p:blipFill>
            <p:spPr bwMode="auto">
              <a:xfrm>
                <a:off x="4827" y="-21"/>
                <a:ext cx="70" cy="70"/>
              </a:xfrm>
              <a:prstGeom prst="rect">
                <a:avLst/>
              </a:prstGeom>
              <a:noFill/>
              <a:ln w="9525">
                <a:noFill/>
                <a:miter lim="800000"/>
                <a:headEnd/>
                <a:tailEnd/>
              </a:ln>
            </p:spPr>
          </p:pic>
          <p:pic>
            <p:nvPicPr>
              <p:cNvPr id="22" name="Picture 21"/>
              <p:cNvPicPr>
                <a:picLocks noChangeAspect="1" noChangeArrowheads="1"/>
              </p:cNvPicPr>
              <p:nvPr/>
            </p:nvPicPr>
            <p:blipFill>
              <a:blip r:embed="rId5" cstate="print"/>
              <a:srcRect/>
              <a:stretch>
                <a:fillRect/>
              </a:stretch>
            </p:blipFill>
            <p:spPr bwMode="auto">
              <a:xfrm>
                <a:off x="5664" y="-21"/>
                <a:ext cx="70" cy="70"/>
              </a:xfrm>
              <a:prstGeom prst="rect">
                <a:avLst/>
              </a:prstGeom>
              <a:noFill/>
              <a:ln w="9525">
                <a:noFill/>
                <a:miter lim="800000"/>
                <a:headEnd/>
                <a:tailEnd/>
              </a:ln>
            </p:spPr>
          </p:pic>
        </p:grpSp>
      </p:grpSp>
    </p:spTree>
    <p:extLst>
      <p:ext uri="{BB962C8B-B14F-4D97-AF65-F5344CB8AC3E}">
        <p14:creationId xmlns:p14="http://schemas.microsoft.com/office/powerpoint/2010/main" xmlns="" val="1490092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52400"/>
            <a:ext cx="8915400" cy="6355586"/>
          </a:xfrm>
          <a:prstGeom prst="rect">
            <a:avLst/>
          </a:prstGeom>
          <a:noFill/>
        </p:spPr>
        <p:txBody>
          <a:bodyPr wrap="square">
            <a:spAutoFit/>
          </a:bodyPr>
          <a:lstStyle/>
          <a:p>
            <a:pPr>
              <a:defRPr/>
            </a:pPr>
            <a:r>
              <a:rPr lang="en-US" sz="1400" b="1" dirty="0">
                <a:latin typeface="Arial" pitchFamily="34" charset="0"/>
                <a:cs typeface="Arial" pitchFamily="34" charset="0"/>
              </a:rPr>
              <a:t>PCS Change of Station </a:t>
            </a:r>
            <a:r>
              <a:rPr lang="en-US" sz="1400" b="1" dirty="0" smtClean="0">
                <a:latin typeface="Arial" pitchFamily="34" charset="0"/>
                <a:cs typeface="Arial" pitchFamily="34" charset="0"/>
              </a:rPr>
              <a:t>– Pre-Move </a:t>
            </a:r>
            <a:r>
              <a:rPr lang="en-US" sz="1400" b="1" dirty="0">
                <a:latin typeface="Arial" pitchFamily="34" charset="0"/>
                <a:cs typeface="Arial" pitchFamily="34" charset="0"/>
              </a:rPr>
              <a:t>Notes</a:t>
            </a:r>
          </a:p>
          <a:p>
            <a:pPr>
              <a:defRPr/>
            </a:pPr>
            <a:endParaRPr lang="en-US" sz="500" dirty="0">
              <a:latin typeface="Arial" pitchFamily="34" charset="0"/>
              <a:cs typeface="Arial" pitchFamily="34" charset="0"/>
            </a:endParaRPr>
          </a:p>
          <a:p>
            <a:pPr marL="115888" indent="-115888">
              <a:buFont typeface="Arial" pitchFamily="34" charset="0"/>
              <a:buChar char="•"/>
              <a:defRPr/>
            </a:pPr>
            <a:r>
              <a:rPr lang="en-US" sz="1200" dirty="0" smtClean="0">
                <a:latin typeface="Arial" pitchFamily="34" charset="0"/>
                <a:cs typeface="Arial" pitchFamily="34" charset="0"/>
              </a:rPr>
              <a:t>Pre-Move </a:t>
            </a:r>
            <a:r>
              <a:rPr lang="en-US" sz="1200" dirty="0">
                <a:latin typeface="Arial" pitchFamily="34" charset="0"/>
                <a:cs typeface="Arial" pitchFamily="34" charset="0"/>
              </a:rPr>
              <a:t>survey measure evaluates customer satisfaction with services for PCS move preparatory events, including:</a:t>
            </a:r>
          </a:p>
          <a:p>
            <a:pPr marL="406400" lvl="1" indent="-174625">
              <a:buFont typeface="Arial" pitchFamily="34" charset="0"/>
              <a:buChar char="•"/>
              <a:defRPr/>
            </a:pPr>
            <a:r>
              <a:rPr lang="en-US" sz="1200" dirty="0">
                <a:latin typeface="Arial" pitchFamily="34" charset="0"/>
                <a:cs typeface="Arial" pitchFamily="34" charset="0"/>
              </a:rPr>
              <a:t> Initiation of PCS travel documents  </a:t>
            </a:r>
          </a:p>
          <a:p>
            <a:pPr marL="406400" lvl="1" indent="-174625">
              <a:buFont typeface="Arial" pitchFamily="34" charset="0"/>
              <a:buChar char="•"/>
              <a:defRPr/>
            </a:pPr>
            <a:r>
              <a:rPr lang="en-US" sz="1200" dirty="0">
                <a:latin typeface="Arial" pitchFamily="34" charset="0"/>
                <a:cs typeface="Arial" pitchFamily="34" charset="0"/>
              </a:rPr>
              <a:t> FSC counseling of employees</a:t>
            </a:r>
          </a:p>
          <a:p>
            <a:pPr marL="406400" lvl="1" indent="-174625">
              <a:buFont typeface="Arial" pitchFamily="34" charset="0"/>
              <a:buChar char="•"/>
              <a:defRPr/>
            </a:pPr>
            <a:r>
              <a:rPr lang="en-US" sz="1200" dirty="0">
                <a:latin typeface="Arial" pitchFamily="34" charset="0"/>
                <a:cs typeface="Arial" pitchFamily="34" charset="0"/>
              </a:rPr>
              <a:t> Initiation of Household Goods (HHG) work order with Relocation Move Management</a:t>
            </a:r>
          </a:p>
          <a:p>
            <a:pPr marL="406400" lvl="1" indent="-174625">
              <a:buFont typeface="Arial" pitchFamily="34" charset="0"/>
              <a:buChar char="•"/>
              <a:defRPr/>
            </a:pPr>
            <a:r>
              <a:rPr lang="en-US" sz="1200" dirty="0">
                <a:latin typeface="Arial" pitchFamily="34" charset="0"/>
                <a:cs typeface="Arial" pitchFamily="34" charset="0"/>
              </a:rPr>
              <a:t> Initiation of applicable home sale work order with Prudential Relocation</a:t>
            </a:r>
          </a:p>
          <a:p>
            <a:pPr>
              <a:defRPr/>
            </a:pPr>
            <a:endParaRPr lang="en-US" sz="500" dirty="0">
              <a:latin typeface="Arial" pitchFamily="34" charset="0"/>
              <a:cs typeface="Arial" pitchFamily="34" charset="0"/>
            </a:endParaRPr>
          </a:p>
          <a:p>
            <a:pPr marL="115888" indent="-115888">
              <a:buFont typeface="Arial" pitchFamily="34" charset="0"/>
              <a:buChar char="•"/>
              <a:defRPr/>
            </a:pPr>
            <a:r>
              <a:rPr lang="en-US" sz="1200" dirty="0">
                <a:latin typeface="Arial" pitchFamily="34" charset="0"/>
                <a:cs typeface="Arial" pitchFamily="34" charset="0"/>
              </a:rPr>
              <a:t>Employees are not required to respond to survey, but all employees completing </a:t>
            </a:r>
            <a:r>
              <a:rPr lang="en-US" sz="1200" dirty="0" smtClean="0">
                <a:latin typeface="Arial" pitchFamily="34" charset="0"/>
                <a:cs typeface="Arial" pitchFamily="34" charset="0"/>
              </a:rPr>
              <a:t>pre-move </a:t>
            </a:r>
            <a:r>
              <a:rPr lang="en-US" sz="1200" dirty="0">
                <a:latin typeface="Arial" pitchFamily="34" charset="0"/>
                <a:cs typeface="Arial" pitchFamily="34" charset="0"/>
              </a:rPr>
              <a:t>events are surveyed</a:t>
            </a:r>
          </a:p>
          <a:p>
            <a:pPr marL="115888" indent="-115888">
              <a:defRPr/>
            </a:pPr>
            <a:endParaRPr lang="en-US" sz="500" dirty="0">
              <a:latin typeface="Arial" pitchFamily="34" charset="0"/>
              <a:cs typeface="Arial" pitchFamily="34" charset="0"/>
            </a:endParaRPr>
          </a:p>
          <a:p>
            <a:pPr>
              <a:buFont typeface="Arial" pitchFamily="34" charset="0"/>
              <a:buChar char="•"/>
              <a:defRPr/>
            </a:pPr>
            <a:r>
              <a:rPr lang="en-US" sz="1200" dirty="0">
                <a:latin typeface="Arial" pitchFamily="34" charset="0"/>
                <a:cs typeface="Arial" pitchFamily="34" charset="0"/>
              </a:rPr>
              <a:t>  Survey asks customers to rank overall satisfaction with </a:t>
            </a:r>
            <a:r>
              <a:rPr lang="en-US" sz="1200" dirty="0" smtClean="0">
                <a:latin typeface="Arial" pitchFamily="34" charset="0"/>
                <a:cs typeface="Arial" pitchFamily="34" charset="0"/>
              </a:rPr>
              <a:t>pre-move </a:t>
            </a:r>
            <a:r>
              <a:rPr lang="en-US" sz="1200" dirty="0">
                <a:latin typeface="Arial" pitchFamily="34" charset="0"/>
                <a:cs typeface="Arial" pitchFamily="34" charset="0"/>
              </a:rPr>
              <a:t>services</a:t>
            </a:r>
          </a:p>
          <a:p>
            <a:pPr lvl="1" indent="-225425">
              <a:buFont typeface="Arial" pitchFamily="34" charset="0"/>
              <a:buChar char="•"/>
              <a:defRPr/>
            </a:pPr>
            <a:r>
              <a:rPr lang="en-US" sz="1200" dirty="0">
                <a:latin typeface="Arial" pitchFamily="34" charset="0"/>
                <a:cs typeface="Arial" pitchFamily="34" charset="0"/>
              </a:rPr>
              <a:t>Scale:  1 – Very Dissatisfied to 5 – Very Satisfied</a:t>
            </a:r>
          </a:p>
          <a:p>
            <a:pPr lvl="1" indent="-225425">
              <a:buFont typeface="Arial" pitchFamily="34" charset="0"/>
              <a:buChar char="•"/>
              <a:defRPr/>
            </a:pPr>
            <a:r>
              <a:rPr lang="en-US" sz="1200" dirty="0">
                <a:latin typeface="Arial" pitchFamily="34" charset="0"/>
                <a:cs typeface="Arial" pitchFamily="34" charset="0"/>
              </a:rPr>
              <a:t>Goal is 4.4 </a:t>
            </a:r>
            <a:r>
              <a:rPr lang="en-US" sz="1200" dirty="0" smtClean="0">
                <a:latin typeface="Arial" pitchFamily="34" charset="0"/>
                <a:cs typeface="Arial" pitchFamily="34" charset="0"/>
              </a:rPr>
              <a:t> </a:t>
            </a:r>
            <a:r>
              <a:rPr lang="en-US" sz="1200" dirty="0" smtClean="0">
                <a:solidFill>
                  <a:srgbClr val="00CC00"/>
                </a:solidFill>
                <a:latin typeface="Arial" pitchFamily="34" charset="0"/>
                <a:cs typeface="Arial" pitchFamily="34" charset="0"/>
              </a:rPr>
              <a:t>FY 2012 3rd Quarter –  4.6</a:t>
            </a:r>
            <a:endParaRPr lang="en-US" sz="1200" dirty="0">
              <a:solidFill>
                <a:srgbClr val="00CC00"/>
              </a:solidFill>
              <a:latin typeface="Arial" pitchFamily="34" charset="0"/>
              <a:cs typeface="Arial" pitchFamily="34" charset="0"/>
            </a:endParaRPr>
          </a:p>
          <a:p>
            <a:pPr lvl="1" indent="-225425">
              <a:defRPr/>
            </a:pPr>
            <a:endParaRPr lang="en-US" sz="500" dirty="0">
              <a:latin typeface="Arial" pitchFamily="34" charset="0"/>
              <a:cs typeface="Arial" pitchFamily="34" charset="0"/>
            </a:endParaRPr>
          </a:p>
          <a:p>
            <a:pPr marL="115888" indent="-115888">
              <a:buFont typeface="Arial" pitchFamily="34" charset="0"/>
              <a:buChar char="•"/>
              <a:defRPr/>
            </a:pPr>
            <a:r>
              <a:rPr lang="en-US" sz="1200" dirty="0">
                <a:latin typeface="Arial" pitchFamily="34" charset="0"/>
                <a:cs typeface="Arial" pitchFamily="34" charset="0"/>
              </a:rPr>
              <a:t> Survey Statistics			           </a:t>
            </a:r>
            <a:r>
              <a:rPr lang="en-US" sz="1200" u="sng" dirty="0" smtClean="0">
                <a:latin typeface="Arial" pitchFamily="34" charset="0"/>
                <a:cs typeface="Arial" pitchFamily="34" charset="0"/>
              </a:rPr>
              <a:t>FY 2011</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FY 2012</a:t>
            </a:r>
            <a:endParaRPr lang="en-US" sz="1200" u="sng" dirty="0">
              <a:solidFill>
                <a:srgbClr val="0000FF"/>
              </a:solidFill>
              <a:latin typeface="Arial" pitchFamily="34" charset="0"/>
              <a:cs typeface="Arial" pitchFamily="34" charset="0"/>
            </a:endParaRPr>
          </a:p>
          <a:p>
            <a:pPr marL="3316288" lvl="7" indent="-115888">
              <a:defRPr/>
            </a:pPr>
            <a:r>
              <a:rPr lang="en-US" sz="1200" dirty="0">
                <a:latin typeface="Arial" pitchFamily="34" charset="0"/>
                <a:cs typeface="Arial" pitchFamily="34" charset="0"/>
              </a:rPr>
              <a:t>		</a:t>
            </a:r>
            <a:r>
              <a:rPr lang="en-US" sz="1200" dirty="0" smtClean="0">
                <a:latin typeface="Arial" pitchFamily="34" charset="0"/>
                <a:cs typeface="Arial" pitchFamily="34" charset="0"/>
              </a:rPr>
              <a:t>  </a:t>
            </a:r>
            <a:r>
              <a:rPr lang="en-US" sz="1200" u="sng" dirty="0" smtClean="0">
                <a:latin typeface="Arial" pitchFamily="34" charset="0"/>
                <a:cs typeface="Arial" pitchFamily="34" charset="0"/>
              </a:rPr>
              <a:t>Q1</a:t>
            </a:r>
            <a:r>
              <a:rPr lang="en-US" sz="1200" dirty="0" smtClean="0">
                <a:latin typeface="Arial" pitchFamily="34" charset="0"/>
                <a:cs typeface="Arial" pitchFamily="34" charset="0"/>
              </a:rPr>
              <a:t>     </a:t>
            </a:r>
            <a:r>
              <a:rPr lang="en-US" sz="1200" u="sng" dirty="0">
                <a:latin typeface="Arial" pitchFamily="34" charset="0"/>
                <a:cs typeface="Arial" pitchFamily="34" charset="0"/>
              </a:rPr>
              <a:t>Q2</a:t>
            </a:r>
            <a:r>
              <a:rPr lang="en-US" sz="1200" dirty="0">
                <a:latin typeface="Arial" pitchFamily="34" charset="0"/>
                <a:cs typeface="Arial" pitchFamily="34" charset="0"/>
              </a:rPr>
              <a:t>    </a:t>
            </a:r>
            <a:r>
              <a:rPr lang="en-US" sz="1200" u="sng" dirty="0">
                <a:latin typeface="Arial" pitchFamily="34" charset="0"/>
                <a:cs typeface="Arial" pitchFamily="34" charset="0"/>
              </a:rPr>
              <a:t>Q3</a:t>
            </a:r>
            <a:r>
              <a:rPr lang="en-US" sz="1200" dirty="0">
                <a:latin typeface="Arial" pitchFamily="34" charset="0"/>
                <a:cs typeface="Arial" pitchFamily="34" charset="0"/>
              </a:rPr>
              <a:t>    </a:t>
            </a:r>
            <a:r>
              <a:rPr lang="en-US" sz="1200" u="sng" dirty="0">
                <a:latin typeface="Arial" pitchFamily="34" charset="0"/>
                <a:cs typeface="Arial" pitchFamily="34" charset="0"/>
              </a:rPr>
              <a:t>Q4</a:t>
            </a:r>
            <a:r>
              <a:rPr lang="en-US" sz="1200" dirty="0">
                <a:latin typeface="Arial" pitchFamily="34" charset="0"/>
                <a:cs typeface="Arial" pitchFamily="34" charset="0"/>
              </a:rPr>
              <a:t>  </a:t>
            </a:r>
            <a:r>
              <a:rPr lang="en-US" sz="1200" dirty="0" smtClean="0">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Q1</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Q2</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Q3</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Q4</a:t>
            </a:r>
            <a:r>
              <a:rPr lang="en-US" sz="1200" dirty="0">
                <a:latin typeface="Arial" pitchFamily="34" charset="0"/>
                <a:cs typeface="Arial" pitchFamily="34" charset="0"/>
              </a:rPr>
              <a:t>	  </a:t>
            </a:r>
          </a:p>
          <a:p>
            <a:pPr marL="573088" lvl="1" indent="-115888">
              <a:defRPr/>
            </a:pPr>
            <a:r>
              <a:rPr lang="en-US" sz="1200" dirty="0">
                <a:latin typeface="Arial" pitchFamily="34" charset="0"/>
                <a:cs typeface="Arial" pitchFamily="34" charset="0"/>
              </a:rPr>
              <a:t>Number Surveyed			 </a:t>
            </a:r>
            <a:r>
              <a:rPr lang="en-US" sz="1200" dirty="0" smtClean="0">
                <a:latin typeface="Arial" pitchFamily="34" charset="0"/>
                <a:cs typeface="Arial" pitchFamily="34" charset="0"/>
              </a:rPr>
              <a:t>298    </a:t>
            </a:r>
            <a:r>
              <a:rPr lang="en-US" sz="1200" dirty="0">
                <a:latin typeface="Arial" pitchFamily="34" charset="0"/>
                <a:cs typeface="Arial" pitchFamily="34" charset="0"/>
              </a:rPr>
              <a:t>248   286 </a:t>
            </a:r>
            <a:r>
              <a:rPr lang="en-US" sz="1200" dirty="0" smtClean="0">
                <a:latin typeface="Arial" pitchFamily="34" charset="0"/>
                <a:cs typeface="Arial" pitchFamily="34" charset="0"/>
              </a:rPr>
              <a:t>  278</a:t>
            </a:r>
            <a:r>
              <a:rPr lang="en-US" sz="1200" dirty="0">
                <a:latin typeface="Arial" pitchFamily="34" charset="0"/>
                <a:cs typeface="Arial" pitchFamily="34" charset="0"/>
              </a:rPr>
              <a:t>	 </a:t>
            </a:r>
            <a:r>
              <a:rPr lang="en-US" sz="1200" dirty="0" smtClean="0">
                <a:latin typeface="Arial" pitchFamily="34" charset="0"/>
                <a:cs typeface="Arial" pitchFamily="34" charset="0"/>
              </a:rPr>
              <a:t>         </a:t>
            </a:r>
            <a:r>
              <a:rPr lang="en-US" sz="1200" dirty="0" smtClean="0">
                <a:solidFill>
                  <a:srgbClr val="0000FF"/>
                </a:solidFill>
                <a:latin typeface="Arial" pitchFamily="34" charset="0"/>
                <a:cs typeface="Arial" pitchFamily="34" charset="0"/>
              </a:rPr>
              <a:t>194	184</a:t>
            </a:r>
            <a:r>
              <a:rPr lang="en-US" sz="1200" dirty="0" smtClean="0">
                <a:latin typeface="Arial" pitchFamily="34" charset="0"/>
                <a:cs typeface="Arial" pitchFamily="34" charset="0"/>
              </a:rPr>
              <a:t>    </a:t>
            </a:r>
            <a:r>
              <a:rPr lang="en-US" sz="1200" dirty="0" smtClean="0">
                <a:solidFill>
                  <a:srgbClr val="0000FF"/>
                </a:solidFill>
                <a:latin typeface="Arial" pitchFamily="34" charset="0"/>
                <a:cs typeface="Arial" pitchFamily="34" charset="0"/>
              </a:rPr>
              <a:t>232</a:t>
            </a:r>
            <a:r>
              <a:rPr lang="en-US" sz="1200" dirty="0" smtClean="0">
                <a:latin typeface="Arial" pitchFamily="34" charset="0"/>
                <a:cs typeface="Arial" pitchFamily="34" charset="0"/>
              </a:rPr>
              <a:t>     </a:t>
            </a:r>
            <a:r>
              <a:rPr lang="en-US" sz="1200" dirty="0">
                <a:latin typeface="Arial" pitchFamily="34" charset="0"/>
                <a:cs typeface="Arial" pitchFamily="34" charset="0"/>
              </a:rPr>
              <a:t>	</a:t>
            </a:r>
          </a:p>
          <a:p>
            <a:pPr marL="573088" lvl="1" indent="-115888">
              <a:defRPr/>
            </a:pPr>
            <a:r>
              <a:rPr lang="en-US" sz="1200" dirty="0">
                <a:latin typeface="Arial" pitchFamily="34" charset="0"/>
                <a:cs typeface="Arial" pitchFamily="34" charset="0"/>
              </a:rPr>
              <a:t>Number Responses Received		 </a:t>
            </a:r>
            <a:r>
              <a:rPr lang="en-US" sz="1200" dirty="0" smtClean="0">
                <a:latin typeface="Arial" pitchFamily="34" charset="0"/>
                <a:cs typeface="Arial" pitchFamily="34" charset="0"/>
              </a:rPr>
              <a:t>  93    </a:t>
            </a:r>
            <a:r>
              <a:rPr lang="en-US" sz="1200" dirty="0">
                <a:latin typeface="Arial" pitchFamily="34" charset="0"/>
                <a:cs typeface="Arial" pitchFamily="34" charset="0"/>
              </a:rPr>
              <a:t>111   </a:t>
            </a:r>
            <a:r>
              <a:rPr lang="en-US" sz="1200" dirty="0" smtClean="0">
                <a:latin typeface="Arial" pitchFamily="34" charset="0"/>
                <a:cs typeface="Arial" pitchFamily="34" charset="0"/>
              </a:rPr>
              <a:t>142     89</a:t>
            </a:r>
            <a:r>
              <a:rPr lang="en-US" sz="1200" dirty="0">
                <a:latin typeface="Arial" pitchFamily="34" charset="0"/>
                <a:cs typeface="Arial" pitchFamily="34" charset="0"/>
              </a:rPr>
              <a:t>	 </a:t>
            </a:r>
            <a:r>
              <a:rPr lang="en-US" sz="1200" dirty="0" smtClean="0">
                <a:latin typeface="Arial" pitchFamily="34" charset="0"/>
                <a:cs typeface="Arial" pitchFamily="34" charset="0"/>
              </a:rPr>
              <a:t>           </a:t>
            </a:r>
            <a:r>
              <a:rPr lang="en-US" sz="1200" dirty="0" smtClean="0">
                <a:solidFill>
                  <a:srgbClr val="0000FF"/>
                </a:solidFill>
                <a:latin typeface="Arial" pitchFamily="34" charset="0"/>
                <a:cs typeface="Arial" pitchFamily="34" charset="0"/>
              </a:rPr>
              <a:t>74 	  76      84</a:t>
            </a:r>
            <a:r>
              <a:rPr lang="en-US" sz="1200" dirty="0">
                <a:latin typeface="Arial" pitchFamily="34" charset="0"/>
                <a:cs typeface="Arial" pitchFamily="34" charset="0"/>
              </a:rPr>
              <a:t>	 	 </a:t>
            </a:r>
          </a:p>
          <a:p>
            <a:pPr marL="573088" lvl="1" indent="-115888">
              <a:defRPr/>
            </a:pPr>
            <a:r>
              <a:rPr lang="en-US" sz="1200" dirty="0">
                <a:latin typeface="Arial" pitchFamily="34" charset="0"/>
                <a:cs typeface="Arial" pitchFamily="34" charset="0"/>
              </a:rPr>
              <a:t>Percentage of Responses Received	 </a:t>
            </a:r>
            <a:r>
              <a:rPr lang="en-US" sz="1200" dirty="0" smtClean="0">
                <a:latin typeface="Arial" pitchFamily="34" charset="0"/>
                <a:cs typeface="Arial" pitchFamily="34" charset="0"/>
              </a:rPr>
              <a:t>31</a:t>
            </a:r>
            <a:r>
              <a:rPr lang="en-US" sz="1200" dirty="0">
                <a:latin typeface="Arial" pitchFamily="34" charset="0"/>
                <a:cs typeface="Arial" pitchFamily="34" charset="0"/>
              </a:rPr>
              <a:t>%   </a:t>
            </a:r>
            <a:r>
              <a:rPr lang="en-US" sz="1200" dirty="0" smtClean="0">
                <a:latin typeface="Arial" pitchFamily="34" charset="0"/>
                <a:cs typeface="Arial" pitchFamily="34" charset="0"/>
              </a:rPr>
              <a:t>45</a:t>
            </a:r>
            <a:r>
              <a:rPr lang="en-US" sz="1200" dirty="0">
                <a:latin typeface="Arial" pitchFamily="34" charset="0"/>
                <a:cs typeface="Arial" pitchFamily="34" charset="0"/>
              </a:rPr>
              <a:t>%  50</a:t>
            </a:r>
            <a:r>
              <a:rPr lang="en-US" sz="1200" dirty="0" smtClean="0">
                <a:latin typeface="Arial" pitchFamily="34" charset="0"/>
                <a:cs typeface="Arial" pitchFamily="34" charset="0"/>
              </a:rPr>
              <a:t>%   32%               </a:t>
            </a:r>
            <a:r>
              <a:rPr lang="en-US" sz="1200" dirty="0" smtClean="0">
                <a:solidFill>
                  <a:srgbClr val="0000FF"/>
                </a:solidFill>
                <a:latin typeface="Arial" pitchFamily="34" charset="0"/>
                <a:cs typeface="Arial" pitchFamily="34" charset="0"/>
              </a:rPr>
              <a:t>38%	 41%   36% </a:t>
            </a:r>
          </a:p>
          <a:p>
            <a:pPr marL="573088" lvl="1" indent="-115888">
              <a:defRPr/>
            </a:pPr>
            <a:r>
              <a:rPr lang="en-US" sz="1200" dirty="0">
                <a:latin typeface="Arial" pitchFamily="34" charset="0"/>
                <a:cs typeface="Arial" pitchFamily="34" charset="0"/>
              </a:rPr>
              <a:t>Summary of Results			</a:t>
            </a:r>
            <a:r>
              <a:rPr lang="en-US" sz="1200" dirty="0" smtClean="0">
                <a:latin typeface="Arial" pitchFamily="34" charset="0"/>
                <a:cs typeface="Arial" pitchFamily="34" charset="0"/>
              </a:rPr>
              <a:t> 4.5     </a:t>
            </a:r>
            <a:r>
              <a:rPr lang="en-US" sz="1200" dirty="0">
                <a:latin typeface="Arial" pitchFamily="34" charset="0"/>
                <a:cs typeface="Arial" pitchFamily="34" charset="0"/>
              </a:rPr>
              <a:t>4.6    </a:t>
            </a:r>
            <a:r>
              <a:rPr lang="en-US" sz="1200" dirty="0" smtClean="0">
                <a:latin typeface="Arial" pitchFamily="34" charset="0"/>
                <a:cs typeface="Arial" pitchFamily="34" charset="0"/>
              </a:rPr>
              <a:t>4.6     4.5	           </a:t>
            </a:r>
            <a:r>
              <a:rPr lang="en-US" sz="1200" dirty="0" smtClean="0">
                <a:solidFill>
                  <a:srgbClr val="0000FF"/>
                </a:solidFill>
                <a:latin typeface="Arial" pitchFamily="34" charset="0"/>
                <a:cs typeface="Arial" pitchFamily="34" charset="0"/>
              </a:rPr>
              <a:t>4.5	 4.8     4.6	</a:t>
            </a:r>
            <a:endParaRPr lang="en-US" sz="1200" dirty="0">
              <a:solidFill>
                <a:srgbClr val="0000FF"/>
              </a:solidFill>
              <a:latin typeface="Arial" pitchFamily="34" charset="0"/>
              <a:cs typeface="Arial" pitchFamily="34" charset="0"/>
            </a:endParaRPr>
          </a:p>
          <a:p>
            <a:pPr marL="573088" lvl="1" indent="-115888">
              <a:defRPr/>
            </a:pPr>
            <a:r>
              <a:rPr lang="en-US" sz="800" dirty="0">
                <a:latin typeface="Arial" pitchFamily="34" charset="0"/>
                <a:cs typeface="Arial" pitchFamily="34" charset="0"/>
              </a:rPr>
              <a:t>(Note:  </a:t>
            </a:r>
            <a:r>
              <a:rPr lang="en-US" sz="800" dirty="0" smtClean="0">
                <a:latin typeface="Arial" pitchFamily="34" charset="0"/>
                <a:cs typeface="Arial" pitchFamily="34" charset="0"/>
              </a:rPr>
              <a:t>FSC uses a </a:t>
            </a:r>
            <a:r>
              <a:rPr lang="en-US" sz="800" dirty="0">
                <a:latin typeface="Arial" pitchFamily="34" charset="0"/>
                <a:cs typeface="Arial" pitchFamily="34" charset="0"/>
              </a:rPr>
              <a:t>mid-point follow-up contact with survey recipients to try to </a:t>
            </a:r>
            <a:r>
              <a:rPr lang="en-US" sz="800" dirty="0" smtClean="0">
                <a:latin typeface="Arial" pitchFamily="34" charset="0"/>
                <a:cs typeface="Arial" pitchFamily="34" charset="0"/>
              </a:rPr>
              <a:t>increase </a:t>
            </a:r>
            <a:r>
              <a:rPr lang="en-US" sz="800" dirty="0">
                <a:latin typeface="Arial" pitchFamily="34" charset="0"/>
                <a:cs typeface="Arial" pitchFamily="34" charset="0"/>
              </a:rPr>
              <a:t>survey response rates)</a:t>
            </a:r>
          </a:p>
          <a:p>
            <a:pPr marL="573088" lvl="1" indent="-115888">
              <a:defRPr/>
            </a:pPr>
            <a:r>
              <a:rPr lang="en-US" sz="800" dirty="0">
                <a:latin typeface="Arial" pitchFamily="34" charset="0"/>
                <a:cs typeface="Arial" pitchFamily="34" charset="0"/>
              </a:rPr>
              <a:t>	</a:t>
            </a:r>
            <a:r>
              <a:rPr lang="en-US" sz="1200" dirty="0">
                <a:latin typeface="Arial" pitchFamily="34" charset="0"/>
                <a:cs typeface="Arial" pitchFamily="34" charset="0"/>
              </a:rPr>
              <a:t> 	</a:t>
            </a:r>
            <a:r>
              <a:rPr lang="en-US" sz="1200" dirty="0">
                <a:solidFill>
                  <a:srgbClr val="0000FF"/>
                </a:solidFill>
                <a:latin typeface="Arial" pitchFamily="34" charset="0"/>
                <a:cs typeface="Arial" pitchFamily="34" charset="0"/>
              </a:rPr>
              <a:t> </a:t>
            </a:r>
          </a:p>
          <a:p>
            <a:pPr>
              <a:buFont typeface="Arial" pitchFamily="34" charset="0"/>
              <a:buChar char="•"/>
              <a:defRPr/>
            </a:pPr>
            <a:r>
              <a:rPr lang="en-US" sz="1200" dirty="0">
                <a:latin typeface="Arial" pitchFamily="34" charset="0"/>
                <a:cs typeface="Arial" pitchFamily="34" charset="0"/>
              </a:rPr>
              <a:t>  Types of employee survey responses with </a:t>
            </a:r>
            <a:r>
              <a:rPr lang="en-US" sz="1200" dirty="0" smtClean="0">
                <a:latin typeface="Arial" pitchFamily="34" charset="0"/>
                <a:cs typeface="Arial" pitchFamily="34" charset="0"/>
              </a:rPr>
              <a:t>pre-move </a:t>
            </a:r>
            <a:r>
              <a:rPr lang="en-US" sz="1200" dirty="0">
                <a:latin typeface="Arial" pitchFamily="34" charset="0"/>
                <a:cs typeface="Arial" pitchFamily="34" charset="0"/>
              </a:rPr>
              <a:t>process </a:t>
            </a:r>
            <a:r>
              <a:rPr lang="en-US" sz="1200" dirty="0" smtClean="0">
                <a:latin typeface="Arial" pitchFamily="34" charset="0"/>
                <a:cs typeface="Arial" pitchFamily="34" charset="0"/>
              </a:rPr>
              <a:t>concerns</a:t>
            </a:r>
            <a:endParaRPr lang="en-US" sz="1200" dirty="0">
              <a:latin typeface="Arial" pitchFamily="34" charset="0"/>
              <a:cs typeface="Arial" pitchFamily="34" charset="0"/>
            </a:endParaRPr>
          </a:p>
          <a:p>
            <a:pPr lvl="1" indent="-225425">
              <a:buFont typeface="Arial" pitchFamily="34" charset="0"/>
              <a:buChar char="•"/>
              <a:defRPr/>
            </a:pPr>
            <a:r>
              <a:rPr lang="en-US" sz="1200" dirty="0" smtClean="0">
                <a:latin typeface="Arial" pitchFamily="34" charset="0"/>
                <a:cs typeface="Arial" pitchFamily="34" charset="0"/>
              </a:rPr>
              <a:t>The Expense report instruction does not have a break down between "Lump Sum" and "Actual" in the “Enroute" section</a:t>
            </a:r>
          </a:p>
          <a:p>
            <a:pPr marL="803275" lvl="2" indent="-173038">
              <a:buFont typeface="Arial" pitchFamily="34" charset="0"/>
              <a:buChar char="•"/>
              <a:defRPr/>
            </a:pPr>
            <a:r>
              <a:rPr lang="en-US" sz="1200" dirty="0" smtClean="0">
                <a:latin typeface="Arial" pitchFamily="34" charset="0"/>
                <a:cs typeface="Arial" pitchFamily="34" charset="0"/>
              </a:rPr>
              <a:t>Lump sum option does not exist for the Enroute entitlement</a:t>
            </a:r>
          </a:p>
          <a:p>
            <a:pPr lvl="1" indent="-225425">
              <a:buFont typeface="Arial" pitchFamily="34" charset="0"/>
              <a:buChar char="•"/>
              <a:defRPr/>
            </a:pPr>
            <a:r>
              <a:rPr lang="en-US" sz="1200" dirty="0" smtClean="0">
                <a:latin typeface="Arial" pitchFamily="34" charset="0"/>
                <a:cs typeface="Arial" pitchFamily="34" charset="0"/>
              </a:rPr>
              <a:t>Understanding eligibility entitlements for return rights</a:t>
            </a:r>
          </a:p>
          <a:p>
            <a:pPr marL="803275" lvl="2" indent="-173038">
              <a:buFont typeface="Arial" pitchFamily="34" charset="0"/>
              <a:buChar char="•"/>
              <a:defRPr/>
            </a:pPr>
            <a:r>
              <a:rPr lang="en-US" sz="1200" dirty="0" smtClean="0">
                <a:latin typeface="Arial" pitchFamily="34" charset="0"/>
                <a:cs typeface="Arial" pitchFamily="34" charset="0"/>
              </a:rPr>
              <a:t>Return rights mimic a new hire’s entitlements.  Employee felt transfer entitlements were allowed </a:t>
            </a:r>
          </a:p>
          <a:p>
            <a:pPr marL="346075" lvl="1" indent="-173038">
              <a:buFont typeface="Arial" pitchFamily="34" charset="0"/>
              <a:buChar char="•"/>
              <a:defRPr/>
            </a:pPr>
            <a:r>
              <a:rPr lang="en-US" sz="1200" dirty="0" smtClean="0">
                <a:latin typeface="Arial" pitchFamily="34" charset="0"/>
                <a:cs typeface="Arial" pitchFamily="34" charset="0"/>
              </a:rPr>
              <a:t>   It would also be good to know a little better about what would be reimbursed when using the actual cost option</a:t>
            </a:r>
          </a:p>
          <a:p>
            <a:pPr marL="803275" lvl="2" indent="-173038">
              <a:buFont typeface="Arial" pitchFamily="34" charset="0"/>
              <a:buChar char="•"/>
              <a:defRPr/>
            </a:pPr>
            <a:r>
              <a:rPr lang="en-US" sz="1200" dirty="0" smtClean="0">
                <a:latin typeface="Arial" pitchFamily="34" charset="0"/>
                <a:cs typeface="Arial" pitchFamily="34" charset="0"/>
              </a:rPr>
              <a:t>Some inquiries are outside the norm briefed in the counseling session, before answering FSC PCS staff research the FTR and available travel decisions to ensure compliance and pay all that is authorized to each employee</a:t>
            </a:r>
          </a:p>
          <a:p>
            <a:pPr marL="346075" lvl="1" indent="-173038">
              <a:buFont typeface="Arial" pitchFamily="34" charset="0"/>
              <a:buChar char="•"/>
              <a:defRPr/>
            </a:pPr>
            <a:r>
              <a:rPr lang="en-US" sz="1200" dirty="0" smtClean="0">
                <a:latin typeface="Arial" pitchFamily="34" charset="0"/>
                <a:cs typeface="Arial" pitchFamily="34" charset="0"/>
              </a:rPr>
              <a:t>   Clearer definitions of who is the initiator of each request requiring approval and how the employee will be kept informed</a:t>
            </a:r>
          </a:p>
          <a:p>
            <a:pPr marL="803275" lvl="2" indent="-173038">
              <a:buFont typeface="Arial" pitchFamily="34" charset="0"/>
              <a:buChar char="•"/>
              <a:defRPr/>
            </a:pPr>
            <a:r>
              <a:rPr lang="en-US" sz="1200" dirty="0" smtClean="0">
                <a:latin typeface="Arial" pitchFamily="34" charset="0"/>
                <a:cs typeface="Arial" pitchFamily="34" charset="0"/>
              </a:rPr>
              <a:t>The steps for document approval are included in the entitlement document on the final page of the counseling memo sent to each employee</a:t>
            </a:r>
          </a:p>
          <a:p>
            <a:pPr lvl="1" indent="-228600">
              <a:buFont typeface="Arial" pitchFamily="34" charset="0"/>
              <a:buChar char="•"/>
              <a:defRPr/>
            </a:pPr>
            <a:r>
              <a:rPr lang="en-US" sz="1200" dirty="0" smtClean="0">
                <a:latin typeface="Arial" pitchFamily="34" charset="0"/>
                <a:cs typeface="Arial" pitchFamily="34" charset="0"/>
              </a:rPr>
              <a:t>Counselors provided great explanation over the entitlements and process</a:t>
            </a:r>
          </a:p>
          <a:p>
            <a:pPr marL="346075" lvl="1" indent="-173038">
              <a:buFont typeface="Arial" pitchFamily="34" charset="0"/>
              <a:buChar char="•"/>
              <a:defRPr/>
            </a:pPr>
            <a:endParaRPr lang="en-US" sz="1200" dirty="0" smtClean="0">
              <a:latin typeface="Arial" pitchFamily="34" charset="0"/>
              <a:cs typeface="Arial" pitchFamily="34" charset="0"/>
            </a:endParaRPr>
          </a:p>
          <a:p>
            <a:pPr lvl="1" indent="-398463">
              <a:defRPr/>
            </a:pPr>
            <a:endParaRPr lang="en-US" sz="500" dirty="0">
              <a:solidFill>
                <a:srgbClr val="FF0000"/>
              </a:solidFill>
              <a:latin typeface="Arial" pitchFamily="34" charset="0"/>
              <a:cs typeface="Arial" pitchFamily="34" charset="0"/>
            </a:endParaRPr>
          </a:p>
          <a:p>
            <a:pPr indent="-398463">
              <a:defRPr/>
            </a:pPr>
            <a:r>
              <a:rPr lang="en-US" sz="1200" dirty="0">
                <a:solidFill>
                  <a:prstClr val="black"/>
                </a:solidFill>
                <a:latin typeface="Arial" pitchFamily="34" charset="0"/>
                <a:cs typeface="Arial" pitchFamily="34" charset="0"/>
              </a:rPr>
              <a:t>Next Step:  Continue to review survey data and identify improvement </a:t>
            </a:r>
            <a:r>
              <a:rPr lang="en-US" sz="1200" dirty="0" smtClean="0">
                <a:solidFill>
                  <a:prstClr val="black"/>
                </a:solidFill>
                <a:latin typeface="Arial" pitchFamily="34" charset="0"/>
                <a:cs typeface="Arial" pitchFamily="34" charset="0"/>
              </a:rPr>
              <a:t>opportunities</a:t>
            </a:r>
            <a:endParaRPr lang="en-US" sz="1200" dirty="0">
              <a:latin typeface="Arial" pitchFamily="34" charset="0"/>
              <a:cs typeface="Arial" pitchFamily="34" charset="0"/>
            </a:endParaRPr>
          </a:p>
        </p:txBody>
      </p:sp>
      <p:sp>
        <p:nvSpPr>
          <p:cNvPr id="4" name="Rectangle 3"/>
          <p:cNvSpPr/>
          <p:nvPr/>
        </p:nvSpPr>
        <p:spPr>
          <a:xfrm>
            <a:off x="914400" y="5498068"/>
            <a:ext cx="4572000" cy="369332"/>
          </a:xfrm>
          <a:prstGeom prst="rect">
            <a:avLst/>
          </a:prstGeom>
        </p:spPr>
        <p:txBody>
          <a:bodyPr>
            <a:spAutoFit/>
          </a:bodyPr>
          <a:lstStyle/>
          <a:p>
            <a:endParaRPr lang="en-US" dirty="0"/>
          </a:p>
        </p:txBody>
      </p:sp>
      <p:sp>
        <p:nvSpPr>
          <p:cNvPr id="5" name="Rectangle 4"/>
          <p:cNvSpPr/>
          <p:nvPr/>
        </p:nvSpPr>
        <p:spPr>
          <a:xfrm>
            <a:off x="1295400" y="5867400"/>
            <a:ext cx="4572000" cy="369332"/>
          </a:xfrm>
          <a:prstGeom prst="rect">
            <a:avLst/>
          </a:prstGeom>
        </p:spPr>
        <p:txBody>
          <a:bodyPr>
            <a:spAutoFit/>
          </a:bodyPr>
          <a:lstStyle/>
          <a:p>
            <a:endParaRPr lang="en-US" dirty="0"/>
          </a:p>
        </p:txBody>
      </p:sp>
    </p:spTree>
    <p:extLst>
      <p:ext uri="{BB962C8B-B14F-4D97-AF65-F5344CB8AC3E}">
        <p14:creationId xmlns:p14="http://schemas.microsoft.com/office/powerpoint/2010/main" xmlns="" val="24271006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Date Placeholder 1"/>
          <p:cNvSpPr>
            <a:spLocks noGrp="1"/>
          </p:cNvSpPr>
          <p:nvPr>
            <p:ph type="dt" sz="quarter" idx="10"/>
          </p:nvPr>
        </p:nvSpPr>
        <p:spPr>
          <a:xfrm>
            <a:off x="457200" y="6492875"/>
            <a:ext cx="2954338" cy="365125"/>
          </a:xfrm>
          <a:noFill/>
        </p:spPr>
        <p:txBody>
          <a:bodyPr/>
          <a:lstStyle/>
          <a:p>
            <a:r>
              <a:rPr lang="en-US" dirty="0" smtClean="0">
                <a:latin typeface="Arial" pitchFamily="34" charset="0"/>
              </a:rPr>
              <a:t>SG4 - Data Through June 2012</a:t>
            </a:r>
          </a:p>
        </p:txBody>
      </p:sp>
      <p:graphicFrame>
        <p:nvGraphicFramePr>
          <p:cNvPr id="4098" name="Object 2"/>
          <p:cNvGraphicFramePr>
            <a:graphicFrameLocks noGrp="1" noChangeAspect="1"/>
          </p:cNvGraphicFramePr>
          <p:nvPr>
            <p:ph sz="half" idx="4294967295"/>
            <p:extLst>
              <p:ext uri="{D42A27DB-BD31-4B8C-83A1-F6EECF244321}">
                <p14:modId xmlns:p14="http://schemas.microsoft.com/office/powerpoint/2010/main" xmlns="" val="970371270"/>
              </p:ext>
            </p:extLst>
          </p:nvPr>
        </p:nvGraphicFramePr>
        <p:xfrm>
          <a:off x="3203575" y="2303463"/>
          <a:ext cx="5788025" cy="4065587"/>
        </p:xfrm>
        <a:graphic>
          <a:graphicData uri="http://schemas.openxmlformats.org/presentationml/2006/ole">
            <p:oleObj spid="_x0000_s97314" name="Worksheet" r:id="rId4" imgW="8734447" imgH="6305653" progId="Excel.Sheet.8">
              <p:embed/>
            </p:oleObj>
          </a:graphicData>
        </a:graphic>
      </p:graphicFrame>
      <p:graphicFrame>
        <p:nvGraphicFramePr>
          <p:cNvPr id="93187" name="Group 3"/>
          <p:cNvGraphicFramePr>
            <a:graphicFrameLocks noGrp="1"/>
          </p:cNvGraphicFramePr>
          <p:nvPr>
            <p:extLst>
              <p:ext uri="{D42A27DB-BD31-4B8C-83A1-F6EECF244321}">
                <p14:modId xmlns:p14="http://schemas.microsoft.com/office/powerpoint/2010/main" xmlns="" val="5263927"/>
              </p:ext>
            </p:extLst>
          </p:nvPr>
        </p:nvGraphicFramePr>
        <p:xfrm>
          <a:off x="6851650" y="0"/>
          <a:ext cx="2292350" cy="991553"/>
        </p:xfrm>
        <a:graphic>
          <a:graphicData uri="http://schemas.openxmlformats.org/drawingml/2006/table">
            <a:tbl>
              <a:tblPr/>
              <a:tblGrid>
                <a:gridCol w="1544638"/>
                <a:gridCol w="747712"/>
              </a:tblGrid>
              <a:tr h="228600">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Status</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B8D2EA"/>
                    </a:solidFill>
                  </a:tcPr>
                </a:tc>
                <a:tc hMerge="1">
                  <a:txBody>
                    <a:bodyPr/>
                    <a:lstStyle/>
                    <a:p>
                      <a:endParaRPr lang="en-US"/>
                    </a:p>
                  </a:txBody>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Current Quarter (Q3)</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Next Quarter (Q4)</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Projected Green Date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  N/A  </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4113" name="Rectangle 26"/>
          <p:cNvSpPr>
            <a:spLocks noChangeArrowheads="1"/>
          </p:cNvSpPr>
          <p:nvPr/>
        </p:nvSpPr>
        <p:spPr bwMode="auto">
          <a:xfrm>
            <a:off x="3657600" y="1066800"/>
            <a:ext cx="5086350" cy="1244600"/>
          </a:xfrm>
          <a:prstGeom prst="rect">
            <a:avLst/>
          </a:prstGeom>
          <a:noFill/>
          <a:ln w="9525">
            <a:noFill/>
            <a:miter lim="800000"/>
            <a:headEnd/>
            <a:tailEnd/>
          </a:ln>
        </p:spPr>
        <p:txBody>
          <a:bodyPr anchor="ctr"/>
          <a:lstStyle/>
          <a:p>
            <a:pPr algn="ctr"/>
            <a:r>
              <a:rPr lang="en-US" sz="1600" dirty="0">
                <a:solidFill>
                  <a:srgbClr val="0000FF"/>
                </a:solidFill>
                <a:latin typeface="Arial Rounded MT Bold" pitchFamily="34" charset="0"/>
              </a:rPr>
              <a:t>Key Trend Line: </a:t>
            </a:r>
            <a:br>
              <a:rPr lang="en-US" sz="1600" dirty="0">
                <a:solidFill>
                  <a:srgbClr val="0000FF"/>
                </a:solidFill>
                <a:latin typeface="Arial Rounded MT Bold" pitchFamily="34" charset="0"/>
              </a:rPr>
            </a:br>
            <a:r>
              <a:rPr lang="en-US" sz="1600" dirty="0">
                <a:solidFill>
                  <a:srgbClr val="800000"/>
                </a:solidFill>
                <a:latin typeface="Arial Rounded MT Bold" pitchFamily="34" charset="0"/>
              </a:rPr>
              <a:t>Permanent Change of Station (PCS) Client Satisfaction – </a:t>
            </a:r>
            <a:r>
              <a:rPr lang="en-US" sz="1600" i="1" dirty="0">
                <a:solidFill>
                  <a:srgbClr val="800000"/>
                </a:solidFill>
                <a:latin typeface="Arial Rounded MT Bold" pitchFamily="34" charset="0"/>
              </a:rPr>
              <a:t>Pre-Move</a:t>
            </a:r>
          </a:p>
          <a:p>
            <a:pPr algn="ctr"/>
            <a:r>
              <a:rPr lang="en-US" sz="1600" b="1" dirty="0">
                <a:solidFill>
                  <a:schemeClr val="tx2"/>
                </a:solidFill>
              </a:rPr>
              <a:t> </a:t>
            </a:r>
            <a:r>
              <a:rPr lang="en-US" sz="1600" b="1" dirty="0"/>
              <a:t>Client Satisfaction Exceeds Goal</a:t>
            </a:r>
            <a:r>
              <a:rPr lang="en-US" sz="1600" dirty="0">
                <a:solidFill>
                  <a:srgbClr val="0000FF"/>
                </a:solidFill>
                <a:latin typeface="Arial Rounded MT Bold" pitchFamily="34" charset="0"/>
              </a:rPr>
              <a:t/>
            </a:r>
            <a:br>
              <a:rPr lang="en-US" sz="1600" dirty="0">
                <a:solidFill>
                  <a:srgbClr val="0000FF"/>
                </a:solidFill>
                <a:latin typeface="Arial Rounded MT Bold" pitchFamily="34" charset="0"/>
              </a:rPr>
            </a:br>
            <a:r>
              <a:rPr lang="en-US" sz="1600" dirty="0">
                <a:latin typeface="Arial Rounded MT Bold" pitchFamily="34" charset="0"/>
              </a:rPr>
              <a:t> </a:t>
            </a:r>
            <a:endParaRPr lang="en-US" sz="1400" dirty="0">
              <a:latin typeface="Arial Rounded MT Bold" pitchFamily="34" charset="0"/>
            </a:endParaRPr>
          </a:p>
        </p:txBody>
      </p:sp>
      <p:graphicFrame>
        <p:nvGraphicFramePr>
          <p:cNvPr id="93211" name="Group 27"/>
          <p:cNvGraphicFramePr>
            <a:graphicFrameLocks noGrp="1"/>
          </p:cNvGraphicFramePr>
          <p:nvPr/>
        </p:nvGraphicFramePr>
        <p:xfrm>
          <a:off x="0" y="0"/>
          <a:ext cx="2971800" cy="1950721"/>
        </p:xfrm>
        <a:graphic>
          <a:graphicData uri="http://schemas.openxmlformats.org/drawingml/2006/table">
            <a:tbl>
              <a:tblPr/>
              <a:tblGrid>
                <a:gridCol w="914400"/>
                <a:gridCol w="2057400"/>
              </a:tblGrid>
              <a:tr h="227013">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Linkages</a:t>
                      </a:r>
                    </a:p>
                  </a:txBody>
                  <a:tcPr horzOverflow="overflow">
                    <a:lnL cap="flat">
                      <a:noFill/>
                    </a:lnL>
                    <a:lnR cap="flat">
                      <a:noFill/>
                    </a:lnR>
                    <a:lnT cap="flat">
                      <a:noFill/>
                    </a:lnT>
                    <a:lnB>
                      <a:noFill/>
                    </a:lnB>
                    <a:lnTlToBr>
                      <a:noFill/>
                    </a:lnTlToBr>
                    <a:lnBlToTr>
                      <a:noFill/>
                    </a:lnBlToTr>
                    <a:solidFill>
                      <a:srgbClr val="EDD4A1"/>
                    </a:solidFill>
                  </a:tcPr>
                </a:tc>
                <a:tc hMerge="1">
                  <a:txBody>
                    <a:bodyPr/>
                    <a:lstStyle/>
                    <a:p>
                      <a:endParaRPr lang="en-US"/>
                    </a:p>
                  </a:txBody>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Org</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OM</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651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B/Line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Enabling</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Metric Type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Performance</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B/Scorecard</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Client Satisfaction</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81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Strategic Goal</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4</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Corp Outcome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900" b="0" i="0" u="none" strike="noStrike" cap="none" normalizeH="0" baseline="0" dirty="0" smtClean="0">
                          <a:ln>
                            <a:noFill/>
                          </a:ln>
                          <a:solidFill>
                            <a:schemeClr val="tx1"/>
                          </a:solidFill>
                          <a:effectLst/>
                          <a:latin typeface="Arial" charset="0"/>
                        </a:rPr>
                        <a:t>Increase Client Satisfaction (as a result of Increased Employee Satisfaction)</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r>
            </a:tbl>
          </a:graphicData>
        </a:graphic>
      </p:graphicFrame>
      <p:sp>
        <p:nvSpPr>
          <p:cNvPr id="4134" name="TextBox 16"/>
          <p:cNvSpPr txBox="1">
            <a:spLocks noChangeArrowheads="1"/>
          </p:cNvSpPr>
          <p:nvPr/>
        </p:nvSpPr>
        <p:spPr bwMode="auto">
          <a:xfrm>
            <a:off x="5562600" y="838200"/>
            <a:ext cx="914400" cy="369888"/>
          </a:xfrm>
          <a:prstGeom prst="rect">
            <a:avLst/>
          </a:prstGeom>
          <a:noFill/>
          <a:ln w="9525">
            <a:noFill/>
            <a:miter lim="800000"/>
            <a:headEnd/>
            <a:tailEnd/>
          </a:ln>
        </p:spPr>
        <p:txBody>
          <a:bodyPr>
            <a:spAutoFit/>
          </a:bodyPr>
          <a:lstStyle/>
          <a:p>
            <a:endParaRPr lang="en-US" dirty="0"/>
          </a:p>
        </p:txBody>
      </p:sp>
      <p:sp>
        <p:nvSpPr>
          <p:cNvPr id="12" name="TextBox 11"/>
          <p:cNvSpPr txBox="1"/>
          <p:nvPr/>
        </p:nvSpPr>
        <p:spPr>
          <a:xfrm>
            <a:off x="228600" y="2057400"/>
            <a:ext cx="2582863" cy="2492375"/>
          </a:xfrm>
          <a:prstGeom prst="rect">
            <a:avLst/>
          </a:prstGeom>
          <a:solidFill>
            <a:schemeClr val="bg2">
              <a:lumMod val="20000"/>
              <a:lumOff val="80000"/>
            </a:schemeClr>
          </a:solidFill>
        </p:spPr>
        <p:txBody>
          <a:bodyPr>
            <a:spAutoFit/>
          </a:bodyPr>
          <a:lstStyle/>
          <a:p>
            <a:pPr>
              <a:defRPr/>
            </a:pPr>
            <a:r>
              <a:rPr lang="en-US" sz="1200" dirty="0"/>
              <a:t>OM’s Financial Services Center (FSC) uses customer surveys to measure employee satisfaction with PCS move services provided.</a:t>
            </a:r>
          </a:p>
          <a:p>
            <a:pPr>
              <a:defRPr/>
            </a:pPr>
            <a:endParaRPr lang="en-US" sz="1200" dirty="0"/>
          </a:p>
          <a:p>
            <a:pPr>
              <a:defRPr/>
            </a:pPr>
            <a:r>
              <a:rPr lang="en-US" sz="1200" dirty="0"/>
              <a:t>FSC tracks satisfaction with </a:t>
            </a:r>
            <a:r>
              <a:rPr lang="en-US" sz="1200" u="sng" dirty="0"/>
              <a:t>pre- move </a:t>
            </a:r>
            <a:r>
              <a:rPr lang="en-US" sz="1200" dirty="0"/>
              <a:t>activities involving initial PCS steps such as processing of travel documents, employee move counseling, and initiation of household goods (HHG) and home sale work orders which are displayed here.</a:t>
            </a:r>
          </a:p>
        </p:txBody>
      </p:sp>
      <p:sp>
        <p:nvSpPr>
          <p:cNvPr id="4136" name="Slide Number Placeholder 16"/>
          <p:cNvSpPr>
            <a:spLocks noGrp="1"/>
          </p:cNvSpPr>
          <p:nvPr>
            <p:ph type="sldNum" sz="quarter" idx="11"/>
          </p:nvPr>
        </p:nvSpPr>
        <p:spPr>
          <a:xfrm>
            <a:off x="6553200" y="6356350"/>
            <a:ext cx="2133600" cy="365125"/>
          </a:xfrm>
          <a:noFill/>
        </p:spPr>
        <p:txBody>
          <a:bodyPr/>
          <a:lstStyle/>
          <a:p>
            <a:fld id="{9E39F72B-4005-462E-8DD5-F0F641B39A5E}" type="slidenum">
              <a:rPr lang="en-US" smtClean="0">
                <a:latin typeface="Arial" pitchFamily="34" charset="0"/>
              </a:rPr>
              <a:pPr/>
              <a:t>8</a:t>
            </a:fld>
            <a:endParaRPr lang="en-US" dirty="0" smtClean="0">
              <a:latin typeface="Arial" pitchFamily="34" charset="0"/>
            </a:endParaRPr>
          </a:p>
        </p:txBody>
      </p:sp>
      <p:sp>
        <p:nvSpPr>
          <p:cNvPr id="4137" name="TextBox 14"/>
          <p:cNvSpPr txBox="1">
            <a:spLocks noChangeArrowheads="1"/>
          </p:cNvSpPr>
          <p:nvPr/>
        </p:nvSpPr>
        <p:spPr bwMode="auto">
          <a:xfrm>
            <a:off x="4800600" y="2133600"/>
            <a:ext cx="3994150" cy="230832"/>
          </a:xfrm>
          <a:prstGeom prst="rect">
            <a:avLst/>
          </a:prstGeom>
          <a:noFill/>
          <a:ln w="9525">
            <a:noFill/>
            <a:miter lim="800000"/>
            <a:headEnd/>
            <a:tailEnd/>
          </a:ln>
        </p:spPr>
        <p:txBody>
          <a:bodyPr>
            <a:spAutoFit/>
          </a:bodyPr>
          <a:lstStyle/>
          <a:p>
            <a:r>
              <a:rPr lang="en-US" sz="900" dirty="0"/>
              <a:t>Scale of 1-5, With 5=Very Satisfied and 1=Very Dissatisfied</a:t>
            </a:r>
          </a:p>
        </p:txBody>
      </p:sp>
      <p:sp>
        <p:nvSpPr>
          <p:cNvPr id="4138" name="Oval 28"/>
          <p:cNvSpPr>
            <a:spLocks noChangeArrowheads="1"/>
          </p:cNvSpPr>
          <p:nvPr/>
        </p:nvSpPr>
        <p:spPr bwMode="auto">
          <a:xfrm>
            <a:off x="8610600" y="3048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sp>
        <p:nvSpPr>
          <p:cNvPr id="4139" name="Oval 28"/>
          <p:cNvSpPr>
            <a:spLocks noChangeArrowheads="1"/>
          </p:cNvSpPr>
          <p:nvPr/>
        </p:nvSpPr>
        <p:spPr bwMode="auto">
          <a:xfrm>
            <a:off x="8610600" y="5334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graphicFrame>
        <p:nvGraphicFramePr>
          <p:cNvPr id="14" name="Table 13"/>
          <p:cNvGraphicFramePr>
            <a:graphicFrameLocks noGrp="1"/>
          </p:cNvGraphicFramePr>
          <p:nvPr/>
        </p:nvGraphicFramePr>
        <p:xfrm>
          <a:off x="304800" y="4572000"/>
          <a:ext cx="2871216" cy="1911100"/>
        </p:xfrm>
        <a:graphic>
          <a:graphicData uri="http://schemas.openxmlformats.org/drawingml/2006/table">
            <a:tbl>
              <a:tblPr/>
              <a:tblGrid>
                <a:gridCol w="613847"/>
                <a:gridCol w="762357"/>
                <a:gridCol w="861365"/>
                <a:gridCol w="633647"/>
              </a:tblGrid>
              <a:tr h="191110">
                <a:tc gridSpan="4">
                  <a:txBody>
                    <a:bodyPr/>
                    <a:lstStyle/>
                    <a:p>
                      <a:pPr algn="ctr" fontAlgn="b"/>
                      <a:r>
                        <a:rPr lang="en-US" sz="1100" b="1" i="0" u="none" strike="noStrike" dirty="0">
                          <a:solidFill>
                            <a:srgbClr val="000000"/>
                          </a:solidFill>
                          <a:latin typeface="Calibri"/>
                        </a:rPr>
                        <a:t>PCS Pre-Move Survey Response Recap</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191110">
                <a:tc>
                  <a:txBody>
                    <a:bodyPr/>
                    <a:lstStyle/>
                    <a:p>
                      <a:pPr algn="ctr" fontAlgn="b"/>
                      <a:r>
                        <a:rPr lang="en-US" sz="1100" b="1" i="0" u="none" strike="noStrike" dirty="0">
                          <a:solidFill>
                            <a:srgbClr val="000000"/>
                          </a:solidFill>
                          <a:latin typeface="Calibri"/>
                        </a:rPr>
                        <a:t>Qtr/Yr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1" i="0" u="none" strike="noStrike" dirty="0">
                          <a:solidFill>
                            <a:srgbClr val="000000"/>
                          </a:solidFill>
                          <a:latin typeface="Calibri"/>
                        </a:rPr>
                        <a:t># Surveyed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1" i="0" u="none" strike="noStrike" dirty="0">
                          <a:solidFill>
                            <a:srgbClr val="000000"/>
                          </a:solidFill>
                          <a:latin typeface="Calibri"/>
                        </a:rPr>
                        <a:t># Responded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1" i="0" u="none" strike="noStrike" dirty="0">
                          <a:solidFill>
                            <a:srgbClr val="000000"/>
                          </a:solidFill>
                          <a:latin typeface="Calibri"/>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mn-lt"/>
                        </a:rPr>
                        <a:t>Q1/2011</a:t>
                      </a:r>
                      <a:endParaRPr lang="en-US" sz="1100" b="0" i="0" u="none" strike="noStrike" dirty="0">
                        <a:solidFill>
                          <a:srgbClr val="000000"/>
                        </a:solidFill>
                        <a:latin typeface="+mn-lt"/>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298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93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Q2/2011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248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45%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Q3/2011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286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142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50</a:t>
                      </a:r>
                      <a:r>
                        <a:rPr lang="en-US" sz="1100" b="0" i="0" u="none" strike="noStrike" dirty="0">
                          <a:solidFill>
                            <a:srgbClr val="000000"/>
                          </a:solidFill>
                          <a:latin typeface="Calibri"/>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Q4/2011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278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89</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Q1/2012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194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74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Q2/2012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184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76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41%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Q3/2012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232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84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Q4/2012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bl>
          </a:graphicData>
        </a:graphic>
      </p:graphicFrame>
    </p:spTree>
    <p:extLst>
      <p:ext uri="{BB962C8B-B14F-4D97-AF65-F5344CB8AC3E}">
        <p14:creationId xmlns:p14="http://schemas.microsoft.com/office/powerpoint/2010/main" xmlns="" val="13522185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86916"/>
            <a:ext cx="8915400" cy="6955750"/>
          </a:xfrm>
          <a:prstGeom prst="rect">
            <a:avLst/>
          </a:prstGeom>
          <a:noFill/>
        </p:spPr>
        <p:txBody>
          <a:bodyPr wrap="square">
            <a:spAutoFit/>
          </a:bodyPr>
          <a:lstStyle/>
          <a:p>
            <a:pPr>
              <a:defRPr/>
            </a:pPr>
            <a:r>
              <a:rPr lang="en-US" sz="1400" b="1" dirty="0">
                <a:latin typeface="Arial" pitchFamily="34" charset="0"/>
                <a:cs typeface="Arial" pitchFamily="34" charset="0"/>
              </a:rPr>
              <a:t>PCS Change of Station – Post-Move Notes</a:t>
            </a:r>
          </a:p>
          <a:p>
            <a:pPr>
              <a:defRPr/>
            </a:pPr>
            <a:endParaRPr lang="en-US" sz="500" dirty="0">
              <a:latin typeface="Arial" pitchFamily="34" charset="0"/>
              <a:cs typeface="Arial" pitchFamily="34" charset="0"/>
            </a:endParaRPr>
          </a:p>
          <a:p>
            <a:pPr marL="115888" indent="-115888">
              <a:buFont typeface="Arial" pitchFamily="34" charset="0"/>
              <a:buChar char="•"/>
              <a:defRPr/>
            </a:pPr>
            <a:r>
              <a:rPr lang="en-US" sz="1200" dirty="0">
                <a:latin typeface="Arial" pitchFamily="34" charset="0"/>
                <a:cs typeface="Arial" pitchFamily="34" charset="0"/>
              </a:rPr>
              <a:t> Post-Move survey measure evaluates customer satisfaction with PCS services for move events, including:</a:t>
            </a:r>
          </a:p>
          <a:p>
            <a:pPr marL="406400" lvl="1" indent="-174625">
              <a:buFont typeface="Arial" pitchFamily="34" charset="0"/>
              <a:buChar char="•"/>
              <a:defRPr/>
            </a:pPr>
            <a:r>
              <a:rPr lang="en-US" sz="1200" dirty="0">
                <a:latin typeface="Arial" pitchFamily="34" charset="0"/>
                <a:cs typeface="Arial" pitchFamily="34" charset="0"/>
              </a:rPr>
              <a:t>Physical move to new station</a:t>
            </a:r>
          </a:p>
          <a:p>
            <a:pPr marL="406400" lvl="1" indent="-174625">
              <a:buFont typeface="Arial" pitchFamily="34" charset="0"/>
              <a:buChar char="•"/>
              <a:defRPr/>
            </a:pPr>
            <a:r>
              <a:rPr lang="en-US" sz="1200" dirty="0">
                <a:latin typeface="Arial" pitchFamily="34" charset="0"/>
                <a:cs typeface="Arial" pitchFamily="34" charset="0"/>
              </a:rPr>
              <a:t>Household Goods (HHGs) shipment and </a:t>
            </a:r>
            <a:r>
              <a:rPr lang="en-US" sz="1200" dirty="0" smtClean="0">
                <a:latin typeface="Arial" pitchFamily="34" charset="0"/>
                <a:cs typeface="Arial" pitchFamily="34" charset="0"/>
              </a:rPr>
              <a:t>delivery</a:t>
            </a:r>
            <a:r>
              <a:rPr lang="en-US" sz="1200" dirty="0" smtClean="0"/>
              <a:t>  </a:t>
            </a:r>
            <a:endParaRPr lang="en-US" sz="1200" dirty="0">
              <a:latin typeface="Arial" pitchFamily="34" charset="0"/>
              <a:cs typeface="Arial" pitchFamily="34" charset="0"/>
            </a:endParaRPr>
          </a:p>
          <a:p>
            <a:pPr marL="406400" lvl="1" indent="-174625">
              <a:buFont typeface="Arial" pitchFamily="34" charset="0"/>
              <a:buChar char="•"/>
              <a:defRPr/>
            </a:pPr>
            <a:r>
              <a:rPr lang="en-US" sz="1200" dirty="0">
                <a:latin typeface="Arial" pitchFamily="34" charset="0"/>
                <a:cs typeface="Arial" pitchFamily="34" charset="0"/>
              </a:rPr>
              <a:t>Home sale services </a:t>
            </a:r>
            <a:r>
              <a:rPr lang="en-US" sz="1200" dirty="0" smtClean="0">
                <a:latin typeface="Arial" pitchFamily="34" charset="0"/>
                <a:cs typeface="Arial" pitchFamily="34" charset="0"/>
              </a:rPr>
              <a:t>initiation </a:t>
            </a:r>
            <a:r>
              <a:rPr lang="en-US" sz="1200" dirty="0">
                <a:latin typeface="Arial" pitchFamily="34" charset="0"/>
                <a:cs typeface="Arial" pitchFamily="34" charset="0"/>
              </a:rPr>
              <a:t>of PCS travel documents  </a:t>
            </a:r>
          </a:p>
          <a:p>
            <a:pPr marL="406400" lvl="1" indent="-174625">
              <a:buFont typeface="Arial" pitchFamily="34" charset="0"/>
              <a:buChar char="•"/>
              <a:defRPr/>
            </a:pPr>
            <a:r>
              <a:rPr lang="en-US" sz="1200" dirty="0">
                <a:latin typeface="Arial" pitchFamily="34" charset="0"/>
                <a:cs typeface="Arial" pitchFamily="34" charset="0"/>
              </a:rPr>
              <a:t>Travel claims processing</a:t>
            </a:r>
          </a:p>
          <a:p>
            <a:pPr marL="406400" lvl="1" indent="-174625">
              <a:defRPr/>
            </a:pPr>
            <a:endParaRPr lang="en-US" sz="500" dirty="0">
              <a:latin typeface="Arial" pitchFamily="34" charset="0"/>
              <a:cs typeface="Arial" pitchFamily="34" charset="0"/>
            </a:endParaRPr>
          </a:p>
          <a:p>
            <a:pPr marL="115888" indent="-115888">
              <a:buFont typeface="Arial" pitchFamily="34" charset="0"/>
              <a:buChar char="•"/>
              <a:defRPr/>
            </a:pPr>
            <a:r>
              <a:rPr lang="en-US" sz="1200" dirty="0">
                <a:latin typeface="Arial" pitchFamily="34" charset="0"/>
                <a:cs typeface="Arial" pitchFamily="34" charset="0"/>
              </a:rPr>
              <a:t> Employees are not required to respond to survey, but all employees completing </a:t>
            </a:r>
            <a:r>
              <a:rPr lang="en-US" sz="1200" dirty="0" smtClean="0">
                <a:latin typeface="Arial" pitchFamily="34" charset="0"/>
                <a:cs typeface="Arial" pitchFamily="34" charset="0"/>
              </a:rPr>
              <a:t>post-move </a:t>
            </a:r>
            <a:r>
              <a:rPr lang="en-US" sz="1200" dirty="0">
                <a:latin typeface="Arial" pitchFamily="34" charset="0"/>
                <a:cs typeface="Arial" pitchFamily="34" charset="0"/>
              </a:rPr>
              <a:t>events are surveyed</a:t>
            </a:r>
          </a:p>
          <a:p>
            <a:pPr marL="115888" indent="-115888">
              <a:defRPr/>
            </a:pPr>
            <a:endParaRPr lang="en-US" sz="500" dirty="0">
              <a:latin typeface="Arial" pitchFamily="34" charset="0"/>
              <a:cs typeface="Arial" pitchFamily="34" charset="0"/>
            </a:endParaRPr>
          </a:p>
          <a:p>
            <a:pPr>
              <a:buFont typeface="Arial" pitchFamily="34" charset="0"/>
              <a:buChar char="•"/>
              <a:defRPr/>
            </a:pPr>
            <a:r>
              <a:rPr lang="en-US" sz="1200" dirty="0">
                <a:latin typeface="Arial" pitchFamily="34" charset="0"/>
                <a:cs typeface="Arial" pitchFamily="34" charset="0"/>
              </a:rPr>
              <a:t>  Survey asks customers to rank overall satisfaction with </a:t>
            </a:r>
            <a:r>
              <a:rPr lang="en-US" sz="1200" dirty="0" smtClean="0">
                <a:latin typeface="Arial" pitchFamily="34" charset="0"/>
                <a:cs typeface="Arial" pitchFamily="34" charset="0"/>
              </a:rPr>
              <a:t>post-move </a:t>
            </a:r>
            <a:r>
              <a:rPr lang="en-US" sz="1200" dirty="0">
                <a:latin typeface="Arial" pitchFamily="34" charset="0"/>
                <a:cs typeface="Arial" pitchFamily="34" charset="0"/>
              </a:rPr>
              <a:t>services</a:t>
            </a:r>
          </a:p>
          <a:p>
            <a:pPr lvl="1" indent="-225425">
              <a:buFont typeface="Arial" pitchFamily="34" charset="0"/>
              <a:buChar char="•"/>
              <a:defRPr/>
            </a:pPr>
            <a:r>
              <a:rPr lang="en-US" sz="1200" dirty="0">
                <a:latin typeface="Arial" pitchFamily="34" charset="0"/>
                <a:cs typeface="Arial" pitchFamily="34" charset="0"/>
              </a:rPr>
              <a:t>Scale:  1 – Very Dissatisfied to 5 – Very Satisfied</a:t>
            </a:r>
          </a:p>
          <a:p>
            <a:pPr lvl="1" indent="-225425">
              <a:buFont typeface="Arial" pitchFamily="34" charset="0"/>
              <a:buChar char="•"/>
              <a:defRPr/>
            </a:pPr>
            <a:r>
              <a:rPr lang="en-US" sz="1200" dirty="0">
                <a:latin typeface="Arial" pitchFamily="34" charset="0"/>
                <a:cs typeface="Arial" pitchFamily="34" charset="0"/>
              </a:rPr>
              <a:t>Goal is </a:t>
            </a:r>
            <a:r>
              <a:rPr lang="en-US" sz="1200" dirty="0" smtClean="0">
                <a:latin typeface="Arial" pitchFamily="34" charset="0"/>
                <a:cs typeface="Arial" pitchFamily="34" charset="0"/>
              </a:rPr>
              <a:t>4.0 – </a:t>
            </a:r>
            <a:r>
              <a:rPr lang="en-US" sz="1200" dirty="0" smtClean="0">
                <a:solidFill>
                  <a:srgbClr val="00CC00"/>
                </a:solidFill>
                <a:latin typeface="Arial" pitchFamily="34" charset="0"/>
                <a:cs typeface="Arial" pitchFamily="34" charset="0"/>
              </a:rPr>
              <a:t>FY 2012 3rd Quarter –  4.1</a:t>
            </a:r>
            <a:endParaRPr lang="en-US" sz="1200" dirty="0">
              <a:solidFill>
                <a:srgbClr val="00CC00"/>
              </a:solidFill>
              <a:latin typeface="Arial" pitchFamily="34" charset="0"/>
              <a:cs typeface="Arial" pitchFamily="34" charset="0"/>
            </a:endParaRPr>
          </a:p>
          <a:p>
            <a:pPr lvl="1" indent="-225425">
              <a:defRPr/>
            </a:pPr>
            <a:endParaRPr lang="en-US" sz="500" dirty="0">
              <a:latin typeface="Arial" pitchFamily="34" charset="0"/>
              <a:cs typeface="Arial" pitchFamily="34" charset="0"/>
            </a:endParaRPr>
          </a:p>
          <a:p>
            <a:pPr marL="115888" indent="-115888">
              <a:buFont typeface="Arial" pitchFamily="34" charset="0"/>
              <a:buChar char="•"/>
              <a:defRPr/>
            </a:pPr>
            <a:r>
              <a:rPr lang="en-US" sz="1200" dirty="0">
                <a:latin typeface="Arial" pitchFamily="34" charset="0"/>
                <a:cs typeface="Arial" pitchFamily="34" charset="0"/>
              </a:rPr>
              <a:t> Survey Statistics 			</a:t>
            </a:r>
            <a:r>
              <a:rPr lang="en-US" sz="1200" dirty="0" smtClean="0">
                <a:latin typeface="Arial" pitchFamily="34" charset="0"/>
                <a:cs typeface="Arial" pitchFamily="34" charset="0"/>
              </a:rPr>
              <a:t>           </a:t>
            </a:r>
            <a:r>
              <a:rPr lang="en-US" sz="1200" u="sng" dirty="0">
                <a:latin typeface="Arial" pitchFamily="34" charset="0"/>
                <a:cs typeface="Arial" pitchFamily="34" charset="0"/>
              </a:rPr>
              <a:t>FY </a:t>
            </a:r>
            <a:r>
              <a:rPr lang="en-US" sz="1200" u="sng" dirty="0" smtClean="0">
                <a:latin typeface="Arial" pitchFamily="34" charset="0"/>
                <a:cs typeface="Arial" pitchFamily="34" charset="0"/>
              </a:rPr>
              <a:t>2011</a:t>
            </a:r>
            <a:r>
              <a:rPr lang="en-US" sz="1200" dirty="0" smtClean="0">
                <a:latin typeface="Arial" pitchFamily="34" charset="0"/>
                <a:cs typeface="Arial" pitchFamily="34" charset="0"/>
              </a:rPr>
              <a:t>		</a:t>
            </a:r>
            <a:r>
              <a:rPr lang="en-US" sz="1200" u="sng" dirty="0" smtClean="0">
                <a:solidFill>
                  <a:srgbClr val="0000FF"/>
                </a:solidFill>
                <a:latin typeface="Arial" pitchFamily="34" charset="0"/>
                <a:cs typeface="Arial" pitchFamily="34" charset="0"/>
              </a:rPr>
              <a:t>FY 2012</a:t>
            </a:r>
            <a:endParaRPr lang="en-US" sz="1200" u="sng" dirty="0">
              <a:solidFill>
                <a:srgbClr val="0000FF"/>
              </a:solidFill>
              <a:latin typeface="Arial" pitchFamily="34" charset="0"/>
              <a:cs typeface="Arial" pitchFamily="34" charset="0"/>
            </a:endParaRPr>
          </a:p>
          <a:p>
            <a:pPr marL="3316288" lvl="7" indent="-115888">
              <a:defRPr/>
            </a:pPr>
            <a:r>
              <a:rPr lang="en-US" sz="1200" dirty="0">
                <a:latin typeface="Arial" pitchFamily="34" charset="0"/>
                <a:cs typeface="Arial" pitchFamily="34" charset="0"/>
              </a:rPr>
              <a:t>		</a:t>
            </a:r>
            <a:r>
              <a:rPr lang="en-US" sz="1200" dirty="0" smtClean="0">
                <a:latin typeface="Arial" pitchFamily="34" charset="0"/>
                <a:cs typeface="Arial" pitchFamily="34" charset="0"/>
              </a:rPr>
              <a:t>  </a:t>
            </a:r>
            <a:r>
              <a:rPr lang="en-US" sz="1200" u="sng" dirty="0" smtClean="0">
                <a:latin typeface="Arial" pitchFamily="34" charset="0"/>
                <a:cs typeface="Arial" pitchFamily="34" charset="0"/>
              </a:rPr>
              <a:t>Q1</a:t>
            </a:r>
            <a:r>
              <a:rPr lang="en-US" sz="1200" dirty="0" smtClean="0">
                <a:latin typeface="Arial" pitchFamily="34" charset="0"/>
                <a:cs typeface="Arial" pitchFamily="34" charset="0"/>
              </a:rPr>
              <a:t>     </a:t>
            </a:r>
            <a:r>
              <a:rPr lang="en-US" sz="1200" u="sng" dirty="0">
                <a:latin typeface="Arial" pitchFamily="34" charset="0"/>
                <a:cs typeface="Arial" pitchFamily="34" charset="0"/>
              </a:rPr>
              <a:t>Q2</a:t>
            </a:r>
            <a:r>
              <a:rPr lang="en-US" sz="1200" dirty="0">
                <a:latin typeface="Arial" pitchFamily="34" charset="0"/>
                <a:cs typeface="Arial" pitchFamily="34" charset="0"/>
              </a:rPr>
              <a:t>    </a:t>
            </a:r>
            <a:r>
              <a:rPr lang="en-US" sz="1200" u="sng" dirty="0">
                <a:latin typeface="Arial" pitchFamily="34" charset="0"/>
                <a:cs typeface="Arial" pitchFamily="34" charset="0"/>
              </a:rPr>
              <a:t>Q3</a:t>
            </a:r>
            <a:r>
              <a:rPr lang="en-US" sz="1200" dirty="0">
                <a:latin typeface="Arial" pitchFamily="34" charset="0"/>
                <a:cs typeface="Arial" pitchFamily="34" charset="0"/>
              </a:rPr>
              <a:t>   </a:t>
            </a:r>
            <a:r>
              <a:rPr lang="en-US" sz="1200" dirty="0" smtClean="0">
                <a:latin typeface="Arial" pitchFamily="34" charset="0"/>
                <a:cs typeface="Arial" pitchFamily="34" charset="0"/>
              </a:rPr>
              <a:t>  </a:t>
            </a:r>
            <a:r>
              <a:rPr lang="en-US" sz="1200" u="sng" dirty="0" smtClean="0">
                <a:latin typeface="Arial" pitchFamily="34" charset="0"/>
                <a:cs typeface="Arial" pitchFamily="34" charset="0"/>
              </a:rPr>
              <a:t>Q4</a:t>
            </a:r>
            <a:r>
              <a:rPr lang="en-US" sz="1200" dirty="0" smtClean="0">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Q1</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Q2 </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Q3</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Q4</a:t>
            </a:r>
            <a:endParaRPr lang="en-US" sz="1200" u="sng" dirty="0">
              <a:solidFill>
                <a:srgbClr val="0000FF"/>
              </a:solidFill>
              <a:latin typeface="Arial" pitchFamily="34" charset="0"/>
              <a:cs typeface="Arial" pitchFamily="34" charset="0"/>
            </a:endParaRPr>
          </a:p>
          <a:p>
            <a:pPr marL="573088" lvl="1" indent="-115888">
              <a:defRPr/>
            </a:pPr>
            <a:r>
              <a:rPr lang="en-US" sz="1200" dirty="0">
                <a:latin typeface="Arial" pitchFamily="34" charset="0"/>
                <a:cs typeface="Arial" pitchFamily="34" charset="0"/>
              </a:rPr>
              <a:t>Number Surveyed			 </a:t>
            </a:r>
            <a:r>
              <a:rPr lang="en-US" sz="1200" dirty="0" smtClean="0">
                <a:latin typeface="Arial" pitchFamily="34" charset="0"/>
                <a:cs typeface="Arial" pitchFamily="34" charset="0"/>
              </a:rPr>
              <a:t>363    </a:t>
            </a:r>
            <a:r>
              <a:rPr lang="en-US" sz="1200" dirty="0">
                <a:latin typeface="Arial" pitchFamily="34" charset="0"/>
                <a:cs typeface="Arial" pitchFamily="34" charset="0"/>
              </a:rPr>
              <a:t>203    </a:t>
            </a:r>
            <a:r>
              <a:rPr lang="en-US" sz="1200" dirty="0" smtClean="0">
                <a:latin typeface="Arial" pitchFamily="34" charset="0"/>
                <a:cs typeface="Arial" pitchFamily="34" charset="0"/>
              </a:rPr>
              <a:t>251   280	            </a:t>
            </a:r>
            <a:r>
              <a:rPr lang="en-US" sz="1200" dirty="0" smtClean="0">
                <a:solidFill>
                  <a:srgbClr val="0000FF"/>
                </a:solidFill>
                <a:latin typeface="Arial" pitchFamily="34" charset="0"/>
                <a:cs typeface="Arial" pitchFamily="34" charset="0"/>
              </a:rPr>
              <a:t>198</a:t>
            </a:r>
            <a:r>
              <a:rPr lang="en-US" sz="1200" dirty="0" smtClean="0">
                <a:latin typeface="Arial" pitchFamily="34" charset="0"/>
                <a:cs typeface="Arial" pitchFamily="34" charset="0"/>
              </a:rPr>
              <a:t>	</a:t>
            </a:r>
            <a:r>
              <a:rPr lang="en-US" sz="1200" dirty="0" smtClean="0">
                <a:solidFill>
                  <a:srgbClr val="0000FF"/>
                </a:solidFill>
                <a:latin typeface="Arial" pitchFamily="34" charset="0"/>
                <a:cs typeface="Arial" pitchFamily="34" charset="0"/>
              </a:rPr>
              <a:t>316     175	</a:t>
            </a:r>
            <a:r>
              <a:rPr lang="en-US" sz="1200" dirty="0" smtClean="0">
                <a:latin typeface="Arial" pitchFamily="34" charset="0"/>
                <a:cs typeface="Arial" pitchFamily="34" charset="0"/>
              </a:rPr>
              <a:t>	</a:t>
            </a:r>
            <a:endParaRPr lang="en-US" sz="1200" dirty="0">
              <a:latin typeface="Arial" pitchFamily="34" charset="0"/>
              <a:cs typeface="Arial" pitchFamily="34" charset="0"/>
            </a:endParaRPr>
          </a:p>
          <a:p>
            <a:pPr marL="573088" lvl="1" indent="-115888">
              <a:defRPr/>
            </a:pPr>
            <a:r>
              <a:rPr lang="en-US" sz="1200" dirty="0">
                <a:latin typeface="Arial" pitchFamily="34" charset="0"/>
                <a:cs typeface="Arial" pitchFamily="34" charset="0"/>
              </a:rPr>
              <a:t>Number Responses Received		</a:t>
            </a:r>
            <a:r>
              <a:rPr lang="en-US" sz="1200" dirty="0" smtClean="0">
                <a:latin typeface="Arial" pitchFamily="34" charset="0"/>
                <a:cs typeface="Arial" pitchFamily="34" charset="0"/>
              </a:rPr>
              <a:t>   89      </a:t>
            </a:r>
            <a:r>
              <a:rPr lang="en-US" sz="1200" dirty="0">
                <a:latin typeface="Arial" pitchFamily="34" charset="0"/>
                <a:cs typeface="Arial" pitchFamily="34" charset="0"/>
              </a:rPr>
              <a:t>59	</a:t>
            </a:r>
            <a:r>
              <a:rPr lang="en-US" sz="1200" dirty="0" smtClean="0">
                <a:latin typeface="Arial" pitchFamily="34" charset="0"/>
                <a:cs typeface="Arial" pitchFamily="34" charset="0"/>
              </a:rPr>
              <a:t> 89     62	              </a:t>
            </a:r>
            <a:r>
              <a:rPr lang="en-US" sz="1200" dirty="0" smtClean="0">
                <a:solidFill>
                  <a:srgbClr val="0000FF"/>
                </a:solidFill>
                <a:latin typeface="Arial" pitchFamily="34" charset="0"/>
                <a:cs typeface="Arial" pitchFamily="34" charset="0"/>
              </a:rPr>
              <a:t>40	103       66</a:t>
            </a:r>
            <a:endParaRPr lang="en-US" sz="1200" dirty="0">
              <a:solidFill>
                <a:srgbClr val="0000FF"/>
              </a:solidFill>
              <a:latin typeface="Arial" pitchFamily="34" charset="0"/>
              <a:cs typeface="Arial" pitchFamily="34" charset="0"/>
            </a:endParaRPr>
          </a:p>
          <a:p>
            <a:pPr marL="573088" lvl="1" indent="-115888">
              <a:defRPr/>
            </a:pPr>
            <a:r>
              <a:rPr lang="en-US" sz="1200" dirty="0">
                <a:latin typeface="Arial" pitchFamily="34" charset="0"/>
                <a:cs typeface="Arial" pitchFamily="34" charset="0"/>
              </a:rPr>
              <a:t>Percentage of Responses Received	 </a:t>
            </a:r>
            <a:r>
              <a:rPr lang="en-US" sz="1200" dirty="0" smtClean="0">
                <a:latin typeface="Arial" pitchFamily="34" charset="0"/>
                <a:cs typeface="Arial" pitchFamily="34" charset="0"/>
              </a:rPr>
              <a:t>25</a:t>
            </a:r>
            <a:r>
              <a:rPr lang="en-US" sz="1200" dirty="0">
                <a:latin typeface="Arial" pitchFamily="34" charset="0"/>
                <a:cs typeface="Arial" pitchFamily="34" charset="0"/>
              </a:rPr>
              <a:t>%   29%   35</a:t>
            </a:r>
            <a:r>
              <a:rPr lang="en-US" sz="1200" dirty="0" smtClean="0">
                <a:latin typeface="Arial" pitchFamily="34" charset="0"/>
                <a:cs typeface="Arial" pitchFamily="34" charset="0"/>
              </a:rPr>
              <a:t>%  22%	            </a:t>
            </a:r>
            <a:r>
              <a:rPr lang="en-US" sz="1200" dirty="0" smtClean="0">
                <a:solidFill>
                  <a:srgbClr val="0000FF"/>
                </a:solidFill>
                <a:latin typeface="Arial" pitchFamily="34" charset="0"/>
                <a:cs typeface="Arial" pitchFamily="34" charset="0"/>
              </a:rPr>
              <a:t>20%</a:t>
            </a:r>
            <a:r>
              <a:rPr lang="en-US" sz="1200" dirty="0" smtClean="0">
                <a:latin typeface="Arial" pitchFamily="34" charset="0"/>
                <a:cs typeface="Arial" pitchFamily="34" charset="0"/>
              </a:rPr>
              <a:t>   </a:t>
            </a:r>
            <a:r>
              <a:rPr lang="en-US" sz="1200" dirty="0" smtClean="0">
                <a:solidFill>
                  <a:srgbClr val="0000FF"/>
                </a:solidFill>
                <a:latin typeface="Arial" pitchFamily="34" charset="0"/>
                <a:cs typeface="Arial" pitchFamily="34" charset="0"/>
              </a:rPr>
              <a:t>33%    38%</a:t>
            </a:r>
            <a:endParaRPr lang="en-US" sz="1200" dirty="0">
              <a:solidFill>
                <a:srgbClr val="0000FF"/>
              </a:solidFill>
              <a:latin typeface="Arial" pitchFamily="34" charset="0"/>
              <a:cs typeface="Arial" pitchFamily="34" charset="0"/>
            </a:endParaRPr>
          </a:p>
          <a:p>
            <a:pPr marL="573088" lvl="1" indent="-115888">
              <a:defRPr/>
            </a:pPr>
            <a:r>
              <a:rPr lang="en-US" sz="1200" dirty="0">
                <a:latin typeface="Arial" pitchFamily="34" charset="0"/>
                <a:cs typeface="Arial" pitchFamily="34" charset="0"/>
              </a:rPr>
              <a:t>Summary of Results			  </a:t>
            </a:r>
            <a:r>
              <a:rPr lang="en-US" sz="1200" dirty="0" smtClean="0">
                <a:latin typeface="Arial" pitchFamily="34" charset="0"/>
                <a:cs typeface="Arial" pitchFamily="34" charset="0"/>
              </a:rPr>
              <a:t>4.1     </a:t>
            </a:r>
            <a:r>
              <a:rPr lang="en-US" sz="1200" dirty="0">
                <a:latin typeface="Arial" pitchFamily="34" charset="0"/>
                <a:cs typeface="Arial" pitchFamily="34" charset="0"/>
              </a:rPr>
              <a:t>3.9    </a:t>
            </a:r>
            <a:r>
              <a:rPr lang="en-US" sz="1200" dirty="0" smtClean="0">
                <a:latin typeface="Arial" pitchFamily="34" charset="0"/>
                <a:cs typeface="Arial" pitchFamily="34" charset="0"/>
              </a:rPr>
              <a:t>4.2     4.0	             </a:t>
            </a:r>
            <a:r>
              <a:rPr lang="en-US" sz="1200" dirty="0" smtClean="0">
                <a:solidFill>
                  <a:srgbClr val="0000FF"/>
                </a:solidFill>
                <a:latin typeface="Arial" pitchFamily="34" charset="0"/>
                <a:cs typeface="Arial" pitchFamily="34" charset="0"/>
              </a:rPr>
              <a:t>4.0	 4.0      4.1</a:t>
            </a:r>
            <a:endParaRPr lang="en-US" sz="1200" dirty="0">
              <a:solidFill>
                <a:srgbClr val="0000FF"/>
              </a:solidFill>
              <a:latin typeface="Arial" pitchFamily="34" charset="0"/>
              <a:cs typeface="Arial" pitchFamily="34" charset="0"/>
            </a:endParaRPr>
          </a:p>
          <a:p>
            <a:pPr marL="573088" lvl="1" indent="-115888">
              <a:defRPr/>
            </a:pPr>
            <a:r>
              <a:rPr lang="en-US" sz="800" dirty="0">
                <a:latin typeface="Arial" pitchFamily="34" charset="0"/>
                <a:cs typeface="Arial" pitchFamily="34" charset="0"/>
              </a:rPr>
              <a:t>(Note:  </a:t>
            </a:r>
            <a:r>
              <a:rPr lang="en-US" sz="800" dirty="0" smtClean="0">
                <a:latin typeface="Arial" pitchFamily="34" charset="0"/>
                <a:cs typeface="Arial" pitchFamily="34" charset="0"/>
              </a:rPr>
              <a:t>FSC uses a </a:t>
            </a:r>
            <a:r>
              <a:rPr lang="en-US" sz="800" dirty="0">
                <a:latin typeface="Arial" pitchFamily="34" charset="0"/>
                <a:cs typeface="Arial" pitchFamily="34" charset="0"/>
              </a:rPr>
              <a:t>mid-point follow-up contact with survey recipients to try to improve survey response rates)</a:t>
            </a:r>
          </a:p>
          <a:p>
            <a:pPr marL="573088" lvl="1" indent="-115888">
              <a:defRPr/>
            </a:pPr>
            <a:r>
              <a:rPr lang="en-US" sz="800" dirty="0">
                <a:latin typeface="Arial" pitchFamily="34" charset="0"/>
                <a:cs typeface="Arial" pitchFamily="34" charset="0"/>
              </a:rPr>
              <a:t>	</a:t>
            </a:r>
            <a:r>
              <a:rPr lang="en-US" sz="800" dirty="0">
                <a:solidFill>
                  <a:srgbClr val="0000FF"/>
                </a:solidFill>
                <a:latin typeface="Arial" pitchFamily="34" charset="0"/>
                <a:cs typeface="Arial" pitchFamily="34" charset="0"/>
              </a:rPr>
              <a:t> </a:t>
            </a:r>
            <a:endParaRPr lang="en-US" sz="800" dirty="0">
              <a:latin typeface="Arial" pitchFamily="34" charset="0"/>
              <a:cs typeface="Arial" pitchFamily="34" charset="0"/>
            </a:endParaRPr>
          </a:p>
          <a:p>
            <a:pPr marL="115888" indent="-115888">
              <a:buFont typeface="Arial" pitchFamily="34" charset="0"/>
              <a:buChar char="•"/>
              <a:defRPr/>
            </a:pPr>
            <a:r>
              <a:rPr lang="en-US" sz="1200" dirty="0">
                <a:latin typeface="Arial" pitchFamily="34" charset="0"/>
                <a:cs typeface="Arial" pitchFamily="34" charset="0"/>
              </a:rPr>
              <a:t>Types of employee survey responses with </a:t>
            </a:r>
            <a:r>
              <a:rPr lang="en-US" sz="1200" dirty="0" smtClean="0">
                <a:latin typeface="Arial" pitchFamily="34" charset="0"/>
                <a:cs typeface="Arial" pitchFamily="34" charset="0"/>
              </a:rPr>
              <a:t>post-move </a:t>
            </a:r>
            <a:r>
              <a:rPr lang="en-US" sz="1200" dirty="0">
                <a:latin typeface="Arial" pitchFamily="34" charset="0"/>
                <a:cs typeface="Arial" pitchFamily="34" charset="0"/>
              </a:rPr>
              <a:t>process concerns</a:t>
            </a:r>
          </a:p>
          <a:p>
            <a:pPr lvl="1" indent="-225425">
              <a:buFont typeface="Arial" pitchFamily="34" charset="0"/>
              <a:buChar char="•"/>
              <a:defRPr/>
            </a:pPr>
            <a:r>
              <a:rPr lang="en-US" sz="1200" dirty="0" smtClean="0">
                <a:latin typeface="Arial" pitchFamily="34" charset="0"/>
                <a:cs typeface="Arial" pitchFamily="34" charset="0"/>
              </a:rPr>
              <a:t>RMW representatives were courteous, caring and sympathetic to my moving needs</a:t>
            </a:r>
          </a:p>
          <a:p>
            <a:pPr lvl="1" indent="-225425">
              <a:buFont typeface="Arial" pitchFamily="34" charset="0"/>
              <a:buChar char="•"/>
              <a:defRPr/>
            </a:pPr>
            <a:r>
              <a:rPr lang="en-US" sz="1200" dirty="0" smtClean="0">
                <a:latin typeface="Arial" pitchFamily="34" charset="0"/>
                <a:cs typeface="Arial" pitchFamily="34" charset="0"/>
              </a:rPr>
              <a:t>Employee had concerns with the moving van line used for their move</a:t>
            </a:r>
          </a:p>
          <a:p>
            <a:pPr lvl="2" indent="-225425">
              <a:buFont typeface="Arial" pitchFamily="34" charset="0"/>
              <a:buChar char="•"/>
              <a:defRPr/>
            </a:pPr>
            <a:r>
              <a:rPr lang="en-US" sz="1200" dirty="0" smtClean="0">
                <a:latin typeface="Arial" pitchFamily="34" charset="0"/>
                <a:cs typeface="Arial" pitchFamily="34" charset="0"/>
              </a:rPr>
              <a:t>FSC provided survey feedback to RMW management and RMW COTR</a:t>
            </a:r>
          </a:p>
          <a:p>
            <a:pPr lvl="1" indent="-225425">
              <a:buFont typeface="Arial" pitchFamily="34" charset="0"/>
              <a:buChar char="•"/>
              <a:defRPr/>
            </a:pPr>
            <a:r>
              <a:rPr lang="en-US" sz="1200" dirty="0" smtClean="0">
                <a:latin typeface="Arial" pitchFamily="34" charset="0"/>
                <a:cs typeface="Arial" pitchFamily="34" charset="0"/>
              </a:rPr>
              <a:t>Brookfield (new Prudential corporate name) was hard to reach – had to leave messages on phone machine</a:t>
            </a:r>
          </a:p>
          <a:p>
            <a:pPr lvl="2" indent="-225425">
              <a:buFont typeface="Arial" pitchFamily="34" charset="0"/>
              <a:buChar char="•"/>
              <a:defRPr/>
            </a:pPr>
            <a:r>
              <a:rPr lang="en-US" sz="1200" dirty="0" smtClean="0">
                <a:latin typeface="Arial" pitchFamily="34" charset="0"/>
                <a:cs typeface="Arial" pitchFamily="34" charset="0"/>
              </a:rPr>
              <a:t>FSC participates in weekly calls to ensure any potential problems are addressed as soon as possible</a:t>
            </a:r>
          </a:p>
          <a:p>
            <a:pPr lvl="2" indent="-225425">
              <a:buFont typeface="Arial" pitchFamily="34" charset="0"/>
              <a:buChar char="•"/>
              <a:defRPr/>
            </a:pPr>
            <a:r>
              <a:rPr lang="en-US" sz="1200" dirty="0" smtClean="0">
                <a:latin typeface="Arial" pitchFamily="34" charset="0"/>
                <a:cs typeface="Arial" pitchFamily="34" charset="0"/>
              </a:rPr>
              <a:t>FSC provided survey feedback to Brookfield management and Brookfield COTR</a:t>
            </a:r>
          </a:p>
          <a:p>
            <a:pPr lvl="1" indent="-225425">
              <a:buFont typeface="Arial" pitchFamily="34" charset="0"/>
              <a:buChar char="•"/>
              <a:defRPr/>
            </a:pPr>
            <a:r>
              <a:rPr lang="en-US" sz="1200" dirty="0" smtClean="0">
                <a:latin typeface="Arial" pitchFamily="34" charset="0"/>
                <a:cs typeface="Arial" pitchFamily="34" charset="0"/>
              </a:rPr>
              <a:t>My HR representative acted as if they did not know what to do; as if they had never completed a PCS before</a:t>
            </a:r>
          </a:p>
          <a:p>
            <a:pPr lvl="1" indent="-225425">
              <a:buFont typeface="Arial" pitchFamily="34" charset="0"/>
              <a:buChar char="•"/>
              <a:defRPr/>
            </a:pPr>
            <a:r>
              <a:rPr lang="en-US" sz="1200" dirty="0" smtClean="0">
                <a:latin typeface="Arial" pitchFamily="34" charset="0"/>
                <a:cs typeface="Arial" pitchFamily="34" charset="0"/>
              </a:rPr>
              <a:t>The West Palm Beach office and Birmingham representatives were very helpful </a:t>
            </a:r>
          </a:p>
          <a:p>
            <a:pPr lvl="2" indent="-225425">
              <a:buFont typeface="Arial" pitchFamily="34" charset="0"/>
              <a:buChar char="•"/>
              <a:defRPr/>
            </a:pPr>
            <a:r>
              <a:rPr lang="en-US" sz="1200" dirty="0" smtClean="0">
                <a:latin typeface="Arial" pitchFamily="34" charset="0"/>
                <a:cs typeface="Arial" pitchFamily="34" charset="0"/>
              </a:rPr>
              <a:t>FSC participates in monthly HR calls and provides feedback</a:t>
            </a:r>
          </a:p>
          <a:p>
            <a:pPr lvl="1" indent="-225425">
              <a:buFont typeface="Arial" pitchFamily="34" charset="0"/>
              <a:buChar char="•"/>
              <a:defRPr/>
            </a:pPr>
            <a:r>
              <a:rPr lang="en-US" sz="1200" dirty="0" smtClean="0">
                <a:latin typeface="Arial" pitchFamily="34" charset="0"/>
                <a:cs typeface="Arial" pitchFamily="34" charset="0"/>
              </a:rPr>
              <a:t>Develop a handbook of some sort and provide to PCS’ing employees; FAQs, what to expect, the whole process etc.</a:t>
            </a:r>
          </a:p>
          <a:p>
            <a:pPr marL="858838" lvl="2" indent="-173038">
              <a:buFont typeface="Arial" pitchFamily="34" charset="0"/>
              <a:buChar char="•"/>
              <a:defRPr/>
            </a:pPr>
            <a:r>
              <a:rPr lang="en-US" sz="1200" dirty="0" smtClean="0">
                <a:latin typeface="Arial" pitchFamily="34" charset="0"/>
                <a:cs typeface="Arial" pitchFamily="34" charset="0"/>
              </a:rPr>
              <a:t>They are available and are provided to employees before and during the counseling session.  All the same documents are on the PCS website</a:t>
            </a:r>
          </a:p>
          <a:p>
            <a:pPr marL="401638" lvl="1" indent="-173038">
              <a:buFont typeface="Arial" pitchFamily="34" charset="0"/>
              <a:buChar char="•"/>
              <a:defRPr/>
            </a:pPr>
            <a:r>
              <a:rPr lang="en-US" sz="1200" dirty="0" smtClean="0">
                <a:latin typeface="Arial" pitchFamily="34" charset="0"/>
                <a:cs typeface="Arial" pitchFamily="34" charset="0"/>
              </a:rPr>
              <a:t> The most difficult aspect of claims processing was trying to fax documents on legal sized paper</a:t>
            </a:r>
          </a:p>
          <a:p>
            <a:pPr marL="858838" lvl="2" indent="-173038">
              <a:buFont typeface="Arial" pitchFamily="34" charset="0"/>
              <a:buChar char="•"/>
              <a:defRPr/>
            </a:pPr>
            <a:r>
              <a:rPr lang="en-US" sz="1200" dirty="0" smtClean="0">
                <a:latin typeface="Arial" pitchFamily="34" charset="0"/>
                <a:cs typeface="Arial" pitchFamily="34" charset="0"/>
              </a:rPr>
              <a:t>Production of the claims automation was completed June 30, 2012.  Roll out started with July 16</a:t>
            </a:r>
            <a:r>
              <a:rPr lang="en-US" sz="1200" baseline="30000" dirty="0" smtClean="0">
                <a:latin typeface="Arial" pitchFamily="34" charset="0"/>
                <a:cs typeface="Arial" pitchFamily="34" charset="0"/>
              </a:rPr>
              <a:t>th</a:t>
            </a:r>
            <a:r>
              <a:rPr lang="en-US" sz="1200" dirty="0" smtClean="0">
                <a:latin typeface="Arial" pitchFamily="34" charset="0"/>
                <a:cs typeface="Arial" pitchFamily="34" charset="0"/>
              </a:rPr>
              <a:t> counseling sessions which eliminated faxing of documents</a:t>
            </a:r>
          </a:p>
          <a:p>
            <a:pPr marL="401638" lvl="1" indent="-173038">
              <a:defRPr/>
            </a:pPr>
            <a:r>
              <a:rPr lang="en-US" sz="1200" dirty="0" smtClean="0">
                <a:solidFill>
                  <a:prstClr val="black"/>
                </a:solidFill>
                <a:latin typeface="Arial" pitchFamily="34" charset="0"/>
                <a:cs typeface="Arial" pitchFamily="34" charset="0"/>
              </a:rPr>
              <a:t>Next Step:  Continue to review survey data and identify improvement opportunities</a:t>
            </a:r>
            <a:endParaRPr lang="en-US" sz="1200" dirty="0">
              <a:latin typeface="Arial" pitchFamily="34" charset="0"/>
              <a:cs typeface="Arial" pitchFamily="34" charset="0"/>
            </a:endParaRPr>
          </a:p>
        </p:txBody>
      </p:sp>
    </p:spTree>
    <p:extLst>
      <p:ext uri="{BB962C8B-B14F-4D97-AF65-F5344CB8AC3E}">
        <p14:creationId xmlns:p14="http://schemas.microsoft.com/office/powerpoint/2010/main" xmlns="" val="18463305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2"/>
          <p:cNvGraphicFramePr>
            <a:graphicFrameLocks noGrp="1" noChangeAspect="1"/>
          </p:cNvGraphicFramePr>
          <p:nvPr>
            <p:ph sz="half" idx="4294967295"/>
            <p:extLst>
              <p:ext uri="{D42A27DB-BD31-4B8C-83A1-F6EECF244321}">
                <p14:modId xmlns:p14="http://schemas.microsoft.com/office/powerpoint/2010/main" xmlns="" val="1577825143"/>
              </p:ext>
            </p:extLst>
          </p:nvPr>
        </p:nvGraphicFramePr>
        <p:xfrm>
          <a:off x="3200400" y="2252974"/>
          <a:ext cx="5782801" cy="4069080"/>
        </p:xfrm>
        <a:graphic>
          <a:graphicData uri="http://schemas.openxmlformats.org/presentationml/2006/ole">
            <p:oleObj spid="_x0000_s98338" name="Worksheet" r:id="rId4" imgW="8001000" imgH="5629352" progId="Excel.Sheet.8">
              <p:embed/>
            </p:oleObj>
          </a:graphicData>
        </a:graphic>
      </p:graphicFrame>
      <p:graphicFrame>
        <p:nvGraphicFramePr>
          <p:cNvPr id="93187" name="Group 3"/>
          <p:cNvGraphicFramePr>
            <a:graphicFrameLocks noGrp="1"/>
          </p:cNvGraphicFramePr>
          <p:nvPr>
            <p:extLst>
              <p:ext uri="{D42A27DB-BD31-4B8C-83A1-F6EECF244321}">
                <p14:modId xmlns:p14="http://schemas.microsoft.com/office/powerpoint/2010/main" xmlns="" val="2305983695"/>
              </p:ext>
            </p:extLst>
          </p:nvPr>
        </p:nvGraphicFramePr>
        <p:xfrm>
          <a:off x="6851650" y="0"/>
          <a:ext cx="2292350" cy="991553"/>
        </p:xfrm>
        <a:graphic>
          <a:graphicData uri="http://schemas.openxmlformats.org/drawingml/2006/table">
            <a:tbl>
              <a:tblPr/>
              <a:tblGrid>
                <a:gridCol w="1544638"/>
                <a:gridCol w="747712"/>
              </a:tblGrid>
              <a:tr h="228600">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Status</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B8D2EA"/>
                    </a:solidFill>
                  </a:tcPr>
                </a:tc>
                <a:tc hMerge="1">
                  <a:txBody>
                    <a:bodyPr/>
                    <a:lstStyle/>
                    <a:p>
                      <a:endParaRPr lang="en-US"/>
                    </a:p>
                  </a:txBody>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Current Quarter (Q3)</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Next Quarter (Q4)</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Projected Green Date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  N/A  </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5136" name="Rectangle 26"/>
          <p:cNvSpPr>
            <a:spLocks noChangeArrowheads="1"/>
          </p:cNvSpPr>
          <p:nvPr/>
        </p:nvSpPr>
        <p:spPr bwMode="auto">
          <a:xfrm>
            <a:off x="3657600" y="1143000"/>
            <a:ext cx="5248275" cy="1244600"/>
          </a:xfrm>
          <a:prstGeom prst="rect">
            <a:avLst/>
          </a:prstGeom>
          <a:noFill/>
          <a:ln w="9525">
            <a:noFill/>
            <a:miter lim="800000"/>
            <a:headEnd/>
            <a:tailEnd/>
          </a:ln>
        </p:spPr>
        <p:txBody>
          <a:bodyPr anchor="ctr"/>
          <a:lstStyle/>
          <a:p>
            <a:pPr algn="ctr"/>
            <a:r>
              <a:rPr lang="en-US" sz="1600" dirty="0">
                <a:solidFill>
                  <a:srgbClr val="0000FF"/>
                </a:solidFill>
                <a:latin typeface="Arial Rounded MT Bold" pitchFamily="34" charset="0"/>
              </a:rPr>
              <a:t>Key Trend Line: </a:t>
            </a:r>
            <a:br>
              <a:rPr lang="en-US" sz="1600" dirty="0">
                <a:solidFill>
                  <a:srgbClr val="0000FF"/>
                </a:solidFill>
                <a:latin typeface="Arial Rounded MT Bold" pitchFamily="34" charset="0"/>
              </a:rPr>
            </a:br>
            <a:r>
              <a:rPr lang="en-US" sz="1600" dirty="0">
                <a:solidFill>
                  <a:srgbClr val="800000"/>
                </a:solidFill>
                <a:latin typeface="Arial Rounded MT Bold" pitchFamily="34" charset="0"/>
              </a:rPr>
              <a:t>Permanent Change of Station (PCS) Client Satisfaction – </a:t>
            </a:r>
            <a:r>
              <a:rPr lang="en-US" sz="1600" i="1" dirty="0">
                <a:solidFill>
                  <a:srgbClr val="800000"/>
                </a:solidFill>
                <a:latin typeface="Arial Rounded MT Bold" pitchFamily="34" charset="0"/>
              </a:rPr>
              <a:t>Post-Move</a:t>
            </a:r>
          </a:p>
          <a:p>
            <a:pPr algn="ctr"/>
            <a:r>
              <a:rPr lang="en-US" sz="1600" b="1" dirty="0"/>
              <a:t>Client Satisfaction </a:t>
            </a:r>
            <a:r>
              <a:rPr lang="en-US" sz="1600" b="1" dirty="0" smtClean="0"/>
              <a:t>Exceeds </a:t>
            </a:r>
            <a:r>
              <a:rPr lang="en-US" sz="1600" b="1" dirty="0"/>
              <a:t>Goal </a:t>
            </a:r>
            <a:r>
              <a:rPr lang="en-US" sz="1600" dirty="0">
                <a:solidFill>
                  <a:srgbClr val="0000FF"/>
                </a:solidFill>
                <a:latin typeface="Arial Rounded MT Bold" pitchFamily="34" charset="0"/>
              </a:rPr>
              <a:t/>
            </a:r>
            <a:br>
              <a:rPr lang="en-US" sz="1600" dirty="0">
                <a:solidFill>
                  <a:srgbClr val="0000FF"/>
                </a:solidFill>
                <a:latin typeface="Arial Rounded MT Bold" pitchFamily="34" charset="0"/>
              </a:rPr>
            </a:br>
            <a:r>
              <a:rPr lang="en-US" sz="1600" dirty="0">
                <a:latin typeface="Arial Rounded MT Bold" pitchFamily="34" charset="0"/>
              </a:rPr>
              <a:t> </a:t>
            </a:r>
            <a:endParaRPr lang="en-US" sz="1400" dirty="0">
              <a:latin typeface="Arial Rounded MT Bold" pitchFamily="34" charset="0"/>
            </a:endParaRPr>
          </a:p>
        </p:txBody>
      </p:sp>
      <p:graphicFrame>
        <p:nvGraphicFramePr>
          <p:cNvPr id="93211" name="Group 27"/>
          <p:cNvGraphicFramePr>
            <a:graphicFrameLocks noGrp="1"/>
          </p:cNvGraphicFramePr>
          <p:nvPr/>
        </p:nvGraphicFramePr>
        <p:xfrm>
          <a:off x="0" y="0"/>
          <a:ext cx="2971800" cy="1950721"/>
        </p:xfrm>
        <a:graphic>
          <a:graphicData uri="http://schemas.openxmlformats.org/drawingml/2006/table">
            <a:tbl>
              <a:tblPr/>
              <a:tblGrid>
                <a:gridCol w="914400"/>
                <a:gridCol w="2057400"/>
              </a:tblGrid>
              <a:tr h="227013">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Linkages</a:t>
                      </a:r>
                    </a:p>
                  </a:txBody>
                  <a:tcPr horzOverflow="overflow">
                    <a:lnL cap="flat">
                      <a:noFill/>
                    </a:lnL>
                    <a:lnR cap="flat">
                      <a:noFill/>
                    </a:lnR>
                    <a:lnT cap="flat">
                      <a:noFill/>
                    </a:lnT>
                    <a:lnB>
                      <a:noFill/>
                    </a:lnB>
                    <a:lnTlToBr>
                      <a:noFill/>
                    </a:lnTlToBr>
                    <a:lnBlToTr>
                      <a:noFill/>
                    </a:lnBlToTr>
                    <a:solidFill>
                      <a:srgbClr val="EDD4A1"/>
                    </a:solidFill>
                  </a:tcPr>
                </a:tc>
                <a:tc hMerge="1">
                  <a:txBody>
                    <a:bodyPr/>
                    <a:lstStyle/>
                    <a:p>
                      <a:endParaRPr lang="en-US"/>
                    </a:p>
                  </a:txBody>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Org</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OM</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651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B/Line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Enabling</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Metric Type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Performance</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B/Scorecard</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Client Satisfaction</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81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Strategic Goal</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4</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Corp Outcome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900" b="0" i="0" u="none" strike="noStrike" cap="none" normalizeH="0" baseline="0" dirty="0" smtClean="0">
                          <a:ln>
                            <a:noFill/>
                          </a:ln>
                          <a:solidFill>
                            <a:schemeClr val="tx1"/>
                          </a:solidFill>
                          <a:effectLst/>
                          <a:latin typeface="Arial" charset="0"/>
                        </a:rPr>
                        <a:t>Increase Client Satisfaction (as a result of Increased Employee Satisfaction)</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r>
            </a:tbl>
          </a:graphicData>
        </a:graphic>
      </p:graphicFrame>
      <p:sp>
        <p:nvSpPr>
          <p:cNvPr id="5157" name="TextBox 16"/>
          <p:cNvSpPr txBox="1">
            <a:spLocks noChangeArrowheads="1"/>
          </p:cNvSpPr>
          <p:nvPr/>
        </p:nvSpPr>
        <p:spPr bwMode="auto">
          <a:xfrm>
            <a:off x="5562600" y="838200"/>
            <a:ext cx="914400" cy="369888"/>
          </a:xfrm>
          <a:prstGeom prst="rect">
            <a:avLst/>
          </a:prstGeom>
          <a:noFill/>
          <a:ln w="9525">
            <a:noFill/>
            <a:miter lim="800000"/>
            <a:headEnd/>
            <a:tailEnd/>
          </a:ln>
        </p:spPr>
        <p:txBody>
          <a:bodyPr>
            <a:spAutoFit/>
          </a:bodyPr>
          <a:lstStyle/>
          <a:p>
            <a:endParaRPr lang="en-US" dirty="0"/>
          </a:p>
        </p:txBody>
      </p:sp>
      <p:sp>
        <p:nvSpPr>
          <p:cNvPr id="12" name="TextBox 11"/>
          <p:cNvSpPr txBox="1"/>
          <p:nvPr/>
        </p:nvSpPr>
        <p:spPr>
          <a:xfrm>
            <a:off x="228600" y="2438400"/>
            <a:ext cx="2582863" cy="1200150"/>
          </a:xfrm>
          <a:prstGeom prst="rect">
            <a:avLst/>
          </a:prstGeom>
          <a:solidFill>
            <a:schemeClr val="bg2">
              <a:lumMod val="20000"/>
              <a:lumOff val="80000"/>
            </a:schemeClr>
          </a:solidFill>
        </p:spPr>
        <p:txBody>
          <a:bodyPr>
            <a:spAutoFit/>
          </a:bodyPr>
          <a:lstStyle/>
          <a:p>
            <a:pPr>
              <a:defRPr/>
            </a:pPr>
            <a:r>
              <a:rPr lang="en-US" sz="1200" dirty="0"/>
              <a:t>FSC also tracks satisfaction with </a:t>
            </a:r>
            <a:r>
              <a:rPr lang="en-US" sz="1200" u="sng" dirty="0"/>
              <a:t>post-move</a:t>
            </a:r>
            <a:r>
              <a:rPr lang="en-US" sz="1200" dirty="0"/>
              <a:t> activities that include employee’s physical move, HHG shipment and delivery,  travel claims processing, and home sale services.</a:t>
            </a:r>
          </a:p>
        </p:txBody>
      </p:sp>
      <p:sp>
        <p:nvSpPr>
          <p:cNvPr id="5159" name="Slide Number Placeholder 16"/>
          <p:cNvSpPr>
            <a:spLocks noGrp="1"/>
          </p:cNvSpPr>
          <p:nvPr>
            <p:ph type="sldNum" sz="quarter" idx="11"/>
          </p:nvPr>
        </p:nvSpPr>
        <p:spPr>
          <a:xfrm>
            <a:off x="6553200" y="6356350"/>
            <a:ext cx="2133600" cy="365125"/>
          </a:xfrm>
          <a:noFill/>
        </p:spPr>
        <p:txBody>
          <a:bodyPr/>
          <a:lstStyle/>
          <a:p>
            <a:fld id="{B0756BEF-E3B6-4B30-98B6-41D82E769A60}" type="slidenum">
              <a:rPr lang="en-US" smtClean="0">
                <a:latin typeface="Arial" pitchFamily="34" charset="0"/>
              </a:rPr>
              <a:pPr/>
              <a:t>10</a:t>
            </a:fld>
            <a:endParaRPr lang="en-US" dirty="0" smtClean="0">
              <a:latin typeface="Arial" pitchFamily="34" charset="0"/>
            </a:endParaRPr>
          </a:p>
        </p:txBody>
      </p:sp>
      <p:sp>
        <p:nvSpPr>
          <p:cNvPr id="5160" name="TextBox 14"/>
          <p:cNvSpPr txBox="1">
            <a:spLocks noChangeArrowheads="1"/>
          </p:cNvSpPr>
          <p:nvPr/>
        </p:nvSpPr>
        <p:spPr bwMode="auto">
          <a:xfrm>
            <a:off x="4800600" y="2133600"/>
            <a:ext cx="3994150" cy="230832"/>
          </a:xfrm>
          <a:prstGeom prst="rect">
            <a:avLst/>
          </a:prstGeom>
          <a:noFill/>
          <a:ln w="9525">
            <a:noFill/>
            <a:miter lim="800000"/>
            <a:headEnd/>
            <a:tailEnd/>
          </a:ln>
        </p:spPr>
        <p:txBody>
          <a:bodyPr>
            <a:spAutoFit/>
          </a:bodyPr>
          <a:lstStyle/>
          <a:p>
            <a:r>
              <a:rPr lang="en-US" sz="900" dirty="0"/>
              <a:t>Scale of 1-5, With 5=Very Satisfied and 1=Very Dissatisfied</a:t>
            </a:r>
          </a:p>
        </p:txBody>
      </p:sp>
      <p:sp>
        <p:nvSpPr>
          <p:cNvPr id="5161" name="Date Placeholder 1"/>
          <p:cNvSpPr>
            <a:spLocks noGrp="1"/>
          </p:cNvSpPr>
          <p:nvPr>
            <p:ph type="dt" sz="quarter" idx="10"/>
          </p:nvPr>
        </p:nvSpPr>
        <p:spPr>
          <a:xfrm>
            <a:off x="457200" y="6492875"/>
            <a:ext cx="2938463" cy="365125"/>
          </a:xfrm>
          <a:noFill/>
        </p:spPr>
        <p:txBody>
          <a:bodyPr/>
          <a:lstStyle/>
          <a:p>
            <a:r>
              <a:rPr lang="en-US" dirty="0" smtClean="0">
                <a:latin typeface="Arial" pitchFamily="34" charset="0"/>
              </a:rPr>
              <a:t>SG4 - Data Through June 2012</a:t>
            </a:r>
          </a:p>
        </p:txBody>
      </p:sp>
      <p:sp>
        <p:nvSpPr>
          <p:cNvPr id="5162" name="Oval 28"/>
          <p:cNvSpPr>
            <a:spLocks noChangeArrowheads="1"/>
          </p:cNvSpPr>
          <p:nvPr/>
        </p:nvSpPr>
        <p:spPr bwMode="auto">
          <a:xfrm>
            <a:off x="8610600" y="3048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sp>
        <p:nvSpPr>
          <p:cNvPr id="5163" name="Oval 28"/>
          <p:cNvSpPr>
            <a:spLocks noChangeArrowheads="1"/>
          </p:cNvSpPr>
          <p:nvPr/>
        </p:nvSpPr>
        <p:spPr bwMode="auto">
          <a:xfrm>
            <a:off x="8610600" y="5334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graphicFrame>
        <p:nvGraphicFramePr>
          <p:cNvPr id="15" name="Table 14"/>
          <p:cNvGraphicFramePr>
            <a:graphicFrameLocks noGrp="1"/>
          </p:cNvGraphicFramePr>
          <p:nvPr/>
        </p:nvGraphicFramePr>
        <p:xfrm>
          <a:off x="304800" y="3886200"/>
          <a:ext cx="2871216" cy="2133600"/>
        </p:xfrm>
        <a:graphic>
          <a:graphicData uri="http://schemas.openxmlformats.org/drawingml/2006/table">
            <a:tbl>
              <a:tblPr/>
              <a:tblGrid>
                <a:gridCol w="613847"/>
                <a:gridCol w="762357"/>
                <a:gridCol w="861365"/>
                <a:gridCol w="633647"/>
              </a:tblGrid>
              <a:tr h="213360">
                <a:tc gridSpan="4">
                  <a:txBody>
                    <a:bodyPr/>
                    <a:lstStyle/>
                    <a:p>
                      <a:pPr algn="ctr" fontAlgn="b"/>
                      <a:r>
                        <a:rPr lang="en-US" sz="1100" b="1" i="0" u="none" strike="noStrike" dirty="0">
                          <a:solidFill>
                            <a:srgbClr val="000000"/>
                          </a:solidFill>
                          <a:latin typeface="Calibri"/>
                        </a:rPr>
                        <a:t>PCS </a:t>
                      </a:r>
                      <a:r>
                        <a:rPr lang="en-US" sz="1100" b="1" i="0" u="none" strike="noStrike" dirty="0" smtClean="0">
                          <a:solidFill>
                            <a:srgbClr val="000000"/>
                          </a:solidFill>
                          <a:latin typeface="Calibri"/>
                        </a:rPr>
                        <a:t>Post-Move </a:t>
                      </a:r>
                      <a:r>
                        <a:rPr lang="en-US" sz="1100" b="1" i="0" u="none" strike="noStrike" dirty="0">
                          <a:solidFill>
                            <a:srgbClr val="000000"/>
                          </a:solidFill>
                          <a:latin typeface="Calibri"/>
                        </a:rPr>
                        <a:t>Survey Response Recap</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213360">
                <a:tc>
                  <a:txBody>
                    <a:bodyPr/>
                    <a:lstStyle/>
                    <a:p>
                      <a:pPr algn="ctr" fontAlgn="b"/>
                      <a:r>
                        <a:rPr lang="en-US" sz="1100" b="1" i="0" u="none" strike="noStrike" dirty="0">
                          <a:solidFill>
                            <a:srgbClr val="000000"/>
                          </a:solidFill>
                          <a:latin typeface="Calibri"/>
                        </a:rPr>
                        <a:t>Qtr/Yr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1" i="0" u="none" strike="noStrike" dirty="0">
                          <a:solidFill>
                            <a:srgbClr val="000000"/>
                          </a:solidFill>
                          <a:latin typeface="Calibri"/>
                        </a:rPr>
                        <a:t># Surveyed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1" i="0" u="none" strike="noStrike" dirty="0">
                          <a:solidFill>
                            <a:srgbClr val="000000"/>
                          </a:solidFill>
                          <a:latin typeface="Calibri"/>
                        </a:rPr>
                        <a:t># Responded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1" i="0" u="none" strike="noStrike" dirty="0">
                          <a:solidFill>
                            <a:srgbClr val="000000"/>
                          </a:solidFill>
                          <a:latin typeface="Calibri"/>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mn-lt"/>
                        </a:rPr>
                        <a:t>Q1/2011</a:t>
                      </a:r>
                      <a:endParaRPr lang="en-US" sz="1100" b="0" i="0" u="none" strike="noStrike" dirty="0">
                        <a:solidFill>
                          <a:srgbClr val="000000"/>
                        </a:solidFill>
                        <a:latin typeface="+mn-lt"/>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363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89</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Q2/2011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203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59</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29%</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Q3/2011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251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89</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Q4/2011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280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62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Q1/2012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198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Q2/2012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316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103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Q3/2012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175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66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Q4/2012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bl>
          </a:graphicData>
        </a:graphic>
      </p:graphicFrame>
    </p:spTree>
    <p:extLst>
      <p:ext uri="{BB962C8B-B14F-4D97-AF65-F5344CB8AC3E}">
        <p14:creationId xmlns:p14="http://schemas.microsoft.com/office/powerpoint/2010/main" xmlns="" val="34788159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Date Placeholder 1"/>
          <p:cNvSpPr txBox="1">
            <a:spLocks noGrp="1"/>
          </p:cNvSpPr>
          <p:nvPr/>
        </p:nvSpPr>
        <p:spPr bwMode="auto">
          <a:xfrm>
            <a:off x="446088" y="6292850"/>
            <a:ext cx="3143250" cy="476250"/>
          </a:xfrm>
          <a:prstGeom prst="rect">
            <a:avLst/>
          </a:prstGeom>
          <a:noFill/>
          <a:ln w="9525">
            <a:noFill/>
            <a:miter lim="800000"/>
            <a:headEnd/>
            <a:tailEnd/>
          </a:ln>
        </p:spPr>
        <p:txBody>
          <a:bodyPr/>
          <a:lstStyle/>
          <a:p>
            <a:pPr lvl="0" fontAlgn="auto">
              <a:spcBef>
                <a:spcPts val="0"/>
              </a:spcBef>
              <a:spcAft>
                <a:spcPts val="0"/>
              </a:spcAft>
            </a:pPr>
            <a:r>
              <a:rPr lang="en-US" sz="1200" dirty="0">
                <a:solidFill>
                  <a:prstClr val="black">
                    <a:tint val="75000"/>
                  </a:prstClr>
                </a:solidFill>
                <a:latin typeface="Arial" pitchFamily="34" charset="0"/>
                <a:cs typeface="+mn-cs"/>
              </a:rPr>
              <a:t>SG4 - Data Through </a:t>
            </a:r>
            <a:r>
              <a:rPr lang="en-US" sz="1200" dirty="0" smtClean="0">
                <a:solidFill>
                  <a:prstClr val="black">
                    <a:tint val="75000"/>
                  </a:prstClr>
                </a:solidFill>
                <a:latin typeface="Arial" pitchFamily="34" charset="0"/>
                <a:cs typeface="+mn-cs"/>
              </a:rPr>
              <a:t>August </a:t>
            </a:r>
            <a:r>
              <a:rPr lang="en-US" sz="1200" dirty="0">
                <a:solidFill>
                  <a:prstClr val="black">
                    <a:tint val="75000"/>
                  </a:prstClr>
                </a:solidFill>
                <a:latin typeface="Arial" pitchFamily="34" charset="0"/>
                <a:cs typeface="+mn-cs"/>
              </a:rPr>
              <a:t>2012</a:t>
            </a:r>
          </a:p>
        </p:txBody>
      </p:sp>
      <p:sp>
        <p:nvSpPr>
          <p:cNvPr id="1028" name="Slide Number Placeholder 3"/>
          <p:cNvSpPr txBox="1">
            <a:spLocks noGrp="1"/>
          </p:cNvSpPr>
          <p:nvPr/>
        </p:nvSpPr>
        <p:spPr bwMode="auto">
          <a:xfrm>
            <a:off x="6553200" y="6292850"/>
            <a:ext cx="2133600" cy="476250"/>
          </a:xfrm>
          <a:prstGeom prst="rect">
            <a:avLst/>
          </a:prstGeom>
          <a:noFill/>
          <a:ln w="9525">
            <a:noFill/>
            <a:miter lim="800000"/>
            <a:headEnd/>
            <a:tailEnd/>
          </a:ln>
        </p:spPr>
        <p:txBody>
          <a:bodyPr/>
          <a:lstStyle/>
          <a:p>
            <a:pPr algn="r" eaLnBrk="1" hangingPunct="1"/>
            <a:endParaRPr lang="en-US" sz="1400" dirty="0"/>
          </a:p>
        </p:txBody>
      </p:sp>
      <p:sp>
        <p:nvSpPr>
          <p:cNvPr id="1029" name="Slide Number Placeholder 3"/>
          <p:cNvSpPr txBox="1">
            <a:spLocks noGrp="1"/>
          </p:cNvSpPr>
          <p:nvPr/>
        </p:nvSpPr>
        <p:spPr bwMode="auto">
          <a:xfrm>
            <a:off x="6553200" y="6245225"/>
            <a:ext cx="2133600" cy="476250"/>
          </a:xfrm>
          <a:prstGeom prst="rect">
            <a:avLst/>
          </a:prstGeom>
          <a:noFill/>
          <a:ln w="9525">
            <a:noFill/>
            <a:miter lim="800000"/>
            <a:headEnd/>
            <a:tailEnd/>
          </a:ln>
        </p:spPr>
        <p:txBody>
          <a:bodyPr/>
          <a:lstStyle/>
          <a:p>
            <a:pPr algn="r" eaLnBrk="1" hangingPunct="1"/>
            <a:endParaRPr lang="en-US" sz="1400" dirty="0"/>
          </a:p>
        </p:txBody>
      </p:sp>
      <p:sp>
        <p:nvSpPr>
          <p:cNvPr id="1030" name="Rectangle 2"/>
          <p:cNvSpPr>
            <a:spLocks noChangeArrowheads="1"/>
          </p:cNvSpPr>
          <p:nvPr/>
        </p:nvSpPr>
        <p:spPr bwMode="auto">
          <a:xfrm>
            <a:off x="2971800" y="685800"/>
            <a:ext cx="5888038" cy="1593850"/>
          </a:xfrm>
          <a:prstGeom prst="rect">
            <a:avLst/>
          </a:prstGeom>
          <a:noFill/>
          <a:ln w="9525">
            <a:noFill/>
            <a:miter lim="800000"/>
            <a:headEnd/>
            <a:tailEnd/>
          </a:ln>
        </p:spPr>
        <p:txBody>
          <a:bodyPr anchor="ctr"/>
          <a:lstStyle/>
          <a:p>
            <a:pPr algn="ctr" eaLnBrk="1" hangingPunct="1"/>
            <a:r>
              <a:rPr lang="en-US" sz="2400" dirty="0">
                <a:solidFill>
                  <a:srgbClr val="0000FF"/>
                </a:solidFill>
                <a:latin typeface="Arial Rounded MT Bold" pitchFamily="34" charset="0"/>
              </a:rPr>
              <a:t>Metrics Detail: </a:t>
            </a:r>
            <a:r>
              <a:rPr lang="en-US" sz="2400" dirty="0">
                <a:solidFill>
                  <a:srgbClr val="800000"/>
                </a:solidFill>
                <a:latin typeface="Arial Rounded MT Bold" pitchFamily="34" charset="0"/>
              </a:rPr>
              <a:t>Commercial Interest Penalties Summary</a:t>
            </a:r>
            <a:br>
              <a:rPr lang="en-US" sz="2400" dirty="0">
                <a:solidFill>
                  <a:srgbClr val="800000"/>
                </a:solidFill>
                <a:latin typeface="Arial Rounded MT Bold" pitchFamily="34" charset="0"/>
              </a:rPr>
            </a:br>
            <a:r>
              <a:rPr lang="en-US" sz="1400" b="1" dirty="0" smtClean="0">
                <a:solidFill>
                  <a:schemeClr val="tx2"/>
                </a:solidFill>
              </a:rPr>
              <a:t> </a:t>
            </a:r>
            <a:r>
              <a:rPr lang="en-US" sz="1400" b="1" dirty="0" smtClean="0"/>
              <a:t>FYTD 2012 IPM Performance Betters FY 2012 goal</a:t>
            </a:r>
            <a:r>
              <a:rPr lang="en-US" sz="1400" b="1" dirty="0">
                <a:solidFill>
                  <a:schemeClr val="tx2"/>
                </a:solidFill>
              </a:rPr>
              <a:t/>
            </a:r>
            <a:br>
              <a:rPr lang="en-US" sz="1400" b="1" dirty="0">
                <a:solidFill>
                  <a:schemeClr val="tx2"/>
                </a:solidFill>
              </a:rPr>
            </a:br>
            <a:r>
              <a:rPr lang="en-US" sz="1000" dirty="0">
                <a:solidFill>
                  <a:schemeClr val="tx2"/>
                </a:solidFill>
              </a:rPr>
              <a:t> </a:t>
            </a:r>
            <a:r>
              <a:rPr lang="en-US" sz="1000" dirty="0">
                <a:solidFill>
                  <a:schemeClr val="tx2"/>
                </a:solidFill>
                <a:latin typeface="Arial Rounded MT Bold" pitchFamily="34" charset="0"/>
              </a:rPr>
              <a:t>[Results Data in </a:t>
            </a:r>
            <a:r>
              <a:rPr lang="en-US" sz="1000" dirty="0">
                <a:solidFill>
                  <a:srgbClr val="008000"/>
                </a:solidFill>
                <a:latin typeface="Arial Rounded MT Bold" pitchFamily="34" charset="0"/>
              </a:rPr>
              <a:t>Green</a:t>
            </a:r>
            <a:r>
              <a:rPr lang="en-US" sz="1000" dirty="0">
                <a:solidFill>
                  <a:schemeClr val="tx2"/>
                </a:solidFill>
                <a:latin typeface="Arial Rounded MT Bold" pitchFamily="34" charset="0"/>
              </a:rPr>
              <a:t> = Improvement From Previous Month]</a:t>
            </a:r>
          </a:p>
        </p:txBody>
      </p:sp>
      <p:graphicFrame>
        <p:nvGraphicFramePr>
          <p:cNvPr id="37894" name="Group 6"/>
          <p:cNvGraphicFramePr>
            <a:graphicFrameLocks noGrp="1"/>
          </p:cNvGraphicFramePr>
          <p:nvPr/>
        </p:nvGraphicFramePr>
        <p:xfrm>
          <a:off x="0" y="0"/>
          <a:ext cx="2463800" cy="2165986"/>
        </p:xfrm>
        <a:graphic>
          <a:graphicData uri="http://schemas.openxmlformats.org/drawingml/2006/table">
            <a:tbl>
              <a:tblPr/>
              <a:tblGrid>
                <a:gridCol w="1000125"/>
                <a:gridCol w="1463675"/>
              </a:tblGrid>
              <a:tr h="249238">
                <a:tc gridSpan="2">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Linkages</a:t>
                      </a: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EDD4A1"/>
                    </a:solidFill>
                  </a:tcPr>
                </a:tc>
                <a:tc hMerge="1">
                  <a:txBody>
                    <a:bodyPr/>
                    <a:lstStyle/>
                    <a:p>
                      <a:endParaRPr lang="en-US"/>
                    </a:p>
                  </a:txBody>
                  <a:tcPr/>
                </a:tc>
              </a:tr>
              <a:tr h="180975">
                <a:tc>
                  <a:txBody>
                    <a:body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Org</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OM</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r>
              <a:tr h="180975">
                <a:tc>
                  <a:txBody>
                    <a:body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B/Line</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Enabling</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9075">
                <a:tc>
                  <a:txBody>
                    <a:body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Metric Type</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Performance</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B/Scorecard</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Operations</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Initiative</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N/A</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5113">
                <a:tc>
                  <a:txBody>
                    <a:body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Strategic Goal</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4</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4813">
                <a:tc>
                  <a:txBody>
                    <a:body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Corp Outcome</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66"/>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Improve Management and Support Services Timeliness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and Quality</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FF66"/>
                    </a:solidFill>
                  </a:tcPr>
                </a:tc>
              </a:tr>
            </a:tbl>
          </a:graphicData>
        </a:graphic>
      </p:graphicFrame>
      <p:sp>
        <p:nvSpPr>
          <p:cNvPr id="1055" name="TextBox 7"/>
          <p:cNvSpPr txBox="1">
            <a:spLocks noChangeArrowheads="1"/>
          </p:cNvSpPr>
          <p:nvPr/>
        </p:nvSpPr>
        <p:spPr bwMode="auto">
          <a:xfrm>
            <a:off x="446088" y="5157788"/>
            <a:ext cx="3614737" cy="461962"/>
          </a:xfrm>
          <a:prstGeom prst="rect">
            <a:avLst/>
          </a:prstGeom>
          <a:noFill/>
          <a:ln w="9525">
            <a:noFill/>
            <a:miter lim="800000"/>
            <a:headEnd/>
            <a:tailEnd/>
          </a:ln>
        </p:spPr>
        <p:txBody>
          <a:bodyPr>
            <a:spAutoFit/>
          </a:bodyPr>
          <a:lstStyle/>
          <a:p>
            <a:r>
              <a:rPr lang="en-US" sz="800" dirty="0"/>
              <a:t>  *The monthly, FYTD, and annual goal for this measure is the same.</a:t>
            </a:r>
          </a:p>
          <a:p>
            <a:endParaRPr lang="en-US" sz="800" dirty="0"/>
          </a:p>
          <a:p>
            <a:r>
              <a:rPr lang="en-US" sz="800" dirty="0"/>
              <a:t>**No annual goal for total dollar value interest penalties.</a:t>
            </a:r>
          </a:p>
        </p:txBody>
      </p:sp>
      <p:pic>
        <p:nvPicPr>
          <p:cNvPr id="101378"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9410" y="2590800"/>
            <a:ext cx="9018390" cy="19819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1070403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2"/>
          <p:cNvSpPr>
            <a:spLocks noChangeArrowheads="1"/>
          </p:cNvSpPr>
          <p:nvPr/>
        </p:nvSpPr>
        <p:spPr bwMode="auto">
          <a:xfrm>
            <a:off x="457200" y="228600"/>
            <a:ext cx="8153400" cy="919163"/>
          </a:xfrm>
          <a:prstGeom prst="rect">
            <a:avLst/>
          </a:prstGeom>
          <a:solidFill>
            <a:schemeClr val="bg1">
              <a:lumMod val="50000"/>
            </a:schemeClr>
          </a:solidFill>
          <a:ln w="9525">
            <a:noFill/>
            <a:miter lim="800000"/>
            <a:headEnd/>
            <a:tailEnd/>
          </a:ln>
        </p:spPr>
        <p:txBody>
          <a:bodyPr anchor="ctr"/>
          <a:lstStyle/>
          <a:p>
            <a:pPr algn="ctr" eaLnBrk="1" hangingPunct="1"/>
            <a:r>
              <a:rPr lang="en-US" sz="2400" b="1" dirty="0">
                <a:solidFill>
                  <a:schemeClr val="bg1"/>
                </a:solidFill>
                <a:latin typeface="Tahoma" pitchFamily="34" charset="0"/>
              </a:rPr>
              <a:t>FY </a:t>
            </a:r>
            <a:r>
              <a:rPr lang="en-US" sz="2400" b="1" dirty="0" smtClean="0">
                <a:solidFill>
                  <a:schemeClr val="bg1"/>
                </a:solidFill>
                <a:latin typeface="Tahoma" pitchFamily="34" charset="0"/>
              </a:rPr>
              <a:t>2012 </a:t>
            </a:r>
            <a:r>
              <a:rPr lang="en-US" sz="2400" b="1" dirty="0">
                <a:solidFill>
                  <a:schemeClr val="bg1"/>
                </a:solidFill>
                <a:latin typeface="Tahoma" pitchFamily="34" charset="0"/>
              </a:rPr>
              <a:t>Interest per $Million</a:t>
            </a:r>
            <a:r>
              <a:rPr lang="en-US" b="1" dirty="0">
                <a:solidFill>
                  <a:schemeClr val="bg1"/>
                </a:solidFill>
                <a:latin typeface="Tahoma" pitchFamily="34" charset="0"/>
              </a:rPr>
              <a:t/>
            </a:r>
            <a:br>
              <a:rPr lang="en-US" b="1" dirty="0">
                <a:solidFill>
                  <a:schemeClr val="bg1"/>
                </a:solidFill>
                <a:latin typeface="Tahoma" pitchFamily="34" charset="0"/>
              </a:rPr>
            </a:br>
            <a:r>
              <a:rPr lang="en-US" dirty="0">
                <a:solidFill>
                  <a:schemeClr val="bg1"/>
                </a:solidFill>
                <a:latin typeface="Tahoma" pitchFamily="34" charset="0"/>
              </a:rPr>
              <a:t>Commercial Payments</a:t>
            </a:r>
          </a:p>
        </p:txBody>
      </p:sp>
      <p:sp>
        <p:nvSpPr>
          <p:cNvPr id="9222" name="Text Box 7"/>
          <p:cNvSpPr txBox="1">
            <a:spLocks noChangeArrowheads="1"/>
          </p:cNvSpPr>
          <p:nvPr/>
        </p:nvSpPr>
        <p:spPr bwMode="auto">
          <a:xfrm>
            <a:off x="457199" y="5694363"/>
            <a:ext cx="8115301" cy="769441"/>
          </a:xfrm>
          <a:prstGeom prst="rect">
            <a:avLst/>
          </a:prstGeom>
          <a:solidFill>
            <a:srgbClr val="FFFFCC"/>
          </a:solidFill>
          <a:ln w="12700" algn="ctr">
            <a:solidFill>
              <a:schemeClr val="tx1"/>
            </a:solidFill>
            <a:miter lim="800000"/>
            <a:headEnd/>
            <a:tailEnd/>
          </a:ln>
        </p:spPr>
        <p:txBody>
          <a:bodyPr wrap="square">
            <a:spAutoFit/>
          </a:bodyPr>
          <a:lstStyle/>
          <a:p>
            <a:r>
              <a:rPr lang="en-US" sz="1100" b="1" dirty="0"/>
              <a:t>Bottom Line: </a:t>
            </a:r>
          </a:p>
          <a:p>
            <a:pPr>
              <a:buFont typeface="Arial" charset="0"/>
              <a:buChar char="•"/>
            </a:pPr>
            <a:r>
              <a:rPr lang="en-US" sz="1100" b="1" dirty="0"/>
              <a:t> </a:t>
            </a:r>
            <a:r>
              <a:rPr lang="en-US" sz="1100" dirty="0" smtClean="0"/>
              <a:t>VA Commercial Payments Interest Per Million (IPM) decreased from $12 in July to $10 for August bettering the VA Goal.  Also, FYTD 2012 performance represents </a:t>
            </a:r>
            <a:r>
              <a:rPr lang="en-US" sz="1100" dirty="0"/>
              <a:t>a </a:t>
            </a:r>
            <a:r>
              <a:rPr lang="en-US" sz="1100" dirty="0" smtClean="0"/>
              <a:t>37 percent improvement over the same period in FY 2011. </a:t>
            </a:r>
          </a:p>
          <a:p>
            <a:pPr>
              <a:buFont typeface="Arial" charset="0"/>
              <a:buChar char="•"/>
            </a:pPr>
            <a:endParaRPr lang="en-US" sz="1100" dirty="0"/>
          </a:p>
        </p:txBody>
      </p:sp>
      <p:pic>
        <p:nvPicPr>
          <p:cNvPr id="102402"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24000" y="1217818"/>
            <a:ext cx="6172200" cy="44765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755370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81025" y="400050"/>
            <a:ext cx="7962900" cy="5626156"/>
          </a:xfrm>
          <a:prstGeom prst="rect">
            <a:avLst/>
          </a:prstGeom>
        </p:spPr>
        <p:txBody>
          <a:bodyPr>
            <a:spAutoFit/>
          </a:bodyPr>
          <a:lstStyle/>
          <a:p>
            <a:pPr eaLnBrk="1" hangingPunct="1">
              <a:defRPr/>
            </a:pPr>
            <a:r>
              <a:rPr lang="en-US" sz="1400" b="1" i="1" dirty="0" smtClean="0">
                <a:latin typeface="Arial Narrow" pitchFamily="34" charset="0"/>
                <a:cs typeface="Arial" pitchFamily="34" charset="0"/>
              </a:rPr>
              <a:t>Note:  </a:t>
            </a:r>
            <a:r>
              <a:rPr lang="en-US" sz="1400" i="1" dirty="0" smtClean="0">
                <a:latin typeface="Arial Narrow" pitchFamily="34" charset="0"/>
                <a:cs typeface="Arial" pitchFamily="34" charset="0"/>
              </a:rPr>
              <a:t>The FY 2012  </a:t>
            </a:r>
            <a:r>
              <a:rPr lang="en-US" sz="1400" b="1" i="1" u="sng" dirty="0" smtClean="0">
                <a:latin typeface="Arial Narrow" pitchFamily="34" charset="0"/>
                <a:cs typeface="Arial" pitchFamily="34" charset="0"/>
              </a:rPr>
              <a:t>interest per million dollars disbursed goal  $20 </a:t>
            </a:r>
            <a:r>
              <a:rPr lang="en-US" sz="1400" i="1" dirty="0" smtClean="0">
                <a:latin typeface="Arial Narrow" pitchFamily="34" charset="0"/>
                <a:cs typeface="Arial" pitchFamily="34" charset="0"/>
              </a:rPr>
              <a:t>for commercial payments subject to Prompt Pay Act (PPA) </a:t>
            </a:r>
            <a:r>
              <a:rPr lang="en-US" sz="1400" b="1" i="1" u="sng" dirty="0" smtClean="0">
                <a:latin typeface="Arial Narrow" pitchFamily="34" charset="0"/>
                <a:cs typeface="Arial" pitchFamily="34" charset="0"/>
              </a:rPr>
              <a:t>reflects a 5 percent improvement </a:t>
            </a:r>
            <a:r>
              <a:rPr lang="en-US" sz="1400" i="1" dirty="0" smtClean="0">
                <a:latin typeface="Arial Narrow" pitchFamily="34" charset="0"/>
                <a:cs typeface="Arial" pitchFamily="34" charset="0"/>
              </a:rPr>
              <a:t>over the FY 2011 actual performance level.</a:t>
            </a:r>
          </a:p>
          <a:p>
            <a:pPr eaLnBrk="1" hangingPunct="1">
              <a:defRPr/>
            </a:pPr>
            <a:endParaRPr lang="en-US" sz="1400" i="1" dirty="0" smtClean="0">
              <a:latin typeface="Arial Narrow" pitchFamily="34" charset="0"/>
              <a:cs typeface="Arial" pitchFamily="34" charset="0"/>
            </a:endParaRPr>
          </a:p>
          <a:p>
            <a:pPr marL="456379" indent="-456379" eaLnBrk="1" hangingPunct="1">
              <a:lnSpc>
                <a:spcPct val="80000"/>
              </a:lnSpc>
              <a:defRPr/>
            </a:pPr>
            <a:endParaRPr lang="en-US" sz="1200" b="1" dirty="0" smtClean="0">
              <a:latin typeface="Arial Narrow" pitchFamily="34" charset="0"/>
              <a:cs typeface="Arial" charset="0"/>
            </a:endParaRPr>
          </a:p>
          <a:p>
            <a:pPr>
              <a:lnSpc>
                <a:spcPct val="80000"/>
              </a:lnSpc>
              <a:defRPr/>
            </a:pPr>
            <a:r>
              <a:rPr lang="en-US" sz="1400" b="1" dirty="0" smtClean="0">
                <a:latin typeface="Arial Narrow" pitchFamily="34" charset="0"/>
                <a:cs typeface="Arial" pitchFamily="34" charset="0"/>
              </a:rPr>
              <a:t>August Highlights</a:t>
            </a:r>
            <a:r>
              <a:rPr lang="en-US" sz="1400" dirty="0">
                <a:latin typeface="Arial Narrow" pitchFamily="34" charset="0"/>
                <a:cs typeface="Arial" pitchFamily="34" charset="0"/>
              </a:rPr>
              <a:t>:</a:t>
            </a:r>
          </a:p>
          <a:p>
            <a:pPr>
              <a:lnSpc>
                <a:spcPct val="80000"/>
              </a:lnSpc>
              <a:defRPr/>
            </a:pPr>
            <a:endParaRPr lang="en-US" sz="1400" dirty="0">
              <a:latin typeface="Arial Narrow" pitchFamily="34" charset="0"/>
              <a:cs typeface="Arial" pitchFamily="34" charset="0"/>
            </a:endParaRPr>
          </a:p>
          <a:p>
            <a:pPr marL="182804" indent="-182804" eaLnBrk="1" hangingPunct="1">
              <a:lnSpc>
                <a:spcPct val="80000"/>
              </a:lnSpc>
              <a:buFontTx/>
              <a:buChar char="•"/>
              <a:defRPr/>
            </a:pPr>
            <a:r>
              <a:rPr lang="en-US" sz="1400" dirty="0">
                <a:latin typeface="Arial Narrow" pitchFamily="34" charset="0"/>
                <a:cs typeface="Arial" charset="0"/>
              </a:rPr>
              <a:t>VA Commercial Interest Per Million (IPM) </a:t>
            </a:r>
            <a:r>
              <a:rPr lang="en-US" sz="1400" dirty="0" smtClean="0">
                <a:latin typeface="Arial Narrow" pitchFamily="34" charset="0"/>
              </a:rPr>
              <a:t>decreased from </a:t>
            </a:r>
            <a:r>
              <a:rPr lang="en-US" sz="1400" dirty="0" smtClean="0">
                <a:latin typeface="Arial Narrow" pitchFamily="34" charset="0"/>
                <a:cs typeface="Arial" charset="0"/>
              </a:rPr>
              <a:t>$12 in July to $10 for August.  However, the FYTD 2012 IPM level of $14 is </a:t>
            </a:r>
            <a:r>
              <a:rPr lang="en-US" sz="1400" dirty="0" smtClean="0">
                <a:latin typeface="Arial Narrow" pitchFamily="34" charset="0"/>
              </a:rPr>
              <a:t>37</a:t>
            </a:r>
            <a:r>
              <a:rPr lang="en-US" sz="1400" dirty="0" smtClean="0">
                <a:latin typeface="Arial Narrow" pitchFamily="34" charset="0"/>
                <a:cs typeface="Arial" charset="0"/>
              </a:rPr>
              <a:t> percent better than the FYTD 2011 performance level ($21) for the same period</a:t>
            </a:r>
          </a:p>
          <a:p>
            <a:pPr marL="182804" indent="-182804" eaLnBrk="1" hangingPunct="1">
              <a:lnSpc>
                <a:spcPct val="80000"/>
              </a:lnSpc>
              <a:defRPr/>
            </a:pPr>
            <a:endParaRPr lang="en-US" sz="1400" dirty="0" smtClean="0">
              <a:latin typeface="Arial Narrow" pitchFamily="34" charset="0"/>
              <a:cs typeface="Arial" charset="0"/>
            </a:endParaRPr>
          </a:p>
          <a:p>
            <a:pPr lvl="1" indent="-182880">
              <a:lnSpc>
                <a:spcPct val="80000"/>
              </a:lnSpc>
              <a:buFontTx/>
              <a:buChar char="•"/>
              <a:defRPr/>
            </a:pPr>
            <a:r>
              <a:rPr lang="en-US" sz="1400" dirty="0" smtClean="0">
                <a:latin typeface="Arial Narrow" pitchFamily="34" charset="0"/>
                <a:cs typeface="Arial" charset="0"/>
              </a:rPr>
              <a:t>IPM on FSC processed commercial payments </a:t>
            </a:r>
            <a:r>
              <a:rPr lang="en-US" sz="1400" dirty="0" smtClean="0">
                <a:latin typeface="Arial Narrow" pitchFamily="34" charset="0"/>
              </a:rPr>
              <a:t>decreased </a:t>
            </a:r>
            <a:r>
              <a:rPr lang="en-US" sz="1400" dirty="0" smtClean="0">
                <a:latin typeface="Arial Narrow" pitchFamily="34" charset="0"/>
                <a:cs typeface="Arial" charset="0"/>
              </a:rPr>
              <a:t>from $11 in July to $10 in August.  However, FSC’s </a:t>
            </a:r>
            <a:r>
              <a:rPr lang="en-US" sz="1400" dirty="0" smtClean="0">
                <a:latin typeface="Arial Narrow" pitchFamily="34" charset="0"/>
              </a:rPr>
              <a:t>FYTD 2012 IPM level of $13 is 31 percent better than the FYTD 2011 performance level ($19)</a:t>
            </a:r>
          </a:p>
          <a:p>
            <a:pPr lvl="1" indent="-182880">
              <a:lnSpc>
                <a:spcPct val="80000"/>
              </a:lnSpc>
              <a:buFontTx/>
              <a:buChar char="•"/>
              <a:defRPr/>
            </a:pPr>
            <a:endParaRPr lang="en-US" sz="1400" dirty="0">
              <a:latin typeface="Arial Narrow" pitchFamily="34" charset="0"/>
            </a:endParaRPr>
          </a:p>
          <a:p>
            <a:pPr lvl="1" indent="-182880">
              <a:lnSpc>
                <a:spcPct val="80000"/>
              </a:lnSpc>
              <a:buFontTx/>
              <a:buChar char="•"/>
              <a:defRPr/>
            </a:pPr>
            <a:endParaRPr lang="en-US" sz="1400" dirty="0" smtClean="0">
              <a:latin typeface="Arial Narrow" pitchFamily="34" charset="0"/>
            </a:endParaRPr>
          </a:p>
          <a:p>
            <a:pPr marL="0" lvl="1">
              <a:lnSpc>
                <a:spcPct val="80000"/>
              </a:lnSpc>
              <a:defRPr/>
            </a:pPr>
            <a:r>
              <a:rPr lang="en-US" sz="1400" b="1" dirty="0" smtClean="0">
                <a:latin typeface="Arial Narrow" pitchFamily="34" charset="0"/>
              </a:rPr>
              <a:t>Supplemental Information:</a:t>
            </a:r>
          </a:p>
          <a:p>
            <a:pPr marL="182804" indent="-182804" eaLnBrk="1" hangingPunct="1">
              <a:lnSpc>
                <a:spcPct val="80000"/>
              </a:lnSpc>
              <a:defRPr/>
            </a:pPr>
            <a:endParaRPr lang="en-US" sz="1400" dirty="0" smtClean="0">
              <a:latin typeface="Arial Narrow" pitchFamily="34" charset="0"/>
              <a:cs typeface="Arial" charset="0"/>
            </a:endParaRPr>
          </a:p>
          <a:p>
            <a:pPr marL="182804" indent="-182804" eaLnBrk="1" hangingPunct="1">
              <a:lnSpc>
                <a:spcPct val="80000"/>
              </a:lnSpc>
              <a:buFontTx/>
              <a:buChar char="•"/>
              <a:defRPr/>
            </a:pPr>
            <a:r>
              <a:rPr lang="en-US" sz="1400" dirty="0" smtClean="0">
                <a:latin typeface="Arial Narrow" pitchFamily="34" charset="0"/>
                <a:cs typeface="Arial" charset="0"/>
              </a:rPr>
              <a:t>VA’s </a:t>
            </a:r>
            <a:r>
              <a:rPr lang="en-US" sz="1400" dirty="0">
                <a:latin typeface="Arial Narrow" pitchFamily="34" charset="0"/>
                <a:cs typeface="Arial" charset="0"/>
              </a:rPr>
              <a:t>overall IPM level </a:t>
            </a:r>
            <a:r>
              <a:rPr lang="en-US" sz="1400" dirty="0" smtClean="0">
                <a:latin typeface="Arial Narrow" pitchFamily="34" charset="0"/>
              </a:rPr>
              <a:t>decreased </a:t>
            </a:r>
            <a:r>
              <a:rPr lang="en-US" sz="1400" dirty="0" smtClean="0">
                <a:latin typeface="Arial Narrow" pitchFamily="34" charset="0"/>
                <a:cs typeface="Arial" charset="0"/>
              </a:rPr>
              <a:t>from </a:t>
            </a:r>
            <a:r>
              <a:rPr lang="en-US" sz="1400" dirty="0" smtClean="0">
                <a:latin typeface="Arial Narrow" pitchFamily="34" charset="0"/>
              </a:rPr>
              <a:t>$32 in July to $29 in August.</a:t>
            </a:r>
            <a:r>
              <a:rPr lang="en-US" sz="1400" dirty="0" smtClean="0">
                <a:latin typeface="Arial Narrow" pitchFamily="34" charset="0"/>
                <a:cs typeface="Arial" charset="0"/>
              </a:rPr>
              <a:t>  Additionally, VA’s FYTD 2012 IPM level ($40</a:t>
            </a:r>
            <a:r>
              <a:rPr lang="en-US" sz="1400" dirty="0" smtClean="0">
                <a:latin typeface="Arial Narrow" pitchFamily="34" charset="0"/>
              </a:rPr>
              <a:t>) is 13 </a:t>
            </a:r>
            <a:r>
              <a:rPr lang="en-US" sz="1400" dirty="0">
                <a:latin typeface="Arial Narrow" pitchFamily="34" charset="0"/>
              </a:rPr>
              <a:t>percent </a:t>
            </a:r>
            <a:r>
              <a:rPr lang="en-US" sz="1400" dirty="0" smtClean="0">
                <a:latin typeface="Arial Narrow" pitchFamily="34" charset="0"/>
              </a:rPr>
              <a:t> lower </a:t>
            </a:r>
            <a:r>
              <a:rPr lang="en-US" sz="1400" dirty="0">
                <a:latin typeface="Arial Narrow" pitchFamily="34" charset="0"/>
              </a:rPr>
              <a:t>than </a:t>
            </a:r>
            <a:r>
              <a:rPr lang="en-US" sz="1400" dirty="0" smtClean="0">
                <a:latin typeface="Arial Narrow" pitchFamily="34" charset="0"/>
              </a:rPr>
              <a:t>the FYTD </a:t>
            </a:r>
            <a:r>
              <a:rPr lang="en-US" sz="1400" dirty="0">
                <a:latin typeface="Arial Narrow" pitchFamily="34" charset="0"/>
              </a:rPr>
              <a:t>2011 performance level </a:t>
            </a:r>
            <a:r>
              <a:rPr lang="en-US" sz="1400" dirty="0" smtClean="0">
                <a:latin typeface="Arial Narrow" pitchFamily="34" charset="0"/>
              </a:rPr>
              <a:t>($46)</a:t>
            </a:r>
            <a:endParaRPr lang="en-US" sz="1400" dirty="0" smtClean="0">
              <a:latin typeface="Arial Narrow" pitchFamily="34" charset="0"/>
              <a:cs typeface="Arial" charset="0"/>
            </a:endParaRPr>
          </a:p>
          <a:p>
            <a:pPr marL="182804" indent="-182804" eaLnBrk="1" hangingPunct="1">
              <a:lnSpc>
                <a:spcPct val="80000"/>
              </a:lnSpc>
              <a:defRPr/>
            </a:pPr>
            <a:endParaRPr lang="en-US" sz="1400" dirty="0">
              <a:solidFill>
                <a:srgbClr val="FF0000"/>
              </a:solidFill>
              <a:latin typeface="Arial Narrow" pitchFamily="34" charset="0"/>
              <a:cs typeface="Arial" charset="0"/>
            </a:endParaRPr>
          </a:p>
          <a:p>
            <a:pPr lvl="1" indent="-182880">
              <a:lnSpc>
                <a:spcPct val="80000"/>
              </a:lnSpc>
              <a:buFontTx/>
              <a:buChar char="•"/>
              <a:defRPr/>
            </a:pPr>
            <a:r>
              <a:rPr lang="en-US" sz="1400" dirty="0" smtClean="0">
                <a:latin typeface="Arial Narrow" pitchFamily="34" charset="0"/>
              </a:rPr>
              <a:t>IPM on Fee Basis payments decreased from $222 in July to $218 in August.  Additionally, the July 2012 IPM level is 34 percent lower than the August 2011 performance level ($339)</a:t>
            </a:r>
          </a:p>
          <a:p>
            <a:pPr lvl="2" indent="-182880">
              <a:lnSpc>
                <a:spcPct val="80000"/>
              </a:lnSpc>
              <a:buFontTx/>
              <a:buChar char="•"/>
              <a:defRPr/>
            </a:pPr>
            <a:r>
              <a:rPr lang="en-US" sz="1400" dirty="0" smtClean="0">
                <a:latin typeface="Arial Narrow" pitchFamily="34" charset="0"/>
              </a:rPr>
              <a:t>Seven stations paid $20.7K in Fee Basis interest penalties (64 percent of Fee Basis interest for August).  The stations were</a:t>
            </a:r>
            <a:r>
              <a:rPr lang="en-US" sz="1400" dirty="0">
                <a:latin typeface="Arial Narrow" pitchFamily="34" charset="0"/>
              </a:rPr>
              <a:t>: </a:t>
            </a:r>
            <a:r>
              <a:rPr lang="en-US" sz="1400" dirty="0" err="1" smtClean="0">
                <a:latin typeface="Arial Narrow" pitchFamily="34" charset="0"/>
              </a:rPr>
              <a:t>Harlingen,TX</a:t>
            </a:r>
            <a:r>
              <a:rPr lang="en-US" sz="1400" dirty="0" smtClean="0">
                <a:latin typeface="Arial Narrow" pitchFamily="34" charset="0"/>
              </a:rPr>
              <a:t> , 671 San Antonio, TX, Atlanta, GA, Cleveland, OH, Canandaigua, NY, Boise, ID, and Los Angeles, CA.</a:t>
            </a:r>
          </a:p>
          <a:p>
            <a:pPr>
              <a:lnSpc>
                <a:spcPct val="80000"/>
              </a:lnSpc>
              <a:defRPr/>
            </a:pPr>
            <a:endParaRPr lang="en-US" sz="1200" dirty="0">
              <a:latin typeface="Arial Narrow" pitchFamily="34" charset="0"/>
            </a:endParaRPr>
          </a:p>
          <a:p>
            <a:pPr>
              <a:lnSpc>
                <a:spcPct val="80000"/>
              </a:lnSpc>
              <a:defRPr/>
            </a:pPr>
            <a:r>
              <a:rPr lang="en-US" sz="1200" dirty="0" smtClean="0"/>
              <a:t>Last </a:t>
            </a:r>
            <a:r>
              <a:rPr lang="en-US" sz="1200" dirty="0"/>
              <a:t>12 Months:</a:t>
            </a:r>
          </a:p>
          <a:p>
            <a:pPr eaLnBrk="1" hangingPunct="1">
              <a:buFontTx/>
              <a:buChar char="•"/>
              <a:defRPr/>
            </a:pPr>
            <a:r>
              <a:rPr lang="en-US" sz="1200" dirty="0"/>
              <a:t>Commercial Interest </a:t>
            </a:r>
            <a:r>
              <a:rPr lang="en-US" sz="1200" dirty="0" smtClean="0"/>
              <a:t>$196K</a:t>
            </a:r>
            <a:endParaRPr lang="en-US" sz="1200" dirty="0"/>
          </a:p>
          <a:p>
            <a:pPr eaLnBrk="1" hangingPunct="1">
              <a:buFontTx/>
              <a:buChar char="•"/>
              <a:defRPr/>
            </a:pPr>
            <a:r>
              <a:rPr lang="en-US" sz="1200" dirty="0"/>
              <a:t>Commercial PPA Principal Amount </a:t>
            </a:r>
            <a:r>
              <a:rPr lang="en-US" sz="1200" dirty="0" smtClean="0"/>
              <a:t>$14.4B</a:t>
            </a:r>
          </a:p>
          <a:p>
            <a:pPr eaLnBrk="1" hangingPunct="1">
              <a:defRPr/>
            </a:pPr>
            <a:endParaRPr lang="en-US" sz="1200" dirty="0" smtClean="0"/>
          </a:p>
          <a:p>
            <a:pPr marL="457014" indent="-457014" eaLnBrk="1" hangingPunct="1">
              <a:defRPr/>
            </a:pPr>
            <a:endParaRPr lang="en-US" sz="1000" b="1" dirty="0">
              <a:latin typeface="Arial Narrow" pitchFamily="34" charset="0"/>
            </a:endParaRPr>
          </a:p>
          <a:p>
            <a:pPr marL="457014" indent="-457014" eaLnBrk="1" hangingPunct="1">
              <a:defRPr/>
            </a:pPr>
            <a:r>
              <a:rPr lang="en-US" sz="1000" b="1" dirty="0">
                <a:latin typeface="Arial Narrow" pitchFamily="34" charset="0"/>
              </a:rPr>
              <a:t>Prepared by:</a:t>
            </a:r>
            <a:r>
              <a:rPr lang="en-US" sz="1000" dirty="0">
                <a:latin typeface="Arial Narrow" pitchFamily="34" charset="0"/>
              </a:rPr>
              <a:t>  </a:t>
            </a:r>
            <a:r>
              <a:rPr lang="en-US" sz="1000" dirty="0" smtClean="0">
                <a:latin typeface="Arial Narrow" pitchFamily="34" charset="0"/>
              </a:rPr>
              <a:t>Kevin Miers, Systems &amp; Procedures Analyst, </a:t>
            </a:r>
            <a:r>
              <a:rPr lang="en-US" sz="1000" dirty="0">
                <a:latin typeface="Arial Narrow" pitchFamily="34" charset="0"/>
              </a:rPr>
              <a:t>VA Financial Services Center, </a:t>
            </a:r>
            <a:r>
              <a:rPr lang="en-US" sz="1000" dirty="0" smtClean="0">
                <a:latin typeface="Arial Narrow" pitchFamily="34" charset="0"/>
                <a:hlinkClick r:id="rId2"/>
              </a:rPr>
              <a:t>Kevin.Miers@va.gov</a:t>
            </a:r>
            <a:r>
              <a:rPr lang="en-US" sz="1000" dirty="0" smtClean="0">
                <a:latin typeface="Arial Narrow" pitchFamily="34" charset="0"/>
              </a:rPr>
              <a:t> </a:t>
            </a:r>
            <a:endParaRPr lang="en-US" sz="1000" dirty="0">
              <a:latin typeface="Arial Narrow" pitchFamily="34" charset="0"/>
            </a:endParaRPr>
          </a:p>
          <a:p>
            <a:pPr marL="457014" indent="-457014" eaLnBrk="1" hangingPunct="1">
              <a:defRPr/>
            </a:pPr>
            <a:r>
              <a:rPr lang="en-US" sz="1000" b="1" dirty="0">
                <a:latin typeface="Arial Narrow" pitchFamily="34" charset="0"/>
              </a:rPr>
              <a:t>Approved by:</a:t>
            </a:r>
            <a:r>
              <a:rPr lang="en-US" sz="1000" dirty="0">
                <a:latin typeface="Arial Narrow" pitchFamily="34" charset="0"/>
              </a:rPr>
              <a:t>  </a:t>
            </a:r>
            <a:r>
              <a:rPr lang="en-US" sz="1000" dirty="0" smtClean="0">
                <a:latin typeface="Arial Narrow" pitchFamily="34" charset="0"/>
              </a:rPr>
              <a:t>Robert Adams, Deputy Director, VA Financial Services Center, (512) 460-5002</a:t>
            </a:r>
            <a:endParaRPr lang="en-US" sz="1000" dirty="0">
              <a:latin typeface="Arial Narrow" pitchFamily="34" charset="0"/>
            </a:endParaRPr>
          </a:p>
          <a:p>
            <a:pPr marL="457014" indent="-457014" eaLnBrk="1" hangingPunct="1">
              <a:defRPr/>
            </a:pPr>
            <a:r>
              <a:rPr lang="en-US" sz="1000" b="1" dirty="0">
                <a:latin typeface="Arial Narrow" pitchFamily="34" charset="0"/>
              </a:rPr>
              <a:t>Version Date:</a:t>
            </a:r>
            <a:r>
              <a:rPr lang="en-US" sz="1000" dirty="0">
                <a:latin typeface="Arial Narrow" pitchFamily="34" charset="0"/>
              </a:rPr>
              <a:t> </a:t>
            </a:r>
            <a:r>
              <a:rPr lang="en-US" sz="1000" dirty="0" smtClean="0">
                <a:latin typeface="Arial Narrow" pitchFamily="34" charset="0"/>
              </a:rPr>
              <a:t>September 11, 2012</a:t>
            </a:r>
            <a:endParaRPr lang="en-US" sz="1000" dirty="0">
              <a:latin typeface="Arial Narrow" pitchFamily="34" charset="0"/>
            </a:endParaRPr>
          </a:p>
        </p:txBody>
      </p:sp>
    </p:spTree>
    <p:extLst>
      <p:ext uri="{BB962C8B-B14F-4D97-AF65-F5344CB8AC3E}">
        <p14:creationId xmlns:p14="http://schemas.microsoft.com/office/powerpoint/2010/main" xmlns="" val="407271253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136072</TotalTime>
  <Words>1513</Words>
  <Application>Microsoft Office PowerPoint</Application>
  <PresentationFormat>On-screen Show (4:3)</PresentationFormat>
  <Paragraphs>352</Paragraphs>
  <Slides>13</Slides>
  <Notes>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5" baseType="lpstr">
      <vt:lpstr>Office Theme</vt:lpstr>
      <vt:lpstr>Worksheet</vt:lpstr>
      <vt:lpstr>Slide 1</vt:lpstr>
      <vt:lpstr>Slide F  Training Status of Project Managers Assigned to Major Initiatives</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Department of Veterans Affairs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John D Gardner</dc:creator>
  <cp:lastModifiedBy>EIE Desktop Technologies</cp:lastModifiedBy>
  <cp:revision>546</cp:revision>
  <cp:lastPrinted>2012-09-07T15:17:07Z</cp:lastPrinted>
  <dcterms:created xsi:type="dcterms:W3CDTF">2011-01-25T19:25:14Z</dcterms:created>
  <dcterms:modified xsi:type="dcterms:W3CDTF">2012-09-17T15:09:01Z</dcterms:modified>
</cp:coreProperties>
</file>