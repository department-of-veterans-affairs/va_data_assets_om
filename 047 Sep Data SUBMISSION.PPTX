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xls" ContentType="application/vnd.ms-exce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commentAuthors.xml" ContentType="application/vnd.openxmlformats-officedocument.presentationml.commentAuthors+xml"/>
  <Override PartName="/ppt/slideLayouts/slideLayout10.xml" ContentType="application/vnd.openxmlformats-officedocument.presentationml.slideLayout+xml"/>
  <Default Extension="vml" ContentType="application/vnd.openxmlformats-officedocument.vmlDrawing"/>
  <Override PartName="/ppt/notesSlides/notesSlide6.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handoutMasterIdLst>
    <p:handoutMasterId r:id="rId13"/>
  </p:handoutMasterIdLst>
  <p:sldIdLst>
    <p:sldId id="340" r:id="rId2"/>
    <p:sldId id="341" r:id="rId3"/>
    <p:sldId id="308" r:id="rId4"/>
    <p:sldId id="271" r:id="rId5"/>
    <p:sldId id="334" r:id="rId6"/>
    <p:sldId id="336" r:id="rId7"/>
    <p:sldId id="338" r:id="rId8"/>
    <p:sldId id="339" r:id="rId9"/>
    <p:sldId id="331" r:id="rId10"/>
    <p:sldId id="332" r:id="rId11"/>
  </p:sldIdLst>
  <p:sldSz cx="9144000" cy="6858000" type="screen4x3"/>
  <p:notesSz cx="6997700" cy="92837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hn D Gardner" initials="" lastIdx="7" clrIdx="0"/>
  <p:cmAuthor id="1" name="EIE Desktop Technologies" initials="EDT"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00CC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32" autoAdjust="0"/>
    <p:restoredTop sz="99229" autoAdjust="0"/>
  </p:normalViewPr>
  <p:slideViewPr>
    <p:cSldViewPr>
      <p:cViewPr>
        <p:scale>
          <a:sx n="100" d="100"/>
          <a:sy n="100" d="100"/>
        </p:scale>
        <p:origin x="-7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2971" cy="464503"/>
          </a:xfrm>
          <a:prstGeom prst="rect">
            <a:avLst/>
          </a:prstGeom>
        </p:spPr>
        <p:txBody>
          <a:bodyPr vert="horz" lIns="91285" tIns="45642" rIns="91285" bIns="45642" rtlCol="0"/>
          <a:lstStyle>
            <a:lvl1pPr algn="l">
              <a:defRPr sz="1200"/>
            </a:lvl1pPr>
          </a:lstStyle>
          <a:p>
            <a:endParaRPr lang="en-US" dirty="0"/>
          </a:p>
        </p:txBody>
      </p:sp>
      <p:sp>
        <p:nvSpPr>
          <p:cNvPr id="3" name="Date Placeholder 2"/>
          <p:cNvSpPr>
            <a:spLocks noGrp="1"/>
          </p:cNvSpPr>
          <p:nvPr>
            <p:ph type="dt" sz="quarter" idx="1"/>
          </p:nvPr>
        </p:nvSpPr>
        <p:spPr>
          <a:xfrm>
            <a:off x="3963147" y="1"/>
            <a:ext cx="3032971" cy="464503"/>
          </a:xfrm>
          <a:prstGeom prst="rect">
            <a:avLst/>
          </a:prstGeom>
        </p:spPr>
        <p:txBody>
          <a:bodyPr vert="horz" lIns="91285" tIns="45642" rIns="91285" bIns="45642" rtlCol="0"/>
          <a:lstStyle>
            <a:lvl1pPr algn="r">
              <a:defRPr sz="1200"/>
            </a:lvl1pPr>
          </a:lstStyle>
          <a:p>
            <a:fld id="{6F9EC5CB-E02C-4104-B359-1DA73B213AE1}" type="datetimeFigureOut">
              <a:rPr lang="en-US" smtClean="0"/>
              <a:pPr/>
              <a:t>10/15/2012</a:t>
            </a:fld>
            <a:endParaRPr lang="en-US" dirty="0"/>
          </a:p>
        </p:txBody>
      </p:sp>
      <p:sp>
        <p:nvSpPr>
          <p:cNvPr id="4" name="Footer Placeholder 3"/>
          <p:cNvSpPr>
            <a:spLocks noGrp="1"/>
          </p:cNvSpPr>
          <p:nvPr>
            <p:ph type="ftr" sz="quarter" idx="2"/>
          </p:nvPr>
        </p:nvSpPr>
        <p:spPr>
          <a:xfrm>
            <a:off x="1" y="8817612"/>
            <a:ext cx="3032971" cy="464503"/>
          </a:xfrm>
          <a:prstGeom prst="rect">
            <a:avLst/>
          </a:prstGeom>
        </p:spPr>
        <p:txBody>
          <a:bodyPr vert="horz" lIns="91285" tIns="45642" rIns="91285" bIns="45642"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63147" y="8817612"/>
            <a:ext cx="3032971" cy="464503"/>
          </a:xfrm>
          <a:prstGeom prst="rect">
            <a:avLst/>
          </a:prstGeom>
        </p:spPr>
        <p:txBody>
          <a:bodyPr vert="horz" lIns="91285" tIns="45642" rIns="91285" bIns="45642" rtlCol="0" anchor="b"/>
          <a:lstStyle>
            <a:lvl1pPr algn="r">
              <a:defRPr sz="1200"/>
            </a:lvl1pPr>
          </a:lstStyle>
          <a:p>
            <a:fld id="{8EA5F596-A565-47D9-8E82-97FA1716913F}" type="slidenum">
              <a:rPr lang="en-US" smtClean="0"/>
              <a:pPr/>
              <a:t>‹#›</a:t>
            </a:fld>
            <a:endParaRPr lang="en-US" dirty="0"/>
          </a:p>
        </p:txBody>
      </p:sp>
    </p:spTree>
    <p:extLst>
      <p:ext uri="{BB962C8B-B14F-4D97-AF65-F5344CB8AC3E}">
        <p14:creationId xmlns="" xmlns:p14="http://schemas.microsoft.com/office/powerpoint/2010/main" val="42382263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2971" cy="464503"/>
          </a:xfrm>
          <a:prstGeom prst="rect">
            <a:avLst/>
          </a:prstGeom>
        </p:spPr>
        <p:txBody>
          <a:bodyPr vert="horz" lIns="91285" tIns="45642" rIns="91285" bIns="45642" rtlCol="0"/>
          <a:lstStyle>
            <a:lvl1pPr algn="l">
              <a:defRPr sz="1200"/>
            </a:lvl1pPr>
          </a:lstStyle>
          <a:p>
            <a:endParaRPr lang="en-US" dirty="0"/>
          </a:p>
        </p:txBody>
      </p:sp>
      <p:sp>
        <p:nvSpPr>
          <p:cNvPr id="3" name="Date Placeholder 2"/>
          <p:cNvSpPr>
            <a:spLocks noGrp="1"/>
          </p:cNvSpPr>
          <p:nvPr>
            <p:ph type="dt" idx="1"/>
          </p:nvPr>
        </p:nvSpPr>
        <p:spPr>
          <a:xfrm>
            <a:off x="3963147" y="1"/>
            <a:ext cx="3032971" cy="464503"/>
          </a:xfrm>
          <a:prstGeom prst="rect">
            <a:avLst/>
          </a:prstGeom>
        </p:spPr>
        <p:txBody>
          <a:bodyPr vert="horz" lIns="91285" tIns="45642" rIns="91285" bIns="45642" rtlCol="0"/>
          <a:lstStyle>
            <a:lvl1pPr algn="r">
              <a:defRPr sz="1200"/>
            </a:lvl1pPr>
          </a:lstStyle>
          <a:p>
            <a:fld id="{93CD0360-B7DD-409A-B109-F5D002317353}" type="datetimeFigureOut">
              <a:rPr lang="en-US" smtClean="0"/>
              <a:pPr/>
              <a:t>10/15/2012</a:t>
            </a:fld>
            <a:endParaRPr lang="en-US" dirty="0"/>
          </a:p>
        </p:txBody>
      </p:sp>
      <p:sp>
        <p:nvSpPr>
          <p:cNvPr id="4" name="Slide Image Placeholder 3"/>
          <p:cNvSpPr>
            <a:spLocks noGrp="1" noRot="1" noChangeAspect="1"/>
          </p:cNvSpPr>
          <p:nvPr>
            <p:ph type="sldImg" idx="2"/>
          </p:nvPr>
        </p:nvSpPr>
        <p:spPr>
          <a:xfrm>
            <a:off x="1177925" y="695325"/>
            <a:ext cx="4641850" cy="3481388"/>
          </a:xfrm>
          <a:prstGeom prst="rect">
            <a:avLst/>
          </a:prstGeom>
          <a:noFill/>
          <a:ln w="12700">
            <a:solidFill>
              <a:prstClr val="black"/>
            </a:solidFill>
          </a:ln>
        </p:spPr>
        <p:txBody>
          <a:bodyPr vert="horz" lIns="91285" tIns="45642" rIns="91285" bIns="45642" rtlCol="0" anchor="ctr"/>
          <a:lstStyle/>
          <a:p>
            <a:endParaRPr lang="en-US" dirty="0"/>
          </a:p>
        </p:txBody>
      </p:sp>
      <p:sp>
        <p:nvSpPr>
          <p:cNvPr id="5" name="Notes Placeholder 4"/>
          <p:cNvSpPr>
            <a:spLocks noGrp="1"/>
          </p:cNvSpPr>
          <p:nvPr>
            <p:ph type="body" sz="quarter" idx="3"/>
          </p:nvPr>
        </p:nvSpPr>
        <p:spPr>
          <a:xfrm>
            <a:off x="700404" y="4410392"/>
            <a:ext cx="5596892" cy="4177348"/>
          </a:xfrm>
          <a:prstGeom prst="rect">
            <a:avLst/>
          </a:prstGeom>
        </p:spPr>
        <p:txBody>
          <a:bodyPr vert="horz" lIns="91285" tIns="45642" rIns="91285" bIns="45642"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8817612"/>
            <a:ext cx="3032971" cy="464503"/>
          </a:xfrm>
          <a:prstGeom prst="rect">
            <a:avLst/>
          </a:prstGeom>
        </p:spPr>
        <p:txBody>
          <a:bodyPr vert="horz" lIns="91285" tIns="45642" rIns="91285" bIns="45642"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63147" y="8817612"/>
            <a:ext cx="3032971" cy="464503"/>
          </a:xfrm>
          <a:prstGeom prst="rect">
            <a:avLst/>
          </a:prstGeom>
        </p:spPr>
        <p:txBody>
          <a:bodyPr vert="horz" lIns="91285" tIns="45642" rIns="91285" bIns="45642" rtlCol="0" anchor="b"/>
          <a:lstStyle>
            <a:lvl1pPr algn="r">
              <a:defRPr sz="1200"/>
            </a:lvl1pPr>
          </a:lstStyle>
          <a:p>
            <a:fld id="{79E2357B-7FAA-434E-849E-AEFDB903030B}" type="slidenum">
              <a:rPr lang="en-US" smtClean="0"/>
              <a:pPr/>
              <a:t>‹#›</a:t>
            </a:fld>
            <a:endParaRPr lang="en-US" dirty="0"/>
          </a:p>
        </p:txBody>
      </p:sp>
    </p:spTree>
    <p:extLst>
      <p:ext uri="{BB962C8B-B14F-4D97-AF65-F5344CB8AC3E}">
        <p14:creationId xmlns="" xmlns:p14="http://schemas.microsoft.com/office/powerpoint/2010/main" val="2083369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p:cNvSpPr>
            <a:spLocks noGrp="1" noRot="1" noChangeAspect="1" noTextEdit="1"/>
          </p:cNvSpPr>
          <p:nvPr>
            <p:ph type="sldImg"/>
          </p:nvPr>
        </p:nvSpPr>
        <p:spPr bwMode="auto">
          <a:noFill/>
          <a:ln>
            <a:solidFill>
              <a:srgbClr val="000000"/>
            </a:solidFill>
            <a:miter lim="800000"/>
            <a:headEnd/>
            <a:tailEnd/>
          </a:ln>
        </p:spPr>
      </p:sp>
      <p:sp>
        <p:nvSpPr>
          <p:cNvPr id="512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512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C2F2BEBE-8C0C-4559-8137-82168B61C787}" type="slidenum">
              <a:rPr lang="en-US"/>
              <a:pPr fontAlgn="base">
                <a:spcBef>
                  <a:spcPct val="0"/>
                </a:spcBef>
                <a:spcAft>
                  <a:spcPct val="0"/>
                </a:spcAft>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bwMode="auto">
          <a:noFill/>
          <a:ln>
            <a:solidFill>
              <a:srgbClr val="000000"/>
            </a:solidFill>
            <a:miter lim="800000"/>
            <a:headEnd/>
            <a:tailEnd/>
          </a:ln>
        </p:spPr>
      </p:sp>
      <p:sp>
        <p:nvSpPr>
          <p:cNvPr id="614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61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0350B244-296A-48F9-BAC5-5ADF6046A42A}" type="slidenum">
              <a:rPr lang="en-US"/>
              <a:pPr fontAlgn="base">
                <a:spcBef>
                  <a:spcPct val="0"/>
                </a:spcBef>
                <a:spcAft>
                  <a:spcPct val="0"/>
                </a:spcAft>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0EC46EA1-56EA-43C2-AD64-B5A8B72717E8}" type="slidenum">
              <a:rPr lang="en-US" smtClean="0">
                <a:latin typeface="Arial" pitchFamily="34" charset="0"/>
              </a:rPr>
              <a:pPr/>
              <a:t>4</a:t>
            </a:fld>
            <a:endParaRPr lang="en-US" dirty="0" smtClean="0">
              <a:latin typeface="Arial" pitchFamily="34"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en-US" dirty="0" smtClean="0">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F6A7868B-CAA5-49CC-AA7A-B7EACB283011}" type="slidenum">
              <a:rPr lang="en-US" smtClean="0">
                <a:latin typeface="Arial" pitchFamily="34" charset="0"/>
              </a:rPr>
              <a:pPr/>
              <a:t>6</a:t>
            </a:fld>
            <a:endParaRPr lang="en-US" dirty="0" smtClean="0">
              <a:latin typeface="Arial" pitchFamily="34"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endParaRPr lang="en-US" dirty="0" smtClean="0">
              <a:latin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0EC46EA1-56EA-43C2-AD64-B5A8B72717E8}" type="slidenum">
              <a:rPr lang="en-US" smtClean="0">
                <a:latin typeface="Arial" pitchFamily="34" charset="0"/>
              </a:rPr>
              <a:pPr/>
              <a:t>8</a:t>
            </a:fld>
            <a:endParaRPr lang="en-US" dirty="0" smtClean="0">
              <a:latin typeface="Arial" pitchFamily="34"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en-US" dirty="0" smtClean="0">
              <a:latin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0EC46EA1-56EA-43C2-AD64-B5A8B72717E8}" type="slidenum">
              <a:rPr lang="en-US" smtClean="0">
                <a:latin typeface="Arial" pitchFamily="34" charset="0"/>
              </a:rPr>
              <a:pPr/>
              <a:t>10</a:t>
            </a:fld>
            <a:endParaRPr lang="en-US" dirty="0" smtClean="0">
              <a:latin typeface="Arial" pitchFamily="34"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en-US" dirty="0" smtClean="0">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4F9D01A8-DCEE-41EE-AAE1-98D3C84B97EA}" type="datetimeFigureOut">
              <a:rPr lang="en-US"/>
              <a:pPr>
                <a:defRPr/>
              </a:pPr>
              <a:t>10/15/2012</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800F546-5A33-400E-B18E-A2057131E90C}"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DBE65A1-62D3-4D8A-9025-0E48739EC81B}" type="datetimeFigureOut">
              <a:rPr lang="en-US"/>
              <a:pPr>
                <a:defRPr/>
              </a:pPr>
              <a:t>10/15/2012</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DCB05AD-5A8F-4B8C-8B43-D7FAF87F64A6}"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1B96C4D-42A1-4456-AF34-0DD8F0AFC9EF}" type="datetimeFigureOut">
              <a:rPr lang="en-US"/>
              <a:pPr>
                <a:defRPr/>
              </a:pPr>
              <a:t>10/15/2012</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0C9EAB-3A7A-4C37-8BF8-17D0AB8795CB}"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D81626B0-0143-4AD4-8577-7953715D53B6}" type="datetimeFigureOut">
              <a:rPr lang="en-US"/>
              <a:pPr>
                <a:defRPr/>
              </a:pPr>
              <a:t>10/15/2012</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23C19449-6446-4070-844B-664C756D0792}"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608ABFE8-8F7C-4EEC-B6BF-9BD845FB8681}" type="datetimeFigureOut">
              <a:rPr lang="en-US"/>
              <a:pPr>
                <a:defRPr/>
              </a:pPr>
              <a:t>10/15/2012</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0D948C1A-A970-4B2D-B929-1C43CF394227}"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C6E14C79-0BFF-47AC-A6AD-108B90AF5598}" type="datetimeFigureOut">
              <a:rPr lang="en-US"/>
              <a:pPr>
                <a:defRPr/>
              </a:pPr>
              <a:t>10/15/2012</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7E3FDE02-CF0D-49AA-A277-DE210052B5D6}"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4614A08-DB01-4902-BD56-CF1FCF32B398}" type="datetimeFigureOut">
              <a:rPr lang="en-US"/>
              <a:pPr>
                <a:defRPr/>
              </a:pPr>
              <a:t>10/15/2012</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E473B72-BA8B-4860-A65E-04746F6CEC4D}"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24CAC5A-EC72-49DB-B792-8F32F457D94F}" type="datetimeFigureOut">
              <a:rPr lang="en-US"/>
              <a:pPr>
                <a:defRPr/>
              </a:pPr>
              <a:t>10/15/2012</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8150BAAF-92F4-4C7E-A6EF-0B2EF1CF1714}"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4F5E71F8-0E4B-429B-A45F-50A767803508}" type="datetimeFigureOut">
              <a:rPr lang="en-US"/>
              <a:pPr>
                <a:defRPr/>
              </a:pPr>
              <a:t>10/15/2012</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C7485DA9-586F-4F96-B0AC-9977566BAD5C}"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7660E6A7-E25F-423E-A8DF-6447F9A1998D}" type="datetimeFigureOut">
              <a:rPr lang="en-US"/>
              <a:pPr>
                <a:defRPr/>
              </a:pPr>
              <a:t>10/15/2012</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BADFEF2-6B8D-464A-9788-5632D771CC0A}"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75DB3F22-45BC-4887-B62F-E86825FCF9BD}" type="datetimeFigureOut">
              <a:rPr lang="en-US"/>
              <a:pPr>
                <a:defRPr/>
              </a:pPr>
              <a:t>10/15/2012</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795FCFB-606E-46DE-9B28-AE0A6B9570E0}"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362"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5363"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4994FAF2-562E-48BE-B7BD-B4900E6FEF0A}" type="datetimeFigureOut">
              <a:rPr lang="en-US"/>
              <a:pPr>
                <a:defRPr/>
              </a:pPr>
              <a:t>10/15/2012</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20E1CF58-27A6-4B77-96D0-CF79433701E3}"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mailto:Kevin.Miers@va.gov"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oleObject" Target="../embeddings/Microsoft_Office_Excel_97-2003_Worksheet1.xls"/></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oleObject" Target="../embeddings/Microsoft_Office_Excel_97-2003_Worksheet2.xls"/></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oleObject" Target="../embeddings/Microsoft_Office_Excel_97-2003_Worksheet3.xls"/></Relationships>
</file>

<file path=ppt/slides/_rels/slide9.xml.rels><?xml version="1.0" encoding="UTF-8" standalone="yes"?>
<Relationships xmlns="http://schemas.openxmlformats.org/package/2006/relationships"><Relationship Id="rId2" Type="http://schemas.openxmlformats.org/officeDocument/2006/relationships/hyperlink" Target="mailto:Kevin.Miers@va.gov"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oleObject" Target="../embeddings/Microsoft_Office_Excel_97-2003_Worksheet4.xls"/></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title"/>
          </p:nvPr>
        </p:nvSpPr>
        <p:spPr/>
        <p:txBody>
          <a:bodyPr/>
          <a:lstStyle/>
          <a:p>
            <a:r>
              <a:rPr lang="en-US" smtClean="0"/>
              <a:t>Improper Payments Initiative</a:t>
            </a:r>
          </a:p>
        </p:txBody>
      </p:sp>
      <p:sp>
        <p:nvSpPr>
          <p:cNvPr id="3" name="Content Placeholder 2"/>
          <p:cNvSpPr>
            <a:spLocks noGrp="1"/>
          </p:cNvSpPr>
          <p:nvPr>
            <p:ph idx="1"/>
          </p:nvPr>
        </p:nvSpPr>
        <p:spPr/>
        <p:txBody>
          <a:bodyPr rtlCol="0">
            <a:normAutofit lnSpcReduction="10000"/>
          </a:bodyPr>
          <a:lstStyle/>
          <a:p>
            <a:pPr fontAlgn="auto">
              <a:spcAft>
                <a:spcPts val="0"/>
              </a:spcAft>
              <a:buFont typeface="Arial" pitchFamily="34" charset="0"/>
              <a:buChar char="•"/>
              <a:defRPr/>
            </a:pPr>
            <a:r>
              <a:rPr lang="en-US" sz="1900" b="1" dirty="0" smtClean="0"/>
              <a:t>Why this is a key priority for VA?</a:t>
            </a:r>
          </a:p>
          <a:p>
            <a:pPr lvl="1" fontAlgn="auto">
              <a:spcAft>
                <a:spcPts val="0"/>
              </a:spcAft>
              <a:buFont typeface="Arial" pitchFamily="34" charset="0"/>
              <a:buChar char="–"/>
              <a:defRPr/>
            </a:pPr>
            <a:r>
              <a:rPr lang="en-US" sz="1900" dirty="0" smtClean="0"/>
              <a:t>Reducing improper payments is VA’s #1 financial management priority</a:t>
            </a:r>
          </a:p>
          <a:p>
            <a:pPr lvl="2" fontAlgn="auto">
              <a:spcAft>
                <a:spcPts val="0"/>
              </a:spcAft>
              <a:buFont typeface="Arial" pitchFamily="34" charset="0"/>
              <a:buChar char="•"/>
              <a:defRPr/>
            </a:pPr>
            <a:r>
              <a:rPr lang="en-US" sz="1900" dirty="0" smtClean="0"/>
              <a:t>The President and the Office of Management and Budget (OMB) have made eliminating waste, fraud, and abuse in Federal programs, including reducing and recapturing erroneous payments, one of its top financial goals </a:t>
            </a:r>
          </a:p>
          <a:p>
            <a:pPr lvl="2" fontAlgn="auto">
              <a:spcAft>
                <a:spcPts val="0"/>
              </a:spcAft>
              <a:buFont typeface="Arial" pitchFamily="34" charset="0"/>
              <a:buChar char="•"/>
              <a:defRPr/>
            </a:pPr>
            <a:r>
              <a:rPr lang="en-US" sz="1900" dirty="0" smtClean="0"/>
              <a:t>In FY 2011 PAR VA reported $2.4 billion in improper payments.  Trend analysis shows payment error rates are increasing</a:t>
            </a:r>
          </a:p>
          <a:p>
            <a:pPr lvl="2" fontAlgn="auto">
              <a:spcAft>
                <a:spcPts val="0"/>
              </a:spcAft>
              <a:buFont typeface="Arial" pitchFamily="34" charset="0"/>
              <a:buChar char="•"/>
              <a:defRPr/>
            </a:pPr>
            <a:r>
              <a:rPr lang="en-US" sz="1900" dirty="0" smtClean="0"/>
              <a:t>The March 2012 VA OIG report found VA non-compliant with the Improper Payments Elimination and Recovery Act (IPERA) of 2010  </a:t>
            </a:r>
          </a:p>
          <a:p>
            <a:pPr fontAlgn="auto">
              <a:spcAft>
                <a:spcPts val="0"/>
              </a:spcAft>
              <a:buFont typeface="Arial" pitchFamily="34" charset="0"/>
              <a:buChar char="•"/>
              <a:defRPr/>
            </a:pPr>
            <a:endParaRPr lang="en-US" sz="1900" b="1" dirty="0" smtClean="0"/>
          </a:p>
          <a:p>
            <a:pPr fontAlgn="auto">
              <a:spcAft>
                <a:spcPts val="0"/>
              </a:spcAft>
              <a:buFont typeface="Arial" pitchFamily="34" charset="0"/>
              <a:buChar char="•"/>
              <a:defRPr/>
            </a:pPr>
            <a:r>
              <a:rPr lang="en-US" sz="1900" b="1" dirty="0" smtClean="0"/>
              <a:t>Goals to be accomplished</a:t>
            </a:r>
          </a:p>
          <a:p>
            <a:pPr lvl="1" fontAlgn="auto">
              <a:spcAft>
                <a:spcPts val="0"/>
              </a:spcAft>
              <a:buFont typeface="Arial" pitchFamily="34" charset="0"/>
              <a:buChar char="–"/>
              <a:defRPr/>
            </a:pPr>
            <a:r>
              <a:rPr lang="en-US" sz="1900" dirty="0" smtClean="0"/>
              <a:t>Reduce the number and value of improper payments made by VA</a:t>
            </a:r>
          </a:p>
          <a:p>
            <a:pPr lvl="1" fontAlgn="auto">
              <a:spcAft>
                <a:spcPts val="0"/>
              </a:spcAft>
              <a:buFont typeface="Arial" pitchFamily="34" charset="0"/>
              <a:buChar char="–"/>
              <a:defRPr/>
            </a:pPr>
            <a:r>
              <a:rPr lang="en-US" sz="1900" dirty="0" smtClean="0"/>
              <a:t>Improve improper payment identification and reporting processes</a:t>
            </a:r>
          </a:p>
          <a:p>
            <a:pPr lvl="1" fontAlgn="auto">
              <a:spcAft>
                <a:spcPts val="0"/>
              </a:spcAft>
              <a:buFont typeface="Arial" pitchFamily="34" charset="0"/>
              <a:buChar char="–"/>
              <a:defRPr/>
            </a:pPr>
            <a:r>
              <a:rPr lang="en-US" sz="1900" dirty="0" smtClean="0"/>
              <a:t>Comply with the provisions of IPERA</a:t>
            </a:r>
          </a:p>
          <a:p>
            <a:pPr lvl="1" fontAlgn="auto">
              <a:spcAft>
                <a:spcPts val="0"/>
              </a:spcAft>
              <a:buFont typeface="Arial" pitchFamily="34" charset="0"/>
              <a:buChar char="–"/>
              <a:defRPr/>
            </a:pPr>
            <a:endParaRPr lang="en-US" dirty="0" smtClean="0"/>
          </a:p>
          <a:p>
            <a:pPr fontAlgn="auto">
              <a:spcAft>
                <a:spcPts val="0"/>
              </a:spcAft>
              <a:buFont typeface="Arial" pitchFamily="34" charset="0"/>
              <a:buChar char="•"/>
              <a:defRPr/>
            </a:pPr>
            <a:endParaRPr lang="en-US" dirty="0" smtClean="0"/>
          </a:p>
          <a:p>
            <a:pPr lvl="1" fontAlgn="auto">
              <a:spcAft>
                <a:spcPts val="0"/>
              </a:spcAft>
              <a:buFont typeface="Arial" pitchFamily="34" charset="0"/>
              <a:buChar char="–"/>
              <a:defRPr/>
            </a:pPr>
            <a:endParaRPr lang="en-US" dirty="0" smtClean="0"/>
          </a:p>
          <a:p>
            <a:pPr fontAlgn="auto">
              <a:spcAft>
                <a:spcPts val="0"/>
              </a:spcAft>
              <a:buFont typeface="Arial" pitchFamily="34" charset="0"/>
              <a:buChar char="•"/>
              <a:defRPr/>
            </a:pPr>
            <a:endParaRPr lang="en-US" dirty="0" smtClean="0"/>
          </a:p>
          <a:p>
            <a:pPr fontAlgn="auto">
              <a:spcAft>
                <a:spcPts val="0"/>
              </a:spcAft>
              <a:buFont typeface="Arial" pitchFamily="34" charset="0"/>
              <a:buChar char="•"/>
              <a:defRPr/>
            </a:pPr>
            <a:endParaRPr lang="en-US" dirty="0" smtClean="0"/>
          </a:p>
          <a:p>
            <a:pPr fontAlgn="auto">
              <a:spcAft>
                <a:spcPts val="0"/>
              </a:spcAft>
              <a:buFont typeface="Arial" pitchFamily="34" charset="0"/>
              <a:buChar char="•"/>
              <a:defRPr/>
            </a:pPr>
            <a:endParaRPr lang="en-US" dirty="0" smtClean="0"/>
          </a:p>
          <a:p>
            <a:pPr fontAlgn="auto">
              <a:spcAft>
                <a:spcPts val="0"/>
              </a:spcAft>
              <a:buFont typeface="Arial" pitchFamily="34" charset="0"/>
              <a:buChar char="•"/>
              <a:defRPr/>
            </a:pPr>
            <a:endParaRPr lang="en-US" dirty="0" smtClean="0"/>
          </a:p>
          <a:p>
            <a:pPr fontAlgn="auto">
              <a:spcAft>
                <a:spcPts val="0"/>
              </a:spcAft>
              <a:buFont typeface="Arial" pitchFamily="34" charset="0"/>
              <a:buChar char="•"/>
              <a:defRPr/>
            </a:pPr>
            <a:endParaRPr lang="en-US" dirty="0"/>
          </a:p>
        </p:txBody>
      </p:sp>
      <p:sp>
        <p:nvSpPr>
          <p:cNvPr id="5" name="Footer Placeholder 4"/>
          <p:cNvSpPr>
            <a:spLocks noGrp="1"/>
          </p:cNvSpPr>
          <p:nvPr>
            <p:ph type="ftr" sz="quarter" idx="11"/>
          </p:nvPr>
        </p:nvSpPr>
        <p:spPr/>
        <p:txBody>
          <a:bodyPr/>
          <a:lstStyle/>
          <a:p>
            <a:pPr>
              <a:defRPr/>
            </a:pPr>
            <a:r>
              <a:rPr lang="en-US"/>
              <a:t>Predecisional -- Draft</a:t>
            </a:r>
            <a:endParaRPr lang="en-US" dirty="0"/>
          </a:p>
        </p:txBody>
      </p:sp>
      <p:sp>
        <p:nvSpPr>
          <p:cNvPr id="6" name="Slide Number Placeholder 5"/>
          <p:cNvSpPr>
            <a:spLocks noGrp="1"/>
          </p:cNvSpPr>
          <p:nvPr>
            <p:ph type="sldNum" sz="quarter" idx="12"/>
          </p:nvPr>
        </p:nvSpPr>
        <p:spPr/>
        <p:txBody>
          <a:bodyPr/>
          <a:lstStyle/>
          <a:p>
            <a:pPr>
              <a:defRPr/>
            </a:pPr>
            <a:fld id="{D56A55BD-EEEE-4C69-8249-C5779F47A921}" type="slidenum">
              <a:rPr lang="en-US"/>
              <a:pPr>
                <a:defRPr/>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smtClean="0"/>
              <a:t>Improper Payments Initiative</a:t>
            </a:r>
          </a:p>
        </p:txBody>
      </p:sp>
      <p:sp>
        <p:nvSpPr>
          <p:cNvPr id="3" name="Content Placeholder 2"/>
          <p:cNvSpPr>
            <a:spLocks noGrp="1"/>
          </p:cNvSpPr>
          <p:nvPr>
            <p:ph idx="1"/>
          </p:nvPr>
        </p:nvSpPr>
        <p:spPr>
          <a:xfrm>
            <a:off x="381000" y="1524000"/>
            <a:ext cx="8229600" cy="4648200"/>
          </a:xfrm>
        </p:spPr>
        <p:txBody>
          <a:bodyPr rtlCol="0">
            <a:normAutofit fontScale="92500" lnSpcReduction="10000"/>
          </a:bodyPr>
          <a:lstStyle/>
          <a:p>
            <a:pPr fontAlgn="auto">
              <a:spcAft>
                <a:spcPts val="0"/>
              </a:spcAft>
              <a:buFont typeface="Arial" pitchFamily="34" charset="0"/>
              <a:buChar char="•"/>
              <a:defRPr/>
            </a:pPr>
            <a:r>
              <a:rPr lang="en-US" sz="1900" b="1" dirty="0" smtClean="0"/>
              <a:t>Plans and milestones for accomplishing the goal</a:t>
            </a:r>
          </a:p>
          <a:p>
            <a:pPr lvl="1">
              <a:buFont typeface="Calibri" pitchFamily="34" charset="0"/>
              <a:buChar char="–"/>
              <a:defRPr/>
            </a:pPr>
            <a:r>
              <a:rPr lang="en-US" sz="1900" dirty="0" smtClean="0"/>
              <a:t>Hold Department wide Summit meetings for strategic approach and oversight</a:t>
            </a:r>
          </a:p>
          <a:p>
            <a:pPr marL="738188" indent="-274638">
              <a:buFont typeface="Calibri" pitchFamily="34" charset="0"/>
              <a:buChar char="–"/>
              <a:defRPr/>
            </a:pPr>
            <a:r>
              <a:rPr lang="en-US" sz="1900" dirty="0" smtClean="0"/>
              <a:t>Determine root causes of improper payments  </a:t>
            </a:r>
          </a:p>
          <a:p>
            <a:pPr marL="738188" indent="-274638">
              <a:buFont typeface="Calibri" pitchFamily="34" charset="0"/>
              <a:buChar char="–"/>
              <a:defRPr/>
            </a:pPr>
            <a:r>
              <a:rPr lang="en-US" sz="1900" dirty="0" smtClean="0"/>
              <a:t>Determine challenges with reducing improper payments</a:t>
            </a:r>
          </a:p>
          <a:p>
            <a:pPr marL="738188" indent="-274638">
              <a:buFont typeface="Calibri" pitchFamily="34" charset="0"/>
              <a:buChar char="–"/>
              <a:defRPr/>
            </a:pPr>
            <a:r>
              <a:rPr lang="en-US" sz="1900" dirty="0" smtClean="0"/>
              <a:t>Review programs to identify actions needed to achieve reduction targets</a:t>
            </a:r>
          </a:p>
          <a:p>
            <a:pPr lvl="1">
              <a:buFont typeface="Calibri" pitchFamily="34" charset="0"/>
              <a:buChar char="–"/>
              <a:defRPr/>
            </a:pPr>
            <a:r>
              <a:rPr lang="en-US" sz="1900" dirty="0" smtClean="0"/>
              <a:t>Implement OMB’s Do Not Pay to prevent improper payments</a:t>
            </a:r>
          </a:p>
          <a:p>
            <a:pPr lvl="1" fontAlgn="auto">
              <a:spcAft>
                <a:spcPts val="0"/>
              </a:spcAft>
              <a:buFont typeface="Arial" pitchFamily="34" charset="0"/>
              <a:buChar char="–"/>
              <a:defRPr/>
            </a:pPr>
            <a:endParaRPr lang="en-US" sz="1900" dirty="0" smtClean="0"/>
          </a:p>
          <a:p>
            <a:pPr fontAlgn="auto">
              <a:spcAft>
                <a:spcPts val="0"/>
              </a:spcAft>
              <a:buFont typeface="Arial" pitchFamily="34" charset="0"/>
              <a:buChar char="•"/>
              <a:defRPr/>
            </a:pPr>
            <a:r>
              <a:rPr lang="en-US" sz="1900" b="1" dirty="0" smtClean="0"/>
              <a:t>Challenges and risks</a:t>
            </a:r>
          </a:p>
          <a:p>
            <a:pPr lvl="1" fontAlgn="auto">
              <a:spcAft>
                <a:spcPts val="0"/>
              </a:spcAft>
              <a:buFont typeface="Arial" pitchFamily="34" charset="0"/>
              <a:buChar char="–"/>
              <a:defRPr/>
            </a:pPr>
            <a:r>
              <a:rPr lang="en-US" sz="1900" dirty="0" smtClean="0"/>
              <a:t>Balancing act – Ensure Veterans receive entitled benefits while reducing/preventing improper payments</a:t>
            </a:r>
          </a:p>
          <a:p>
            <a:pPr lvl="1" fontAlgn="auto">
              <a:spcAft>
                <a:spcPts val="0"/>
              </a:spcAft>
              <a:buFont typeface="Arial" pitchFamily="34" charset="0"/>
              <a:buChar char="–"/>
              <a:defRPr/>
            </a:pPr>
            <a:r>
              <a:rPr lang="en-US" sz="1900" dirty="0" smtClean="0"/>
              <a:t>Laws may result in improper payments, i.e. due process</a:t>
            </a:r>
          </a:p>
          <a:p>
            <a:pPr lvl="1" fontAlgn="auto">
              <a:spcAft>
                <a:spcPts val="0"/>
              </a:spcAft>
              <a:buFont typeface="Arial" pitchFamily="34" charset="0"/>
              <a:buChar char="–"/>
              <a:defRPr/>
            </a:pPr>
            <a:endParaRPr lang="en-US" sz="1900" dirty="0" smtClean="0"/>
          </a:p>
          <a:p>
            <a:pPr fontAlgn="auto">
              <a:spcAft>
                <a:spcPts val="0"/>
              </a:spcAft>
              <a:buFont typeface="Arial" pitchFamily="34" charset="0"/>
              <a:buChar char="•"/>
              <a:defRPr/>
            </a:pPr>
            <a:r>
              <a:rPr lang="en-US" sz="1900" b="1" dirty="0" smtClean="0"/>
              <a:t>Changes in legal authorities that would facilitate progress</a:t>
            </a:r>
          </a:p>
          <a:p>
            <a:pPr lvl="1" fontAlgn="auto">
              <a:spcAft>
                <a:spcPts val="0"/>
              </a:spcAft>
              <a:buFont typeface="Arial" pitchFamily="34" charset="0"/>
              <a:buChar char="–"/>
              <a:defRPr/>
            </a:pPr>
            <a:r>
              <a:rPr lang="en-US" sz="1900" dirty="0" smtClean="0"/>
              <a:t>Possible legal and regulatory changes to facilitate progress will be determined by program offices.  Changes are unknown at this time.</a:t>
            </a:r>
          </a:p>
          <a:p>
            <a:pPr lvl="1" fontAlgn="auto">
              <a:spcAft>
                <a:spcPts val="0"/>
              </a:spcAft>
              <a:buFont typeface="Arial" pitchFamily="34" charset="0"/>
              <a:buChar char="–"/>
              <a:defRPr/>
            </a:pPr>
            <a:endParaRPr lang="en-US" dirty="0" smtClean="0"/>
          </a:p>
          <a:p>
            <a:pPr fontAlgn="auto">
              <a:spcAft>
                <a:spcPts val="0"/>
              </a:spcAft>
              <a:buFont typeface="Arial" pitchFamily="34" charset="0"/>
              <a:buChar char="•"/>
              <a:defRPr/>
            </a:pPr>
            <a:endParaRPr lang="en-US" dirty="0" smtClean="0"/>
          </a:p>
          <a:p>
            <a:pPr lvl="1" fontAlgn="auto">
              <a:spcAft>
                <a:spcPts val="0"/>
              </a:spcAft>
              <a:buFont typeface="Arial" pitchFamily="34" charset="0"/>
              <a:buChar char="–"/>
              <a:defRPr/>
            </a:pPr>
            <a:endParaRPr lang="en-US" dirty="0" smtClean="0"/>
          </a:p>
          <a:p>
            <a:pPr fontAlgn="auto">
              <a:spcAft>
                <a:spcPts val="0"/>
              </a:spcAft>
              <a:buFont typeface="Arial" pitchFamily="34" charset="0"/>
              <a:buChar char="•"/>
              <a:defRPr/>
            </a:pPr>
            <a:endParaRPr lang="en-US" dirty="0" smtClean="0"/>
          </a:p>
          <a:p>
            <a:pPr fontAlgn="auto">
              <a:spcAft>
                <a:spcPts val="0"/>
              </a:spcAft>
              <a:buFont typeface="Arial" pitchFamily="34" charset="0"/>
              <a:buChar char="•"/>
              <a:defRPr/>
            </a:pPr>
            <a:endParaRPr lang="en-US" dirty="0" smtClean="0"/>
          </a:p>
          <a:p>
            <a:pPr fontAlgn="auto">
              <a:spcAft>
                <a:spcPts val="0"/>
              </a:spcAft>
              <a:buFont typeface="Arial" pitchFamily="34" charset="0"/>
              <a:buChar char="•"/>
              <a:defRPr/>
            </a:pPr>
            <a:endParaRPr lang="en-US" dirty="0" smtClean="0"/>
          </a:p>
          <a:p>
            <a:pPr fontAlgn="auto">
              <a:spcAft>
                <a:spcPts val="0"/>
              </a:spcAft>
              <a:buFont typeface="Arial" pitchFamily="34" charset="0"/>
              <a:buChar char="•"/>
              <a:defRPr/>
            </a:pPr>
            <a:endParaRPr lang="en-US" dirty="0" smtClean="0"/>
          </a:p>
          <a:p>
            <a:pPr fontAlgn="auto">
              <a:spcAft>
                <a:spcPts val="0"/>
              </a:spcAft>
              <a:buFont typeface="Arial" pitchFamily="34" charset="0"/>
              <a:buChar char="•"/>
              <a:defRPr/>
            </a:pPr>
            <a:endParaRPr lang="en-US" dirty="0"/>
          </a:p>
        </p:txBody>
      </p:sp>
      <p:sp>
        <p:nvSpPr>
          <p:cNvPr id="5" name="Footer Placeholder 4"/>
          <p:cNvSpPr>
            <a:spLocks noGrp="1"/>
          </p:cNvSpPr>
          <p:nvPr>
            <p:ph type="ftr" sz="quarter" idx="11"/>
          </p:nvPr>
        </p:nvSpPr>
        <p:spPr/>
        <p:txBody>
          <a:bodyPr/>
          <a:lstStyle/>
          <a:p>
            <a:pPr>
              <a:defRPr/>
            </a:pPr>
            <a:r>
              <a:rPr lang="en-US"/>
              <a:t>Predecisional -- Draft</a:t>
            </a:r>
            <a:endParaRPr lang="en-US" dirty="0"/>
          </a:p>
        </p:txBody>
      </p:sp>
      <p:sp>
        <p:nvSpPr>
          <p:cNvPr id="6" name="Slide Number Placeholder 5"/>
          <p:cNvSpPr>
            <a:spLocks noGrp="1"/>
          </p:cNvSpPr>
          <p:nvPr>
            <p:ph type="sldNum" sz="quarter" idx="12"/>
          </p:nvPr>
        </p:nvSpPr>
        <p:spPr/>
        <p:txBody>
          <a:bodyPr/>
          <a:lstStyle/>
          <a:p>
            <a:pPr>
              <a:defRPr/>
            </a:pPr>
            <a:fld id="{9962167C-CF6E-4A88-946B-77CDCDB5E651}" type="slidenum">
              <a:rPr lang="en-US"/>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762000"/>
            <a:ext cx="7962900" cy="4918269"/>
          </a:xfrm>
          <a:prstGeom prst="rect">
            <a:avLst/>
          </a:prstGeom>
          <a:ln>
            <a:noFill/>
          </a:ln>
        </p:spPr>
        <p:txBody>
          <a:bodyPr>
            <a:spAutoFit/>
          </a:bodyPr>
          <a:lstStyle/>
          <a:p>
            <a:pPr eaLnBrk="1" hangingPunct="1">
              <a:defRPr/>
            </a:pPr>
            <a:r>
              <a:rPr lang="en-US" sz="1400" b="1" i="1" dirty="0" smtClean="0">
                <a:latin typeface="Arial Narrow" pitchFamily="34" charset="0"/>
                <a:cs typeface="Arial" pitchFamily="34" charset="0"/>
              </a:rPr>
              <a:t>Note:  </a:t>
            </a:r>
            <a:r>
              <a:rPr lang="en-US" sz="1400" i="1" dirty="0" smtClean="0">
                <a:latin typeface="Arial Narrow" pitchFamily="34" charset="0"/>
                <a:cs typeface="Arial" pitchFamily="34" charset="0"/>
              </a:rPr>
              <a:t>OMB instructed Agencies to accelerate payments to small businesses with the goal of paying small businesses within 15 days of receipt of appropriate documentation.  Delivery of goods and acceptance of services must still occur before making payment. VA has for many years used existing authority in the Prompt Payment Act to accelerate commercial vendor small business payments after receiving all proper documentation, including acceptance.  Entities designated as small businesses are submitted for payment through FMS (not money managed) when acceptance occurs.  </a:t>
            </a:r>
          </a:p>
          <a:p>
            <a:pPr marL="456379" indent="-456379" eaLnBrk="1" hangingPunct="1">
              <a:lnSpc>
                <a:spcPct val="80000"/>
              </a:lnSpc>
              <a:defRPr/>
            </a:pPr>
            <a:endParaRPr lang="en-US" sz="1200" b="1" dirty="0" smtClean="0">
              <a:latin typeface="Arial Narrow" pitchFamily="34" charset="0"/>
              <a:cs typeface="Arial" charset="0"/>
            </a:endParaRPr>
          </a:p>
          <a:p>
            <a:pPr>
              <a:lnSpc>
                <a:spcPct val="80000"/>
              </a:lnSpc>
              <a:defRPr/>
            </a:pPr>
            <a:r>
              <a:rPr lang="en-US" sz="1400" b="1" dirty="0" smtClean="0">
                <a:latin typeface="Arial Narrow" pitchFamily="34" charset="0"/>
                <a:cs typeface="Arial" pitchFamily="34" charset="0"/>
              </a:rPr>
              <a:t>September Highlights</a:t>
            </a:r>
            <a:r>
              <a:rPr lang="en-US" sz="1400" dirty="0">
                <a:latin typeface="Arial Narrow" pitchFamily="34" charset="0"/>
                <a:cs typeface="Arial" pitchFamily="34" charset="0"/>
              </a:rPr>
              <a:t>:</a:t>
            </a:r>
          </a:p>
          <a:p>
            <a:pPr eaLnBrk="1" hangingPunct="1">
              <a:lnSpc>
                <a:spcPct val="80000"/>
              </a:lnSpc>
              <a:defRPr/>
            </a:pPr>
            <a:endParaRPr lang="en-US" sz="1400" dirty="0" smtClean="0">
              <a:latin typeface="Arial Narrow" pitchFamily="34" charset="0"/>
              <a:cs typeface="Arial" charset="0"/>
            </a:endParaRPr>
          </a:p>
          <a:p>
            <a:pPr marL="182804" indent="-182804" eaLnBrk="1" hangingPunct="1">
              <a:lnSpc>
                <a:spcPct val="80000"/>
              </a:lnSpc>
              <a:buFontTx/>
              <a:buChar char="•"/>
              <a:defRPr/>
            </a:pPr>
            <a:r>
              <a:rPr lang="en-US" sz="1400" dirty="0" smtClean="0">
                <a:latin typeface="Arial Narrow" pitchFamily="34" charset="0"/>
                <a:cs typeface="Arial" charset="0"/>
              </a:rPr>
              <a:t>VA paid </a:t>
            </a:r>
            <a:r>
              <a:rPr lang="en-US" sz="1400" dirty="0" smtClean="0">
                <a:latin typeface="Arial Narrow" pitchFamily="34" charset="0"/>
              </a:rPr>
              <a:t>95</a:t>
            </a:r>
            <a:r>
              <a:rPr lang="en-US" sz="1400" dirty="0" smtClean="0">
                <a:latin typeface="Arial Narrow" pitchFamily="34" charset="0"/>
                <a:cs typeface="Arial" charset="0"/>
              </a:rPr>
              <a:t> percent of small business invoices in September within the 15 day timeliness metric bettering the VA goal </a:t>
            </a:r>
          </a:p>
          <a:p>
            <a:pPr marL="166688" lvl="1" indent="-166688">
              <a:lnSpc>
                <a:spcPct val="80000"/>
              </a:lnSpc>
              <a:buFontTx/>
              <a:buChar char="•"/>
              <a:defRPr/>
            </a:pPr>
            <a:r>
              <a:rPr lang="en-US" sz="1400" dirty="0" smtClean="0">
                <a:latin typeface="Arial Narrow" pitchFamily="34" charset="0"/>
              </a:rPr>
              <a:t>Station 791 (Denver Acquisition &amp; Logistics Center) continues a new high volume small business contract for the repair of hearing aids which were paid within the 15 day timeliness metric which has helped boost payment timeliness</a:t>
            </a:r>
          </a:p>
          <a:p>
            <a:pPr marL="166688" lvl="1" indent="-166688">
              <a:lnSpc>
                <a:spcPct val="80000"/>
              </a:lnSpc>
              <a:buFontTx/>
              <a:buChar char="•"/>
              <a:defRPr/>
            </a:pPr>
            <a:r>
              <a:rPr lang="en-US" sz="1400" dirty="0" smtClean="0">
                <a:latin typeface="Arial Narrow" pitchFamily="34" charset="0"/>
              </a:rPr>
              <a:t>FSC  has issued a notice to VA stations highlighting the OMB goal and encouraged timely certification of invoices and receipt processing during VHA Fiscal Officers Calls</a:t>
            </a:r>
          </a:p>
          <a:p>
            <a:pPr marL="166688" lvl="1" indent="-166688">
              <a:lnSpc>
                <a:spcPct val="80000"/>
              </a:lnSpc>
              <a:buFontTx/>
              <a:buChar char="•"/>
              <a:defRPr/>
            </a:pPr>
            <a:r>
              <a:rPr lang="en-US" sz="1400" dirty="0" smtClean="0">
                <a:latin typeface="Arial Narrow" pitchFamily="34" charset="0"/>
              </a:rPr>
              <a:t>FSC has an ongoing mail campaign to vendors to promote ways to shorten the payment cycle time and obtain payment information by using Electronic Funds Transfer (EFT), Electronic Invoicing, Central Contractor Registration (CCR), and FSC’s Vendor Inquiry System (VIS) web portal to monitor payment information</a:t>
            </a:r>
          </a:p>
          <a:p>
            <a:pPr marL="166688" lvl="1" indent="-166688">
              <a:lnSpc>
                <a:spcPct val="80000"/>
              </a:lnSpc>
              <a:buFontTx/>
              <a:buChar char="•"/>
              <a:defRPr/>
            </a:pPr>
            <a:r>
              <a:rPr lang="en-US" sz="1400" dirty="0" smtClean="0">
                <a:latin typeface="Arial Narrow" pitchFamily="34" charset="0"/>
              </a:rPr>
              <a:t>FSC continues to analyze small business payment data to identify opportunities to further increase payment timeliness and will work with Administrations/Stations to identify causes for delayed payments and potential procedures for accelerating payments</a:t>
            </a:r>
          </a:p>
          <a:p>
            <a:pPr marL="640004" lvl="1" indent="-182804">
              <a:lnSpc>
                <a:spcPct val="80000"/>
              </a:lnSpc>
              <a:buFontTx/>
              <a:buChar char="•"/>
              <a:defRPr/>
            </a:pPr>
            <a:endParaRPr lang="en-US" sz="1400" dirty="0" smtClean="0">
              <a:latin typeface="Arial Narrow" pitchFamily="34" charset="0"/>
              <a:cs typeface="Arial" charset="0"/>
            </a:endParaRPr>
          </a:p>
          <a:p>
            <a:pPr marL="457014" indent="-457014" eaLnBrk="1" hangingPunct="1">
              <a:defRPr/>
            </a:pPr>
            <a:endParaRPr lang="en-US" sz="1200" b="1" dirty="0">
              <a:latin typeface="Arial Narrow" pitchFamily="34" charset="0"/>
            </a:endParaRPr>
          </a:p>
          <a:p>
            <a:pPr marL="457014" indent="-457014" eaLnBrk="1" hangingPunct="1">
              <a:defRPr/>
            </a:pPr>
            <a:endParaRPr lang="en-US" sz="1000" b="1" dirty="0">
              <a:latin typeface="Arial Narrow" pitchFamily="34" charset="0"/>
            </a:endParaRPr>
          </a:p>
          <a:p>
            <a:pPr marL="457014" indent="-457014" eaLnBrk="1" hangingPunct="1">
              <a:defRPr/>
            </a:pPr>
            <a:r>
              <a:rPr lang="en-US" sz="1000" b="1" dirty="0">
                <a:latin typeface="Arial Narrow" pitchFamily="34" charset="0"/>
              </a:rPr>
              <a:t>Prepared by:</a:t>
            </a:r>
            <a:r>
              <a:rPr lang="en-US" sz="1000" dirty="0">
                <a:latin typeface="Arial Narrow" pitchFamily="34" charset="0"/>
              </a:rPr>
              <a:t>  </a:t>
            </a:r>
            <a:r>
              <a:rPr lang="en-US" sz="1000" dirty="0" smtClean="0">
                <a:latin typeface="Arial Narrow" pitchFamily="34" charset="0"/>
              </a:rPr>
              <a:t>Kevin Miers, Systems &amp; Procedures Analyst, </a:t>
            </a:r>
            <a:r>
              <a:rPr lang="en-US" sz="1000" dirty="0">
                <a:latin typeface="Arial Narrow" pitchFamily="34" charset="0"/>
              </a:rPr>
              <a:t>VA Financial Services Center, </a:t>
            </a:r>
            <a:r>
              <a:rPr lang="en-US" sz="1000" dirty="0" smtClean="0">
                <a:latin typeface="Arial Narrow" pitchFamily="34" charset="0"/>
                <a:hlinkClick r:id="rId2"/>
              </a:rPr>
              <a:t>Kevin.Miers@va.gov</a:t>
            </a:r>
            <a:r>
              <a:rPr lang="en-US" sz="1000" dirty="0" smtClean="0">
                <a:latin typeface="Arial Narrow" pitchFamily="34" charset="0"/>
              </a:rPr>
              <a:t> </a:t>
            </a:r>
            <a:endParaRPr lang="en-US" sz="1000" dirty="0">
              <a:latin typeface="Arial Narrow" pitchFamily="34" charset="0"/>
            </a:endParaRPr>
          </a:p>
          <a:p>
            <a:pPr marL="457014" indent="-457014" eaLnBrk="1" hangingPunct="1">
              <a:defRPr/>
            </a:pPr>
            <a:r>
              <a:rPr lang="en-US" sz="1000" b="1" dirty="0">
                <a:latin typeface="Arial Narrow" pitchFamily="34" charset="0"/>
              </a:rPr>
              <a:t>Approved by:</a:t>
            </a:r>
            <a:r>
              <a:rPr lang="en-US" sz="1000" dirty="0">
                <a:latin typeface="Arial Narrow" pitchFamily="34" charset="0"/>
              </a:rPr>
              <a:t>  Robert Adams, Deputy Director, VA Financial Services Center, (512) 460-5002 </a:t>
            </a:r>
            <a:endParaRPr lang="en-US" sz="1000" dirty="0" smtClean="0">
              <a:latin typeface="Arial Narrow" pitchFamily="34" charset="0"/>
            </a:endParaRPr>
          </a:p>
          <a:p>
            <a:pPr marL="457014" indent="-457014" eaLnBrk="1" hangingPunct="1">
              <a:defRPr/>
            </a:pPr>
            <a:r>
              <a:rPr lang="en-US" sz="1000" b="1" dirty="0" smtClean="0">
                <a:latin typeface="Arial Narrow" pitchFamily="34" charset="0"/>
              </a:rPr>
              <a:t>Version </a:t>
            </a:r>
            <a:r>
              <a:rPr lang="en-US" sz="1000" b="1" dirty="0">
                <a:latin typeface="Arial Narrow" pitchFamily="34" charset="0"/>
              </a:rPr>
              <a:t>Date:</a:t>
            </a:r>
            <a:r>
              <a:rPr lang="en-US" sz="1000" dirty="0">
                <a:latin typeface="Arial Narrow" pitchFamily="34" charset="0"/>
              </a:rPr>
              <a:t>  </a:t>
            </a:r>
            <a:r>
              <a:rPr lang="en-US" sz="1000" dirty="0" smtClean="0">
                <a:latin typeface="Arial Narrow" pitchFamily="34" charset="0"/>
              </a:rPr>
              <a:t>October 9, 2012</a:t>
            </a:r>
            <a:endParaRPr lang="en-US" sz="1000" dirty="0">
              <a:latin typeface="Arial Narrow" pitchFamily="34" charset="0"/>
            </a:endParaRPr>
          </a:p>
        </p:txBody>
      </p:sp>
      <p:sp>
        <p:nvSpPr>
          <p:cNvPr id="3" name="TextBox 2"/>
          <p:cNvSpPr txBox="1"/>
          <p:nvPr/>
        </p:nvSpPr>
        <p:spPr>
          <a:xfrm>
            <a:off x="533400" y="304800"/>
            <a:ext cx="8001000" cy="369332"/>
          </a:xfrm>
          <a:prstGeom prst="rect">
            <a:avLst/>
          </a:prstGeom>
          <a:noFill/>
        </p:spPr>
        <p:txBody>
          <a:bodyPr wrap="square" rtlCol="0">
            <a:spAutoFit/>
          </a:bodyPr>
          <a:lstStyle/>
          <a:p>
            <a:pPr algn="ctr"/>
            <a:r>
              <a:rPr lang="en-US" dirty="0" smtClean="0">
                <a:latin typeface="Arial Rounded MT Bold" pitchFamily="34" charset="0"/>
              </a:rPr>
              <a:t>Commercial Small Business Payments</a:t>
            </a:r>
            <a:endParaRPr lang="en-US" dirty="0"/>
          </a:p>
        </p:txBody>
      </p:sp>
    </p:spTree>
    <p:extLst>
      <p:ext uri="{BB962C8B-B14F-4D97-AF65-F5344CB8AC3E}">
        <p14:creationId xmlns="" xmlns:p14="http://schemas.microsoft.com/office/powerpoint/2010/main" val="11732096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3187" name="Group 3"/>
          <p:cNvGraphicFramePr>
            <a:graphicFrameLocks noGrp="1"/>
          </p:cNvGraphicFramePr>
          <p:nvPr>
            <p:extLst>
              <p:ext uri="{D42A27DB-BD31-4B8C-83A1-F6EECF244321}">
                <p14:modId xmlns="" xmlns:p14="http://schemas.microsoft.com/office/powerpoint/2010/main" val="4066391413"/>
              </p:ext>
            </p:extLst>
          </p:nvPr>
        </p:nvGraphicFramePr>
        <p:xfrm>
          <a:off x="6553200" y="0"/>
          <a:ext cx="2581275" cy="991553"/>
        </p:xfrm>
        <a:graphic>
          <a:graphicData uri="http://schemas.openxmlformats.org/drawingml/2006/table">
            <a:tbl>
              <a:tblPr/>
              <a:tblGrid>
                <a:gridCol w="1739323"/>
                <a:gridCol w="841952"/>
              </a:tblGrid>
              <a:tr h="228600">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Status</a:t>
                      </a:r>
                    </a:p>
                  </a:txBody>
                  <a:tcPr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B8D2EA"/>
                    </a:solidFill>
                  </a:tcPr>
                </a:tc>
                <a:tc hMerge="1">
                  <a:txBody>
                    <a:bodyPr/>
                    <a:lstStyle/>
                    <a:p>
                      <a:endParaRPr lang="en-US"/>
                    </a:p>
                  </a:txBody>
                  <a:tcPr/>
                </a:tc>
              </a:tr>
              <a:tr h="24765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Current Month (September)</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1" i="0" u="none" strike="noStrike" cap="none" normalizeH="0" baseline="0" dirty="0" smtClean="0">
                        <a:ln>
                          <a:noFill/>
                        </a:ln>
                        <a:solidFill>
                          <a:srgbClr val="00B050"/>
                        </a:solidFill>
                        <a:effectLst/>
                        <a:latin typeface="Arial"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2413">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Next Month (October)</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1" i="0" u="none" strike="noStrike" cap="none" normalizeH="0" baseline="0" dirty="0" smtClean="0">
                        <a:ln>
                          <a:noFill/>
                        </a:ln>
                        <a:solidFill>
                          <a:srgbClr val="00B050"/>
                        </a:solidFill>
                        <a:effectLst/>
                        <a:latin typeface="Arial"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765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Projected Green Date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   N/A</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sp>
        <p:nvSpPr>
          <p:cNvPr id="5136" name="Rectangle 26"/>
          <p:cNvSpPr>
            <a:spLocks noChangeArrowheads="1"/>
          </p:cNvSpPr>
          <p:nvPr/>
        </p:nvSpPr>
        <p:spPr bwMode="auto">
          <a:xfrm>
            <a:off x="3657600" y="914400"/>
            <a:ext cx="5248275" cy="1244600"/>
          </a:xfrm>
          <a:prstGeom prst="rect">
            <a:avLst/>
          </a:prstGeom>
          <a:noFill/>
          <a:ln w="9525">
            <a:noFill/>
            <a:miter lim="800000"/>
            <a:headEnd/>
            <a:tailEnd/>
          </a:ln>
        </p:spPr>
        <p:txBody>
          <a:bodyPr anchor="ctr"/>
          <a:lstStyle/>
          <a:p>
            <a:pPr algn="ctr"/>
            <a:r>
              <a:rPr lang="en-US" sz="1600" dirty="0" smtClean="0">
                <a:solidFill>
                  <a:srgbClr val="0000FF"/>
                </a:solidFill>
                <a:latin typeface="Arial Rounded MT Bold" pitchFamily="34" charset="0"/>
              </a:rPr>
              <a:t>Metrics Detail: </a:t>
            </a:r>
            <a:r>
              <a:rPr lang="en-US" sz="1600" dirty="0">
                <a:solidFill>
                  <a:srgbClr val="0000FF"/>
                </a:solidFill>
                <a:latin typeface="Arial Rounded MT Bold" pitchFamily="34" charset="0"/>
              </a:rPr>
              <a:t/>
            </a:r>
            <a:br>
              <a:rPr lang="en-US" sz="1600" dirty="0">
                <a:solidFill>
                  <a:srgbClr val="0000FF"/>
                </a:solidFill>
                <a:latin typeface="Arial Rounded MT Bold" pitchFamily="34" charset="0"/>
              </a:rPr>
            </a:br>
            <a:r>
              <a:rPr lang="en-US" sz="1600" dirty="0" smtClean="0">
                <a:solidFill>
                  <a:srgbClr val="800000"/>
                </a:solidFill>
                <a:latin typeface="Arial Rounded MT Bold" pitchFamily="34" charset="0"/>
              </a:rPr>
              <a:t> Commercial Small Business Payment Timeliness</a:t>
            </a:r>
          </a:p>
          <a:p>
            <a:pPr algn="ctr"/>
            <a:r>
              <a:rPr lang="en-US" sz="1600" b="1" dirty="0" smtClean="0"/>
              <a:t>Timeliness Exceeds Goal </a:t>
            </a:r>
            <a:r>
              <a:rPr lang="en-US" sz="1600" dirty="0">
                <a:solidFill>
                  <a:srgbClr val="0000FF"/>
                </a:solidFill>
                <a:latin typeface="Arial Rounded MT Bold" pitchFamily="34" charset="0"/>
              </a:rPr>
              <a:t/>
            </a:r>
            <a:br>
              <a:rPr lang="en-US" sz="1600" dirty="0">
                <a:solidFill>
                  <a:srgbClr val="0000FF"/>
                </a:solidFill>
                <a:latin typeface="Arial Rounded MT Bold" pitchFamily="34" charset="0"/>
              </a:rPr>
            </a:br>
            <a:r>
              <a:rPr lang="en-US" sz="1600" dirty="0">
                <a:latin typeface="Arial Rounded MT Bold" pitchFamily="34" charset="0"/>
              </a:rPr>
              <a:t> </a:t>
            </a:r>
            <a:endParaRPr lang="en-US" sz="1400" dirty="0">
              <a:latin typeface="Arial Rounded MT Bold" pitchFamily="34" charset="0"/>
            </a:endParaRPr>
          </a:p>
        </p:txBody>
      </p:sp>
      <p:graphicFrame>
        <p:nvGraphicFramePr>
          <p:cNvPr id="93211" name="Group 27"/>
          <p:cNvGraphicFramePr>
            <a:graphicFrameLocks noGrp="1"/>
          </p:cNvGraphicFramePr>
          <p:nvPr/>
        </p:nvGraphicFramePr>
        <p:xfrm>
          <a:off x="0" y="0"/>
          <a:ext cx="2971800" cy="1813561"/>
        </p:xfrm>
        <a:graphic>
          <a:graphicData uri="http://schemas.openxmlformats.org/drawingml/2006/table">
            <a:tbl>
              <a:tblPr/>
              <a:tblGrid>
                <a:gridCol w="914400"/>
                <a:gridCol w="2057400"/>
              </a:tblGrid>
              <a:tr h="227013">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Linkages</a:t>
                      </a:r>
                    </a:p>
                  </a:txBody>
                  <a:tcPr horzOverflow="overflow">
                    <a:lnL cap="flat">
                      <a:noFill/>
                    </a:lnL>
                    <a:lnR cap="flat">
                      <a:noFill/>
                    </a:lnR>
                    <a:lnT cap="flat">
                      <a:noFill/>
                    </a:lnT>
                    <a:lnB>
                      <a:noFill/>
                    </a:lnB>
                    <a:lnTlToBr>
                      <a:noFill/>
                    </a:lnTlToBr>
                    <a:lnBlToTr>
                      <a:noFill/>
                    </a:lnBlToTr>
                    <a:solidFill>
                      <a:srgbClr val="EDD4A1"/>
                    </a:solidFill>
                  </a:tcPr>
                </a:tc>
                <a:tc hMerge="1">
                  <a:txBody>
                    <a:bodyPr/>
                    <a:lstStyle/>
                    <a:p>
                      <a:endParaRPr lang="en-US"/>
                    </a:p>
                  </a:txBody>
                  <a:tcPr/>
                </a:tc>
              </a:tr>
              <a:tr h="236538">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Org</a:t>
                      </a:r>
                    </a:p>
                  </a:txBody>
                  <a:tcPr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OM</a:t>
                      </a:r>
                    </a:p>
                  </a:txBody>
                  <a:tcPr horzOverflow="overflow">
                    <a:lnL w="12700" cap="flat" cmpd="sng" algn="ctr">
                      <a:solidFill>
                        <a:schemeClr val="tx1"/>
                      </a:solidFill>
                      <a:prstDash val="solid"/>
                      <a:round/>
                      <a:headEnd type="none" w="med" len="med"/>
                      <a:tailEnd type="none" w="med" len="med"/>
                    </a:lnL>
                    <a:lnR cap="flat">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r>
              <a:tr h="265113">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B/Line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Enabling</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Metric Type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Performance</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082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B/Scorecard</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Operations</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812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Strategic Goal</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4</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6538">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Corp Outcome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solidFill>
                      <a:srgbClr val="FFFF00"/>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pitchFamily="34" charset="0"/>
                        </a:rPr>
                        <a:t>Improve Management and Support Services Timeliness</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solidFill>
                      <a:srgbClr val="FFFF00"/>
                    </a:solidFill>
                  </a:tcPr>
                </a:tc>
              </a:tr>
            </a:tbl>
          </a:graphicData>
        </a:graphic>
      </p:graphicFrame>
      <p:sp>
        <p:nvSpPr>
          <p:cNvPr id="5157" name="TextBox 16"/>
          <p:cNvSpPr txBox="1">
            <a:spLocks noChangeArrowheads="1"/>
          </p:cNvSpPr>
          <p:nvPr/>
        </p:nvSpPr>
        <p:spPr bwMode="auto">
          <a:xfrm>
            <a:off x="5562600" y="838200"/>
            <a:ext cx="914400" cy="369888"/>
          </a:xfrm>
          <a:prstGeom prst="rect">
            <a:avLst/>
          </a:prstGeom>
          <a:noFill/>
          <a:ln w="9525">
            <a:noFill/>
            <a:miter lim="800000"/>
            <a:headEnd/>
            <a:tailEnd/>
          </a:ln>
        </p:spPr>
        <p:txBody>
          <a:bodyPr>
            <a:spAutoFit/>
          </a:bodyPr>
          <a:lstStyle/>
          <a:p>
            <a:endParaRPr lang="en-US" dirty="0"/>
          </a:p>
        </p:txBody>
      </p:sp>
      <p:sp>
        <p:nvSpPr>
          <p:cNvPr id="5159" name="Slide Number Placeholder 16"/>
          <p:cNvSpPr>
            <a:spLocks noGrp="1"/>
          </p:cNvSpPr>
          <p:nvPr>
            <p:ph type="sldNum" sz="quarter" idx="11"/>
          </p:nvPr>
        </p:nvSpPr>
        <p:spPr>
          <a:xfrm>
            <a:off x="6553200" y="6356350"/>
            <a:ext cx="2133600" cy="365125"/>
          </a:xfrm>
          <a:noFill/>
        </p:spPr>
        <p:txBody>
          <a:bodyPr/>
          <a:lstStyle/>
          <a:p>
            <a:fld id="{B0756BEF-E3B6-4B30-98B6-41D82E769A60}" type="slidenum">
              <a:rPr lang="en-US" smtClean="0">
                <a:latin typeface="Arial" pitchFamily="34" charset="0"/>
              </a:rPr>
              <a:pPr/>
              <a:t>4</a:t>
            </a:fld>
            <a:endParaRPr lang="en-US" dirty="0" smtClean="0">
              <a:latin typeface="Arial" pitchFamily="34" charset="0"/>
            </a:endParaRPr>
          </a:p>
        </p:txBody>
      </p:sp>
      <p:sp>
        <p:nvSpPr>
          <p:cNvPr id="5161" name="Date Placeholder 1"/>
          <p:cNvSpPr>
            <a:spLocks noGrp="1"/>
          </p:cNvSpPr>
          <p:nvPr>
            <p:ph type="dt" sz="quarter" idx="10"/>
          </p:nvPr>
        </p:nvSpPr>
        <p:spPr>
          <a:xfrm>
            <a:off x="457200" y="6400799"/>
            <a:ext cx="2938463" cy="304801"/>
          </a:xfrm>
          <a:noFill/>
        </p:spPr>
        <p:txBody>
          <a:bodyPr/>
          <a:lstStyle/>
          <a:p>
            <a:r>
              <a:rPr lang="en-US" dirty="0" smtClean="0">
                <a:latin typeface="Arial" pitchFamily="34" charset="0"/>
              </a:rPr>
              <a:t>SG4 - Data Through September 2012</a:t>
            </a:r>
          </a:p>
        </p:txBody>
      </p:sp>
      <p:graphicFrame>
        <p:nvGraphicFramePr>
          <p:cNvPr id="36867" name="Object 2"/>
          <p:cNvGraphicFramePr>
            <a:graphicFrameLocks noGrp="1" noChangeAspect="1"/>
          </p:cNvGraphicFramePr>
          <p:nvPr>
            <p:extLst>
              <p:ext uri="{D42A27DB-BD31-4B8C-83A1-F6EECF244321}">
                <p14:modId xmlns="" xmlns:p14="http://schemas.microsoft.com/office/powerpoint/2010/main" val="3312868688"/>
              </p:ext>
            </p:extLst>
          </p:nvPr>
        </p:nvGraphicFramePr>
        <p:xfrm>
          <a:off x="787400" y="1752601"/>
          <a:ext cx="8447088" cy="4800600"/>
        </p:xfrm>
        <a:graphic>
          <a:graphicData uri="http://schemas.openxmlformats.org/presentationml/2006/ole">
            <p:oleObj spid="_x0000_s36991" name="Worksheet" r:id="rId4" imgW="6677146" imgH="5010120" progId="Excel.Sheet.8">
              <p:embed/>
            </p:oleObj>
          </a:graphicData>
        </a:graphic>
      </p:graphicFrame>
      <p:sp>
        <p:nvSpPr>
          <p:cNvPr id="12" name="TextBox 11"/>
          <p:cNvSpPr txBox="1"/>
          <p:nvPr/>
        </p:nvSpPr>
        <p:spPr>
          <a:xfrm>
            <a:off x="990600" y="3276600"/>
            <a:ext cx="1600200" cy="738664"/>
          </a:xfrm>
          <a:prstGeom prst="rect">
            <a:avLst/>
          </a:prstGeom>
          <a:noFill/>
        </p:spPr>
        <p:txBody>
          <a:bodyPr wrap="square" rtlCol="0">
            <a:spAutoFit/>
          </a:bodyPr>
          <a:lstStyle/>
          <a:p>
            <a:r>
              <a:rPr lang="en-US" sz="1050" dirty="0" smtClean="0"/>
              <a:t>Percent Paid Within 15 Days of Receipt of All Proper Payment Documentation</a:t>
            </a:r>
            <a:endParaRPr lang="en-US" sz="1050" dirty="0"/>
          </a:p>
        </p:txBody>
      </p:sp>
      <p:sp>
        <p:nvSpPr>
          <p:cNvPr id="15" name="Oval 28"/>
          <p:cNvSpPr>
            <a:spLocks noChangeArrowheads="1"/>
          </p:cNvSpPr>
          <p:nvPr/>
        </p:nvSpPr>
        <p:spPr bwMode="auto">
          <a:xfrm>
            <a:off x="8610600" y="533400"/>
            <a:ext cx="152400" cy="152400"/>
          </a:xfrm>
          <a:prstGeom prst="ellipse">
            <a:avLst/>
          </a:prstGeom>
          <a:solidFill>
            <a:srgbClr val="00B050"/>
          </a:solidFill>
          <a:ln w="9525">
            <a:solidFill>
              <a:schemeClr val="tx1"/>
            </a:solidFill>
            <a:round/>
            <a:headEnd/>
            <a:tailEnd/>
          </a:ln>
        </p:spPr>
        <p:txBody>
          <a:bodyPr wrap="none" anchor="ctr"/>
          <a:lstStyle/>
          <a:p>
            <a:pPr algn="ctr"/>
            <a:r>
              <a:rPr lang="en-US" sz="1000" dirty="0"/>
              <a:t>G</a:t>
            </a:r>
          </a:p>
        </p:txBody>
      </p:sp>
      <p:sp>
        <p:nvSpPr>
          <p:cNvPr id="16" name="Oval 28"/>
          <p:cNvSpPr>
            <a:spLocks noChangeArrowheads="1"/>
          </p:cNvSpPr>
          <p:nvPr/>
        </p:nvSpPr>
        <p:spPr bwMode="auto">
          <a:xfrm>
            <a:off x="8610600" y="304800"/>
            <a:ext cx="152400" cy="152400"/>
          </a:xfrm>
          <a:prstGeom prst="ellipse">
            <a:avLst/>
          </a:prstGeom>
          <a:solidFill>
            <a:srgbClr val="00B050"/>
          </a:solidFill>
          <a:ln w="9525">
            <a:solidFill>
              <a:schemeClr val="tx1"/>
            </a:solidFill>
            <a:round/>
            <a:headEnd/>
            <a:tailEnd/>
          </a:ln>
        </p:spPr>
        <p:txBody>
          <a:bodyPr wrap="none" anchor="ctr"/>
          <a:lstStyle/>
          <a:p>
            <a:pPr algn="ctr"/>
            <a:r>
              <a:rPr lang="en-US" sz="1000" dirty="0"/>
              <a:t>G</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52400"/>
            <a:ext cx="8915400" cy="6170920"/>
          </a:xfrm>
          <a:prstGeom prst="rect">
            <a:avLst/>
          </a:prstGeom>
          <a:noFill/>
        </p:spPr>
        <p:txBody>
          <a:bodyPr wrap="square">
            <a:spAutoFit/>
          </a:bodyPr>
          <a:lstStyle/>
          <a:p>
            <a:pPr>
              <a:defRPr/>
            </a:pPr>
            <a:r>
              <a:rPr lang="en-US" sz="1400" b="1" dirty="0">
                <a:solidFill>
                  <a:prstClr val="black"/>
                </a:solidFill>
                <a:latin typeface="Arial" pitchFamily="34" charset="0"/>
                <a:cs typeface="Arial" pitchFamily="34" charset="0"/>
              </a:rPr>
              <a:t>PCS Change of Station </a:t>
            </a:r>
            <a:r>
              <a:rPr lang="en-US" sz="1400" b="1" dirty="0" smtClean="0">
                <a:solidFill>
                  <a:prstClr val="black"/>
                </a:solidFill>
                <a:latin typeface="Arial" pitchFamily="34" charset="0"/>
                <a:cs typeface="Arial" pitchFamily="34" charset="0"/>
              </a:rPr>
              <a:t>– Pre-Move </a:t>
            </a:r>
            <a:r>
              <a:rPr lang="en-US" sz="1400" b="1" dirty="0">
                <a:solidFill>
                  <a:prstClr val="black"/>
                </a:solidFill>
                <a:latin typeface="Arial" pitchFamily="34" charset="0"/>
                <a:cs typeface="Arial" pitchFamily="34" charset="0"/>
              </a:rPr>
              <a:t>Notes</a:t>
            </a:r>
          </a:p>
          <a:p>
            <a:pPr>
              <a:defRPr/>
            </a:pPr>
            <a:endParaRPr lang="en-US" sz="500" dirty="0">
              <a:solidFill>
                <a:prstClr val="black"/>
              </a:solidFill>
              <a:latin typeface="Arial" pitchFamily="34" charset="0"/>
              <a:cs typeface="Arial" pitchFamily="34" charset="0"/>
            </a:endParaRPr>
          </a:p>
          <a:p>
            <a:pPr marL="115888" indent="-115888">
              <a:buFont typeface="Arial" pitchFamily="34" charset="0"/>
              <a:buChar char="•"/>
              <a:defRPr/>
            </a:pPr>
            <a:r>
              <a:rPr lang="en-US" sz="1200" dirty="0" smtClean="0">
                <a:solidFill>
                  <a:prstClr val="black"/>
                </a:solidFill>
                <a:latin typeface="Arial" pitchFamily="34" charset="0"/>
                <a:cs typeface="Arial" pitchFamily="34" charset="0"/>
              </a:rPr>
              <a:t>Pre-Move </a:t>
            </a:r>
            <a:r>
              <a:rPr lang="en-US" sz="1200" dirty="0">
                <a:solidFill>
                  <a:prstClr val="black"/>
                </a:solidFill>
                <a:latin typeface="Arial" pitchFamily="34" charset="0"/>
                <a:cs typeface="Arial" pitchFamily="34" charset="0"/>
              </a:rPr>
              <a:t>survey measure evaluates customer satisfaction with services for PCS move preparatory events, including:</a:t>
            </a:r>
          </a:p>
          <a:p>
            <a:pPr marL="406400" lvl="1" indent="-174625">
              <a:buFont typeface="Arial" pitchFamily="34" charset="0"/>
              <a:buChar char="•"/>
              <a:defRPr/>
            </a:pPr>
            <a:r>
              <a:rPr lang="en-US" sz="1200" dirty="0">
                <a:solidFill>
                  <a:prstClr val="black"/>
                </a:solidFill>
                <a:latin typeface="Arial" pitchFamily="34" charset="0"/>
                <a:cs typeface="Arial" pitchFamily="34" charset="0"/>
              </a:rPr>
              <a:t> Initiation of PCS travel documents  </a:t>
            </a:r>
          </a:p>
          <a:p>
            <a:pPr marL="406400" lvl="1" indent="-174625">
              <a:buFont typeface="Arial" pitchFamily="34" charset="0"/>
              <a:buChar char="•"/>
              <a:defRPr/>
            </a:pPr>
            <a:r>
              <a:rPr lang="en-US" sz="1200" dirty="0">
                <a:solidFill>
                  <a:prstClr val="black"/>
                </a:solidFill>
                <a:latin typeface="Arial" pitchFamily="34" charset="0"/>
                <a:cs typeface="Arial" pitchFamily="34" charset="0"/>
              </a:rPr>
              <a:t> FSC counseling of employees</a:t>
            </a:r>
          </a:p>
          <a:p>
            <a:pPr marL="406400" lvl="1" indent="-174625">
              <a:buFont typeface="Arial" pitchFamily="34" charset="0"/>
              <a:buChar char="•"/>
              <a:defRPr/>
            </a:pPr>
            <a:r>
              <a:rPr lang="en-US" sz="1200" dirty="0">
                <a:solidFill>
                  <a:prstClr val="black"/>
                </a:solidFill>
                <a:latin typeface="Arial" pitchFamily="34" charset="0"/>
                <a:cs typeface="Arial" pitchFamily="34" charset="0"/>
              </a:rPr>
              <a:t> Initiation of Household Goods (HHG) work order with Relocation Move Management</a:t>
            </a:r>
          </a:p>
          <a:p>
            <a:pPr marL="406400" lvl="1" indent="-174625">
              <a:buFont typeface="Arial" pitchFamily="34" charset="0"/>
              <a:buChar char="•"/>
              <a:defRPr/>
            </a:pPr>
            <a:r>
              <a:rPr lang="en-US" sz="1200" dirty="0">
                <a:solidFill>
                  <a:prstClr val="black"/>
                </a:solidFill>
                <a:latin typeface="Arial" pitchFamily="34" charset="0"/>
                <a:cs typeface="Arial" pitchFamily="34" charset="0"/>
              </a:rPr>
              <a:t> Initiation of applicable home sale work order with Prudential Relocation</a:t>
            </a:r>
          </a:p>
          <a:p>
            <a:pPr>
              <a:defRPr/>
            </a:pPr>
            <a:endParaRPr lang="en-US" sz="500" dirty="0">
              <a:solidFill>
                <a:prstClr val="black"/>
              </a:solidFill>
              <a:latin typeface="Arial" pitchFamily="34" charset="0"/>
              <a:cs typeface="Arial" pitchFamily="34" charset="0"/>
            </a:endParaRPr>
          </a:p>
          <a:p>
            <a:pPr marL="115888" indent="-115888">
              <a:buFont typeface="Arial" pitchFamily="34" charset="0"/>
              <a:buChar char="•"/>
              <a:defRPr/>
            </a:pPr>
            <a:r>
              <a:rPr lang="en-US" sz="1200" dirty="0">
                <a:solidFill>
                  <a:prstClr val="black"/>
                </a:solidFill>
                <a:latin typeface="Arial" pitchFamily="34" charset="0"/>
                <a:cs typeface="Arial" pitchFamily="34" charset="0"/>
              </a:rPr>
              <a:t>Employees are not required to respond to survey, but all employees completing </a:t>
            </a:r>
            <a:r>
              <a:rPr lang="en-US" sz="1200" dirty="0" smtClean="0">
                <a:solidFill>
                  <a:prstClr val="black"/>
                </a:solidFill>
                <a:latin typeface="Arial" pitchFamily="34" charset="0"/>
                <a:cs typeface="Arial" pitchFamily="34" charset="0"/>
              </a:rPr>
              <a:t>pre-move </a:t>
            </a:r>
            <a:r>
              <a:rPr lang="en-US" sz="1200" dirty="0">
                <a:solidFill>
                  <a:prstClr val="black"/>
                </a:solidFill>
                <a:latin typeface="Arial" pitchFamily="34" charset="0"/>
                <a:cs typeface="Arial" pitchFamily="34" charset="0"/>
              </a:rPr>
              <a:t>events are surveyed</a:t>
            </a:r>
          </a:p>
          <a:p>
            <a:pPr marL="115888" indent="-115888">
              <a:defRPr/>
            </a:pPr>
            <a:endParaRPr lang="en-US" sz="500" dirty="0">
              <a:solidFill>
                <a:prstClr val="black"/>
              </a:solidFill>
              <a:latin typeface="Arial" pitchFamily="34" charset="0"/>
              <a:cs typeface="Arial" pitchFamily="34" charset="0"/>
            </a:endParaRPr>
          </a:p>
          <a:p>
            <a:pPr>
              <a:buFont typeface="Arial" pitchFamily="34" charset="0"/>
              <a:buChar char="•"/>
              <a:defRPr/>
            </a:pPr>
            <a:r>
              <a:rPr lang="en-US" sz="1200" dirty="0">
                <a:solidFill>
                  <a:prstClr val="black"/>
                </a:solidFill>
                <a:latin typeface="Arial" pitchFamily="34" charset="0"/>
                <a:cs typeface="Arial" pitchFamily="34" charset="0"/>
              </a:rPr>
              <a:t>  Survey asks customers to rank overall satisfaction with </a:t>
            </a:r>
            <a:r>
              <a:rPr lang="en-US" sz="1200" dirty="0" smtClean="0">
                <a:solidFill>
                  <a:prstClr val="black"/>
                </a:solidFill>
                <a:latin typeface="Arial" pitchFamily="34" charset="0"/>
                <a:cs typeface="Arial" pitchFamily="34" charset="0"/>
              </a:rPr>
              <a:t>pre-move </a:t>
            </a:r>
            <a:r>
              <a:rPr lang="en-US" sz="1200" dirty="0">
                <a:solidFill>
                  <a:prstClr val="black"/>
                </a:solidFill>
                <a:latin typeface="Arial" pitchFamily="34" charset="0"/>
                <a:cs typeface="Arial" pitchFamily="34" charset="0"/>
              </a:rPr>
              <a:t>services</a:t>
            </a:r>
          </a:p>
          <a:p>
            <a:pPr lvl="1" indent="-225425">
              <a:buFont typeface="Arial" pitchFamily="34" charset="0"/>
              <a:buChar char="•"/>
              <a:defRPr/>
            </a:pPr>
            <a:r>
              <a:rPr lang="en-US" sz="1200" dirty="0">
                <a:solidFill>
                  <a:prstClr val="black"/>
                </a:solidFill>
                <a:latin typeface="Arial" pitchFamily="34" charset="0"/>
                <a:cs typeface="Arial" pitchFamily="34" charset="0"/>
              </a:rPr>
              <a:t>Scale:  1 – Very Dissatisfied to 5 – Very Satisfied</a:t>
            </a:r>
          </a:p>
          <a:p>
            <a:pPr lvl="1" indent="-225425">
              <a:buFont typeface="Arial" pitchFamily="34" charset="0"/>
              <a:buChar char="•"/>
              <a:defRPr/>
            </a:pPr>
            <a:r>
              <a:rPr lang="en-US" sz="1200" dirty="0">
                <a:solidFill>
                  <a:prstClr val="black"/>
                </a:solidFill>
                <a:latin typeface="Arial" pitchFamily="34" charset="0"/>
                <a:cs typeface="Arial" pitchFamily="34" charset="0"/>
              </a:rPr>
              <a:t>Goal is 4.4 </a:t>
            </a:r>
            <a:r>
              <a:rPr lang="en-US" sz="1200" dirty="0" smtClean="0">
                <a:solidFill>
                  <a:prstClr val="black"/>
                </a:solidFill>
                <a:latin typeface="Arial" pitchFamily="34" charset="0"/>
                <a:cs typeface="Arial" pitchFamily="34" charset="0"/>
              </a:rPr>
              <a:t> </a:t>
            </a:r>
            <a:r>
              <a:rPr lang="en-US" sz="1200" dirty="0" smtClean="0">
                <a:solidFill>
                  <a:srgbClr val="00CC00"/>
                </a:solidFill>
                <a:latin typeface="Arial" pitchFamily="34" charset="0"/>
                <a:cs typeface="Arial" pitchFamily="34" charset="0"/>
              </a:rPr>
              <a:t>FY 2012 4th Quarter –  4.5</a:t>
            </a:r>
            <a:endParaRPr lang="en-US" sz="1200" dirty="0">
              <a:solidFill>
                <a:srgbClr val="00CC00"/>
              </a:solidFill>
              <a:latin typeface="Arial" pitchFamily="34" charset="0"/>
              <a:cs typeface="Arial" pitchFamily="34" charset="0"/>
            </a:endParaRPr>
          </a:p>
          <a:p>
            <a:pPr lvl="1" indent="-225425">
              <a:defRPr/>
            </a:pPr>
            <a:endParaRPr lang="en-US" sz="500" dirty="0">
              <a:solidFill>
                <a:prstClr val="black"/>
              </a:solidFill>
              <a:latin typeface="Arial" pitchFamily="34" charset="0"/>
              <a:cs typeface="Arial" pitchFamily="34" charset="0"/>
            </a:endParaRPr>
          </a:p>
          <a:p>
            <a:pPr marL="115888" indent="-115888">
              <a:buFont typeface="Arial" pitchFamily="34" charset="0"/>
              <a:buChar char="•"/>
              <a:defRPr/>
            </a:pPr>
            <a:r>
              <a:rPr lang="en-US" sz="1200" dirty="0">
                <a:solidFill>
                  <a:prstClr val="black"/>
                </a:solidFill>
                <a:latin typeface="Arial" pitchFamily="34" charset="0"/>
                <a:cs typeface="Arial" pitchFamily="34" charset="0"/>
              </a:rPr>
              <a:t> Survey Statistics			           </a:t>
            </a:r>
            <a:r>
              <a:rPr lang="en-US" sz="1200" u="sng" dirty="0" smtClean="0">
                <a:solidFill>
                  <a:prstClr val="black"/>
                </a:solidFill>
                <a:latin typeface="Arial" pitchFamily="34" charset="0"/>
                <a:cs typeface="Arial" pitchFamily="34" charset="0"/>
              </a:rPr>
              <a:t>FY 2011</a:t>
            </a:r>
            <a:r>
              <a:rPr lang="en-US" sz="1200" dirty="0" smtClean="0">
                <a:solidFill>
                  <a:srgbClr val="0000FF"/>
                </a:solidFill>
                <a:latin typeface="Arial" pitchFamily="34" charset="0"/>
                <a:cs typeface="Arial" pitchFamily="34" charset="0"/>
              </a:rPr>
              <a:t>		</a:t>
            </a:r>
            <a:r>
              <a:rPr lang="en-US" sz="1200" u="sng" dirty="0" smtClean="0">
                <a:solidFill>
                  <a:srgbClr val="0000FF"/>
                </a:solidFill>
                <a:latin typeface="Arial" pitchFamily="34" charset="0"/>
                <a:cs typeface="Arial" pitchFamily="34" charset="0"/>
              </a:rPr>
              <a:t>FY 2012</a:t>
            </a:r>
            <a:endParaRPr lang="en-US" sz="1200" u="sng" dirty="0">
              <a:solidFill>
                <a:srgbClr val="0000FF"/>
              </a:solidFill>
              <a:latin typeface="Arial" pitchFamily="34" charset="0"/>
              <a:cs typeface="Arial" pitchFamily="34" charset="0"/>
            </a:endParaRPr>
          </a:p>
          <a:p>
            <a:pPr marL="3316288" lvl="7" indent="-115888">
              <a:defRPr/>
            </a:pPr>
            <a:r>
              <a:rPr lang="en-US" sz="1200" dirty="0">
                <a:solidFill>
                  <a:prstClr val="black"/>
                </a:solidFill>
                <a:latin typeface="Arial" pitchFamily="34" charset="0"/>
                <a:cs typeface="Arial" pitchFamily="34" charset="0"/>
              </a:rPr>
              <a:t>		</a:t>
            </a:r>
            <a:r>
              <a:rPr lang="en-US" sz="1200" dirty="0" smtClean="0">
                <a:solidFill>
                  <a:prstClr val="black"/>
                </a:solidFill>
                <a:latin typeface="Arial" pitchFamily="34" charset="0"/>
                <a:cs typeface="Arial" pitchFamily="34" charset="0"/>
              </a:rPr>
              <a:t>  </a:t>
            </a:r>
            <a:r>
              <a:rPr lang="en-US" sz="1200" u="sng" dirty="0" smtClean="0">
                <a:solidFill>
                  <a:prstClr val="black"/>
                </a:solidFill>
                <a:latin typeface="Arial" pitchFamily="34" charset="0"/>
                <a:cs typeface="Arial" pitchFamily="34" charset="0"/>
              </a:rPr>
              <a:t>Q1</a:t>
            </a:r>
            <a:r>
              <a:rPr lang="en-US" sz="1200" dirty="0" smtClean="0">
                <a:solidFill>
                  <a:prstClr val="black"/>
                </a:solidFill>
                <a:latin typeface="Arial" pitchFamily="34" charset="0"/>
                <a:cs typeface="Arial" pitchFamily="34" charset="0"/>
              </a:rPr>
              <a:t>     </a:t>
            </a:r>
            <a:r>
              <a:rPr lang="en-US" sz="1200" u="sng" dirty="0">
                <a:solidFill>
                  <a:prstClr val="black"/>
                </a:solidFill>
                <a:latin typeface="Arial" pitchFamily="34" charset="0"/>
                <a:cs typeface="Arial" pitchFamily="34" charset="0"/>
              </a:rPr>
              <a:t>Q2</a:t>
            </a:r>
            <a:r>
              <a:rPr lang="en-US" sz="1200" dirty="0">
                <a:solidFill>
                  <a:prstClr val="black"/>
                </a:solidFill>
                <a:latin typeface="Arial" pitchFamily="34" charset="0"/>
                <a:cs typeface="Arial" pitchFamily="34" charset="0"/>
              </a:rPr>
              <a:t>    </a:t>
            </a:r>
            <a:r>
              <a:rPr lang="en-US" sz="1200" u="sng" dirty="0">
                <a:solidFill>
                  <a:prstClr val="black"/>
                </a:solidFill>
                <a:latin typeface="Arial" pitchFamily="34" charset="0"/>
                <a:cs typeface="Arial" pitchFamily="34" charset="0"/>
              </a:rPr>
              <a:t>Q3</a:t>
            </a:r>
            <a:r>
              <a:rPr lang="en-US" sz="1200" dirty="0">
                <a:solidFill>
                  <a:prstClr val="black"/>
                </a:solidFill>
                <a:latin typeface="Arial" pitchFamily="34" charset="0"/>
                <a:cs typeface="Arial" pitchFamily="34" charset="0"/>
              </a:rPr>
              <a:t>    </a:t>
            </a:r>
            <a:r>
              <a:rPr lang="en-US" sz="1200" u="sng" dirty="0">
                <a:solidFill>
                  <a:prstClr val="black"/>
                </a:solidFill>
                <a:latin typeface="Arial" pitchFamily="34" charset="0"/>
                <a:cs typeface="Arial" pitchFamily="34" charset="0"/>
              </a:rPr>
              <a:t>Q4</a:t>
            </a:r>
            <a:r>
              <a:rPr lang="en-US" sz="1200" dirty="0">
                <a:solidFill>
                  <a:prstClr val="black"/>
                </a:solidFill>
                <a:latin typeface="Arial" pitchFamily="34" charset="0"/>
                <a:cs typeface="Arial" pitchFamily="34" charset="0"/>
              </a:rPr>
              <a:t>  </a:t>
            </a:r>
            <a:r>
              <a:rPr lang="en-US" sz="1200" dirty="0" smtClean="0">
                <a:solidFill>
                  <a:prstClr val="black"/>
                </a:solidFill>
                <a:latin typeface="Arial" pitchFamily="34" charset="0"/>
                <a:cs typeface="Arial" pitchFamily="34" charset="0"/>
              </a:rPr>
              <a:t>	           </a:t>
            </a:r>
            <a:r>
              <a:rPr lang="en-US" sz="1200" u="sng" dirty="0" smtClean="0">
                <a:solidFill>
                  <a:srgbClr val="0000FF"/>
                </a:solidFill>
                <a:latin typeface="Arial" pitchFamily="34" charset="0"/>
                <a:cs typeface="Arial" pitchFamily="34" charset="0"/>
              </a:rPr>
              <a:t>Q1</a:t>
            </a:r>
            <a:r>
              <a:rPr lang="en-US" sz="1200" dirty="0" smtClean="0">
                <a:solidFill>
                  <a:srgbClr val="0000FF"/>
                </a:solidFill>
                <a:latin typeface="Arial" pitchFamily="34" charset="0"/>
                <a:cs typeface="Arial" pitchFamily="34" charset="0"/>
              </a:rPr>
              <a:t>	 </a:t>
            </a:r>
            <a:r>
              <a:rPr lang="en-US" sz="1200" u="sng" dirty="0" smtClean="0">
                <a:solidFill>
                  <a:srgbClr val="0000FF"/>
                </a:solidFill>
                <a:latin typeface="Arial" pitchFamily="34" charset="0"/>
                <a:cs typeface="Arial" pitchFamily="34" charset="0"/>
              </a:rPr>
              <a:t>Q2</a:t>
            </a:r>
            <a:r>
              <a:rPr lang="en-US" sz="1200" dirty="0" smtClean="0">
                <a:solidFill>
                  <a:srgbClr val="0000FF"/>
                </a:solidFill>
                <a:latin typeface="Arial" pitchFamily="34" charset="0"/>
                <a:cs typeface="Arial" pitchFamily="34" charset="0"/>
              </a:rPr>
              <a:t>     </a:t>
            </a:r>
            <a:r>
              <a:rPr lang="en-US" sz="1200" u="sng" dirty="0" smtClean="0">
                <a:solidFill>
                  <a:srgbClr val="0000FF"/>
                </a:solidFill>
                <a:latin typeface="Arial" pitchFamily="34" charset="0"/>
                <a:cs typeface="Arial" pitchFamily="34" charset="0"/>
              </a:rPr>
              <a:t>Q3</a:t>
            </a:r>
            <a:r>
              <a:rPr lang="en-US" sz="1200" dirty="0" smtClean="0">
                <a:solidFill>
                  <a:srgbClr val="0000FF"/>
                </a:solidFill>
                <a:latin typeface="Arial" pitchFamily="34" charset="0"/>
                <a:cs typeface="Arial" pitchFamily="34" charset="0"/>
              </a:rPr>
              <a:t>     </a:t>
            </a:r>
            <a:r>
              <a:rPr lang="en-US" sz="1200" u="sng" dirty="0" smtClean="0">
                <a:solidFill>
                  <a:srgbClr val="0000FF"/>
                </a:solidFill>
                <a:latin typeface="Arial" pitchFamily="34" charset="0"/>
                <a:cs typeface="Arial" pitchFamily="34" charset="0"/>
              </a:rPr>
              <a:t>Q4</a:t>
            </a:r>
            <a:r>
              <a:rPr lang="en-US" sz="1200" dirty="0">
                <a:solidFill>
                  <a:prstClr val="black"/>
                </a:solidFill>
                <a:latin typeface="Arial" pitchFamily="34" charset="0"/>
                <a:cs typeface="Arial" pitchFamily="34" charset="0"/>
              </a:rPr>
              <a:t>	  </a:t>
            </a:r>
          </a:p>
          <a:p>
            <a:pPr marL="573088" lvl="1" indent="-115888">
              <a:defRPr/>
            </a:pPr>
            <a:r>
              <a:rPr lang="en-US" sz="1200" dirty="0">
                <a:solidFill>
                  <a:prstClr val="black"/>
                </a:solidFill>
                <a:latin typeface="Arial" pitchFamily="34" charset="0"/>
                <a:cs typeface="Arial" pitchFamily="34" charset="0"/>
              </a:rPr>
              <a:t>Number Surveyed			 </a:t>
            </a:r>
            <a:r>
              <a:rPr lang="en-US" sz="1200" dirty="0" smtClean="0">
                <a:solidFill>
                  <a:prstClr val="black"/>
                </a:solidFill>
                <a:latin typeface="Arial" pitchFamily="34" charset="0"/>
                <a:cs typeface="Arial" pitchFamily="34" charset="0"/>
              </a:rPr>
              <a:t>298    </a:t>
            </a:r>
            <a:r>
              <a:rPr lang="en-US" sz="1200" dirty="0">
                <a:solidFill>
                  <a:prstClr val="black"/>
                </a:solidFill>
                <a:latin typeface="Arial" pitchFamily="34" charset="0"/>
                <a:cs typeface="Arial" pitchFamily="34" charset="0"/>
              </a:rPr>
              <a:t>248   286 </a:t>
            </a:r>
            <a:r>
              <a:rPr lang="en-US" sz="1200" dirty="0" smtClean="0">
                <a:solidFill>
                  <a:prstClr val="black"/>
                </a:solidFill>
                <a:latin typeface="Arial" pitchFamily="34" charset="0"/>
                <a:cs typeface="Arial" pitchFamily="34" charset="0"/>
              </a:rPr>
              <a:t>  278</a:t>
            </a:r>
            <a:r>
              <a:rPr lang="en-US" sz="1200" dirty="0">
                <a:solidFill>
                  <a:prstClr val="black"/>
                </a:solidFill>
                <a:latin typeface="Arial" pitchFamily="34" charset="0"/>
                <a:cs typeface="Arial" pitchFamily="34" charset="0"/>
              </a:rPr>
              <a:t>	 </a:t>
            </a:r>
            <a:r>
              <a:rPr lang="en-US" sz="1200" dirty="0" smtClean="0">
                <a:solidFill>
                  <a:prstClr val="black"/>
                </a:solidFill>
                <a:latin typeface="Arial" pitchFamily="34" charset="0"/>
                <a:cs typeface="Arial" pitchFamily="34" charset="0"/>
              </a:rPr>
              <a:t>         </a:t>
            </a:r>
            <a:r>
              <a:rPr lang="en-US" sz="1200" dirty="0" smtClean="0">
                <a:solidFill>
                  <a:srgbClr val="0000FF"/>
                </a:solidFill>
                <a:latin typeface="Arial" pitchFamily="34" charset="0"/>
                <a:cs typeface="Arial" pitchFamily="34" charset="0"/>
              </a:rPr>
              <a:t>194	184</a:t>
            </a:r>
            <a:r>
              <a:rPr lang="en-US" sz="1200" dirty="0" smtClean="0">
                <a:solidFill>
                  <a:prstClr val="black"/>
                </a:solidFill>
                <a:latin typeface="Arial" pitchFamily="34" charset="0"/>
                <a:cs typeface="Arial" pitchFamily="34" charset="0"/>
              </a:rPr>
              <a:t>    </a:t>
            </a:r>
            <a:r>
              <a:rPr lang="en-US" sz="1200" dirty="0" smtClean="0">
                <a:solidFill>
                  <a:srgbClr val="0000FF"/>
                </a:solidFill>
                <a:latin typeface="Arial" pitchFamily="34" charset="0"/>
                <a:cs typeface="Arial" pitchFamily="34" charset="0"/>
              </a:rPr>
              <a:t>232</a:t>
            </a:r>
            <a:r>
              <a:rPr lang="en-US" sz="1200" dirty="0" smtClean="0">
                <a:solidFill>
                  <a:prstClr val="black"/>
                </a:solidFill>
                <a:latin typeface="Arial" pitchFamily="34" charset="0"/>
                <a:cs typeface="Arial" pitchFamily="34" charset="0"/>
              </a:rPr>
              <a:t>     </a:t>
            </a:r>
            <a:r>
              <a:rPr lang="en-US" sz="1200" dirty="0">
                <a:solidFill>
                  <a:srgbClr val="0000FF"/>
                </a:solidFill>
                <a:latin typeface="Arial" pitchFamily="34" charset="0"/>
                <a:cs typeface="Arial" pitchFamily="34" charset="0"/>
              </a:rPr>
              <a:t>253</a:t>
            </a:r>
            <a:r>
              <a:rPr lang="en-US" sz="1200" dirty="0" smtClean="0">
                <a:solidFill>
                  <a:prstClr val="black"/>
                </a:solidFill>
                <a:latin typeface="Arial" pitchFamily="34" charset="0"/>
                <a:cs typeface="Arial" pitchFamily="34" charset="0"/>
              </a:rPr>
              <a:t> </a:t>
            </a:r>
            <a:r>
              <a:rPr lang="en-US" sz="1200" dirty="0">
                <a:solidFill>
                  <a:prstClr val="black"/>
                </a:solidFill>
                <a:latin typeface="Arial" pitchFamily="34" charset="0"/>
                <a:cs typeface="Arial" pitchFamily="34" charset="0"/>
              </a:rPr>
              <a:t>	</a:t>
            </a:r>
          </a:p>
          <a:p>
            <a:pPr marL="573088" lvl="1" indent="-115888">
              <a:defRPr/>
            </a:pPr>
            <a:r>
              <a:rPr lang="en-US" sz="1200" dirty="0">
                <a:solidFill>
                  <a:prstClr val="black"/>
                </a:solidFill>
                <a:latin typeface="Arial" pitchFamily="34" charset="0"/>
                <a:cs typeface="Arial" pitchFamily="34" charset="0"/>
              </a:rPr>
              <a:t>Number Responses Received		 </a:t>
            </a:r>
            <a:r>
              <a:rPr lang="en-US" sz="1200" dirty="0" smtClean="0">
                <a:solidFill>
                  <a:prstClr val="black"/>
                </a:solidFill>
                <a:latin typeface="Arial" pitchFamily="34" charset="0"/>
                <a:cs typeface="Arial" pitchFamily="34" charset="0"/>
              </a:rPr>
              <a:t>  93    </a:t>
            </a:r>
            <a:r>
              <a:rPr lang="en-US" sz="1200" dirty="0">
                <a:solidFill>
                  <a:prstClr val="black"/>
                </a:solidFill>
                <a:latin typeface="Arial" pitchFamily="34" charset="0"/>
                <a:cs typeface="Arial" pitchFamily="34" charset="0"/>
              </a:rPr>
              <a:t>111   </a:t>
            </a:r>
            <a:r>
              <a:rPr lang="en-US" sz="1200" dirty="0" smtClean="0">
                <a:solidFill>
                  <a:prstClr val="black"/>
                </a:solidFill>
                <a:latin typeface="Arial" pitchFamily="34" charset="0"/>
                <a:cs typeface="Arial" pitchFamily="34" charset="0"/>
              </a:rPr>
              <a:t>142     89</a:t>
            </a:r>
            <a:r>
              <a:rPr lang="en-US" sz="1200" dirty="0">
                <a:solidFill>
                  <a:prstClr val="black"/>
                </a:solidFill>
                <a:latin typeface="Arial" pitchFamily="34" charset="0"/>
                <a:cs typeface="Arial" pitchFamily="34" charset="0"/>
              </a:rPr>
              <a:t>	 </a:t>
            </a:r>
            <a:r>
              <a:rPr lang="en-US" sz="1200" dirty="0" smtClean="0">
                <a:solidFill>
                  <a:prstClr val="black"/>
                </a:solidFill>
                <a:latin typeface="Arial" pitchFamily="34" charset="0"/>
                <a:cs typeface="Arial" pitchFamily="34" charset="0"/>
              </a:rPr>
              <a:t>           </a:t>
            </a:r>
            <a:r>
              <a:rPr lang="en-US" sz="1200" dirty="0" smtClean="0">
                <a:solidFill>
                  <a:srgbClr val="0000FF"/>
                </a:solidFill>
                <a:latin typeface="Arial" pitchFamily="34" charset="0"/>
                <a:cs typeface="Arial" pitchFamily="34" charset="0"/>
              </a:rPr>
              <a:t>74 	  76      84     112</a:t>
            </a:r>
            <a:r>
              <a:rPr lang="en-US" sz="1200" dirty="0" smtClean="0">
                <a:solidFill>
                  <a:prstClr val="black"/>
                </a:solidFill>
                <a:latin typeface="Arial" pitchFamily="34" charset="0"/>
                <a:cs typeface="Arial" pitchFamily="34" charset="0"/>
              </a:rPr>
              <a:t> </a:t>
            </a:r>
            <a:r>
              <a:rPr lang="en-US" sz="1200" dirty="0">
                <a:solidFill>
                  <a:prstClr val="black"/>
                </a:solidFill>
                <a:latin typeface="Arial" pitchFamily="34" charset="0"/>
                <a:cs typeface="Arial" pitchFamily="34" charset="0"/>
              </a:rPr>
              <a:t>	 </a:t>
            </a:r>
          </a:p>
          <a:p>
            <a:pPr marL="573088" lvl="1" indent="-115888">
              <a:defRPr/>
            </a:pPr>
            <a:r>
              <a:rPr lang="en-US" sz="1200" dirty="0">
                <a:solidFill>
                  <a:prstClr val="black"/>
                </a:solidFill>
                <a:latin typeface="Arial" pitchFamily="34" charset="0"/>
                <a:cs typeface="Arial" pitchFamily="34" charset="0"/>
              </a:rPr>
              <a:t>Percentage of Responses Received	 </a:t>
            </a:r>
            <a:r>
              <a:rPr lang="en-US" sz="1200" dirty="0" smtClean="0">
                <a:solidFill>
                  <a:prstClr val="black"/>
                </a:solidFill>
                <a:latin typeface="Arial" pitchFamily="34" charset="0"/>
                <a:cs typeface="Arial" pitchFamily="34" charset="0"/>
              </a:rPr>
              <a:t>31</a:t>
            </a:r>
            <a:r>
              <a:rPr lang="en-US" sz="1200" dirty="0">
                <a:solidFill>
                  <a:prstClr val="black"/>
                </a:solidFill>
                <a:latin typeface="Arial" pitchFamily="34" charset="0"/>
                <a:cs typeface="Arial" pitchFamily="34" charset="0"/>
              </a:rPr>
              <a:t>%   </a:t>
            </a:r>
            <a:r>
              <a:rPr lang="en-US" sz="1200" dirty="0" smtClean="0">
                <a:solidFill>
                  <a:prstClr val="black"/>
                </a:solidFill>
                <a:latin typeface="Arial" pitchFamily="34" charset="0"/>
                <a:cs typeface="Arial" pitchFamily="34" charset="0"/>
              </a:rPr>
              <a:t>45</a:t>
            </a:r>
            <a:r>
              <a:rPr lang="en-US" sz="1200" dirty="0">
                <a:solidFill>
                  <a:prstClr val="black"/>
                </a:solidFill>
                <a:latin typeface="Arial" pitchFamily="34" charset="0"/>
                <a:cs typeface="Arial" pitchFamily="34" charset="0"/>
              </a:rPr>
              <a:t>%  50</a:t>
            </a:r>
            <a:r>
              <a:rPr lang="en-US" sz="1200" dirty="0" smtClean="0">
                <a:solidFill>
                  <a:prstClr val="black"/>
                </a:solidFill>
                <a:latin typeface="Arial" pitchFamily="34" charset="0"/>
                <a:cs typeface="Arial" pitchFamily="34" charset="0"/>
              </a:rPr>
              <a:t>%   32%               </a:t>
            </a:r>
            <a:r>
              <a:rPr lang="en-US" sz="1200" dirty="0" smtClean="0">
                <a:solidFill>
                  <a:srgbClr val="0000FF"/>
                </a:solidFill>
                <a:latin typeface="Arial" pitchFamily="34" charset="0"/>
                <a:cs typeface="Arial" pitchFamily="34" charset="0"/>
              </a:rPr>
              <a:t>38%	 41%   36%   44% </a:t>
            </a:r>
          </a:p>
          <a:p>
            <a:pPr marL="573088" lvl="1" indent="-115888">
              <a:defRPr/>
            </a:pPr>
            <a:r>
              <a:rPr lang="en-US" sz="1200" dirty="0">
                <a:solidFill>
                  <a:prstClr val="black"/>
                </a:solidFill>
                <a:latin typeface="Arial" pitchFamily="34" charset="0"/>
                <a:cs typeface="Arial" pitchFamily="34" charset="0"/>
              </a:rPr>
              <a:t>Summary of Results			</a:t>
            </a:r>
            <a:r>
              <a:rPr lang="en-US" sz="1200" dirty="0" smtClean="0">
                <a:solidFill>
                  <a:prstClr val="black"/>
                </a:solidFill>
                <a:latin typeface="Arial" pitchFamily="34" charset="0"/>
                <a:cs typeface="Arial" pitchFamily="34" charset="0"/>
              </a:rPr>
              <a:t> 4.5     </a:t>
            </a:r>
            <a:r>
              <a:rPr lang="en-US" sz="1200" dirty="0">
                <a:solidFill>
                  <a:prstClr val="black"/>
                </a:solidFill>
                <a:latin typeface="Arial" pitchFamily="34" charset="0"/>
                <a:cs typeface="Arial" pitchFamily="34" charset="0"/>
              </a:rPr>
              <a:t>4.6    </a:t>
            </a:r>
            <a:r>
              <a:rPr lang="en-US" sz="1200" dirty="0" smtClean="0">
                <a:solidFill>
                  <a:prstClr val="black"/>
                </a:solidFill>
                <a:latin typeface="Arial" pitchFamily="34" charset="0"/>
                <a:cs typeface="Arial" pitchFamily="34" charset="0"/>
              </a:rPr>
              <a:t>4.6     4.5	           </a:t>
            </a:r>
            <a:r>
              <a:rPr lang="en-US" sz="1200" dirty="0" smtClean="0">
                <a:solidFill>
                  <a:srgbClr val="0000FF"/>
                </a:solidFill>
                <a:latin typeface="Arial" pitchFamily="34" charset="0"/>
                <a:cs typeface="Arial" pitchFamily="34" charset="0"/>
              </a:rPr>
              <a:t>4.5	 4.8     4.6	4.5</a:t>
            </a:r>
            <a:endParaRPr lang="en-US" sz="1200" dirty="0">
              <a:solidFill>
                <a:srgbClr val="0000FF"/>
              </a:solidFill>
              <a:latin typeface="Arial" pitchFamily="34" charset="0"/>
              <a:cs typeface="Arial" pitchFamily="34" charset="0"/>
            </a:endParaRPr>
          </a:p>
          <a:p>
            <a:pPr marL="573088" lvl="1" indent="-115888">
              <a:defRPr/>
            </a:pPr>
            <a:r>
              <a:rPr lang="en-US" sz="800" dirty="0">
                <a:solidFill>
                  <a:prstClr val="black"/>
                </a:solidFill>
                <a:latin typeface="Arial" pitchFamily="34" charset="0"/>
                <a:cs typeface="Arial" pitchFamily="34" charset="0"/>
              </a:rPr>
              <a:t>(Note:  </a:t>
            </a:r>
            <a:r>
              <a:rPr lang="en-US" sz="800" dirty="0" smtClean="0">
                <a:solidFill>
                  <a:prstClr val="black"/>
                </a:solidFill>
                <a:latin typeface="Arial" pitchFamily="34" charset="0"/>
                <a:cs typeface="Arial" pitchFamily="34" charset="0"/>
              </a:rPr>
              <a:t>FSC uses a </a:t>
            </a:r>
            <a:r>
              <a:rPr lang="en-US" sz="800" dirty="0">
                <a:solidFill>
                  <a:prstClr val="black"/>
                </a:solidFill>
                <a:latin typeface="Arial" pitchFamily="34" charset="0"/>
                <a:cs typeface="Arial" pitchFamily="34" charset="0"/>
              </a:rPr>
              <a:t>mid-point follow-up contact with survey recipients to try to </a:t>
            </a:r>
            <a:r>
              <a:rPr lang="en-US" sz="800" dirty="0" smtClean="0">
                <a:solidFill>
                  <a:prstClr val="black"/>
                </a:solidFill>
                <a:latin typeface="Arial" pitchFamily="34" charset="0"/>
                <a:cs typeface="Arial" pitchFamily="34" charset="0"/>
              </a:rPr>
              <a:t>increase </a:t>
            </a:r>
            <a:r>
              <a:rPr lang="en-US" sz="800" dirty="0">
                <a:solidFill>
                  <a:prstClr val="black"/>
                </a:solidFill>
                <a:latin typeface="Arial" pitchFamily="34" charset="0"/>
                <a:cs typeface="Arial" pitchFamily="34" charset="0"/>
              </a:rPr>
              <a:t>survey response rates)</a:t>
            </a:r>
          </a:p>
          <a:p>
            <a:pPr marL="573088" lvl="1" indent="-115888">
              <a:defRPr/>
            </a:pPr>
            <a:r>
              <a:rPr lang="en-US" sz="800" dirty="0">
                <a:solidFill>
                  <a:prstClr val="black"/>
                </a:solidFill>
                <a:latin typeface="Arial" pitchFamily="34" charset="0"/>
                <a:cs typeface="Arial" pitchFamily="34" charset="0"/>
              </a:rPr>
              <a:t>	</a:t>
            </a:r>
            <a:r>
              <a:rPr lang="en-US" sz="1200" dirty="0">
                <a:solidFill>
                  <a:prstClr val="black"/>
                </a:solidFill>
                <a:latin typeface="Arial" pitchFamily="34" charset="0"/>
                <a:cs typeface="Arial" pitchFamily="34" charset="0"/>
              </a:rPr>
              <a:t> 	</a:t>
            </a:r>
            <a:r>
              <a:rPr lang="en-US" sz="1200" dirty="0">
                <a:solidFill>
                  <a:srgbClr val="0000FF"/>
                </a:solidFill>
                <a:latin typeface="Arial" pitchFamily="34" charset="0"/>
                <a:cs typeface="Arial" pitchFamily="34" charset="0"/>
              </a:rPr>
              <a:t> </a:t>
            </a:r>
          </a:p>
          <a:p>
            <a:pPr>
              <a:buFont typeface="Arial" pitchFamily="34" charset="0"/>
              <a:buChar char="•"/>
              <a:defRPr/>
            </a:pPr>
            <a:r>
              <a:rPr lang="en-US" sz="1200" dirty="0">
                <a:solidFill>
                  <a:prstClr val="black"/>
                </a:solidFill>
                <a:latin typeface="Arial" pitchFamily="34" charset="0"/>
                <a:cs typeface="Arial" pitchFamily="34" charset="0"/>
              </a:rPr>
              <a:t>  Types of employee survey responses with </a:t>
            </a:r>
            <a:r>
              <a:rPr lang="en-US" sz="1200" dirty="0" smtClean="0">
                <a:solidFill>
                  <a:prstClr val="black"/>
                </a:solidFill>
                <a:latin typeface="Arial" pitchFamily="34" charset="0"/>
                <a:cs typeface="Arial" pitchFamily="34" charset="0"/>
              </a:rPr>
              <a:t>pre-move </a:t>
            </a:r>
            <a:r>
              <a:rPr lang="en-US" sz="1200" dirty="0">
                <a:solidFill>
                  <a:prstClr val="black"/>
                </a:solidFill>
                <a:latin typeface="Arial" pitchFamily="34" charset="0"/>
                <a:cs typeface="Arial" pitchFamily="34" charset="0"/>
              </a:rPr>
              <a:t>process </a:t>
            </a:r>
            <a:r>
              <a:rPr lang="en-US" sz="1200" dirty="0" smtClean="0">
                <a:solidFill>
                  <a:prstClr val="black"/>
                </a:solidFill>
                <a:latin typeface="Arial" pitchFamily="34" charset="0"/>
                <a:cs typeface="Arial" pitchFamily="34" charset="0"/>
              </a:rPr>
              <a:t>concerns</a:t>
            </a:r>
            <a:endParaRPr lang="en-US" sz="1200" dirty="0">
              <a:solidFill>
                <a:prstClr val="black"/>
              </a:solidFill>
              <a:latin typeface="Arial" pitchFamily="34" charset="0"/>
              <a:cs typeface="Arial" pitchFamily="34" charset="0"/>
            </a:endParaRPr>
          </a:p>
          <a:p>
            <a:pPr lvl="1" indent="-225425">
              <a:buFont typeface="Arial" pitchFamily="34" charset="0"/>
              <a:buChar char="•"/>
              <a:defRPr/>
            </a:pPr>
            <a:r>
              <a:rPr lang="en-US" sz="1200" dirty="0">
                <a:solidFill>
                  <a:prstClr val="black"/>
                </a:solidFill>
                <a:latin typeface="Arial" pitchFamily="34" charset="0"/>
                <a:cs typeface="Arial" pitchFamily="34" charset="0"/>
              </a:rPr>
              <a:t>I have been approved for the AVO program, but no one wanted to give me any input on the program itself without a copy of the approved paperwork.  Although, the paperwork may have not made it to PCS travel, it would assist the client to make decisions early </a:t>
            </a:r>
            <a:r>
              <a:rPr lang="en-US" sz="1200" dirty="0" smtClean="0">
                <a:solidFill>
                  <a:prstClr val="black"/>
                </a:solidFill>
                <a:latin typeface="Arial" pitchFamily="34" charset="0"/>
                <a:cs typeface="Arial" pitchFamily="34" charset="0"/>
              </a:rPr>
              <a:t>on how </a:t>
            </a:r>
            <a:r>
              <a:rPr lang="en-US" sz="1200" dirty="0">
                <a:solidFill>
                  <a:prstClr val="black"/>
                </a:solidFill>
                <a:latin typeface="Arial" pitchFamily="34" charset="0"/>
                <a:cs typeface="Arial" pitchFamily="34" charset="0"/>
              </a:rPr>
              <a:t>they want to proceed. </a:t>
            </a:r>
            <a:endParaRPr lang="en-US" sz="1200" dirty="0" smtClean="0">
              <a:solidFill>
                <a:prstClr val="black"/>
              </a:solidFill>
              <a:latin typeface="Arial" pitchFamily="34" charset="0"/>
              <a:cs typeface="Arial" pitchFamily="34" charset="0"/>
            </a:endParaRPr>
          </a:p>
          <a:p>
            <a:pPr lvl="2" indent="-225425">
              <a:buFont typeface="Arial" pitchFamily="34" charset="0"/>
              <a:buChar char="•"/>
              <a:defRPr/>
            </a:pPr>
            <a:r>
              <a:rPr lang="en-US" sz="1200" dirty="0" smtClean="0">
                <a:solidFill>
                  <a:prstClr val="black"/>
                </a:solidFill>
                <a:latin typeface="Arial" pitchFamily="34" charset="0"/>
                <a:cs typeface="Arial" pitchFamily="34" charset="0"/>
              </a:rPr>
              <a:t>After the initial counseling session, FSC PCS counselors will have the PCS COTR contact the employee to go over the basic information on the home sale programs, pending contact by the Brookfield contract counselor.  </a:t>
            </a:r>
          </a:p>
          <a:p>
            <a:pPr lvl="1" indent="-225425">
              <a:buFont typeface="Arial" pitchFamily="34" charset="0"/>
              <a:buChar char="•"/>
              <a:defRPr/>
            </a:pPr>
            <a:r>
              <a:rPr lang="en-US" sz="1200" dirty="0">
                <a:solidFill>
                  <a:prstClr val="black"/>
                </a:solidFill>
                <a:latin typeface="Arial" pitchFamily="34" charset="0"/>
                <a:cs typeface="Arial" pitchFamily="34" charset="0"/>
              </a:rPr>
              <a:t>I had a change of discretionary items once travel authority was initiated that was taken care of quickly and efficiently with no </a:t>
            </a:r>
            <a:r>
              <a:rPr lang="en-US" sz="1200" dirty="0" smtClean="0">
                <a:solidFill>
                  <a:prstClr val="black"/>
                </a:solidFill>
                <a:latin typeface="Arial" pitchFamily="34" charset="0"/>
                <a:cs typeface="Arial" pitchFamily="34" charset="0"/>
              </a:rPr>
              <a:t>hassle.</a:t>
            </a:r>
          </a:p>
          <a:p>
            <a:pPr marL="403225" lvl="1" indent="-171450">
              <a:buFont typeface="Arial" pitchFamily="34" charset="0"/>
              <a:buChar char="•"/>
              <a:defRPr/>
            </a:pPr>
            <a:r>
              <a:rPr lang="en-US" sz="1200" dirty="0">
                <a:solidFill>
                  <a:prstClr val="black"/>
                </a:solidFill>
                <a:latin typeface="Arial" pitchFamily="34" charset="0"/>
                <a:cs typeface="Arial" pitchFamily="34" charset="0"/>
              </a:rPr>
              <a:t>I had a hard time reaching my PCS counselor. He did not keep me informed with what is going on with my travel </a:t>
            </a:r>
            <a:r>
              <a:rPr lang="en-US" sz="1200" dirty="0" smtClean="0">
                <a:solidFill>
                  <a:prstClr val="black"/>
                </a:solidFill>
                <a:latin typeface="Arial" pitchFamily="34" charset="0"/>
                <a:cs typeface="Arial" pitchFamily="34" charset="0"/>
              </a:rPr>
              <a:t>authority</a:t>
            </a:r>
          </a:p>
          <a:p>
            <a:pPr marL="860425" lvl="2" indent="-171450">
              <a:buFont typeface="Arial" pitchFamily="34" charset="0"/>
              <a:buChar char="•"/>
              <a:defRPr/>
            </a:pPr>
            <a:r>
              <a:rPr lang="en-US" sz="1200" dirty="0" smtClean="0">
                <a:solidFill>
                  <a:prstClr val="black"/>
                </a:solidFill>
                <a:latin typeface="Arial" pitchFamily="34" charset="0"/>
                <a:cs typeface="Arial" pitchFamily="34" charset="0"/>
              </a:rPr>
              <a:t> Reminded counselors to return customer calls and emails timely.  </a:t>
            </a:r>
          </a:p>
          <a:p>
            <a:pPr marL="346075" lvl="1" indent="-173038">
              <a:buFont typeface="Arial" pitchFamily="34" charset="0"/>
              <a:buChar char="•"/>
              <a:defRPr/>
            </a:pPr>
            <a:endParaRPr lang="en-US" sz="1200" dirty="0" smtClean="0">
              <a:solidFill>
                <a:prstClr val="black"/>
              </a:solidFill>
              <a:latin typeface="Arial" pitchFamily="34" charset="0"/>
              <a:cs typeface="Arial" pitchFamily="34" charset="0"/>
            </a:endParaRPr>
          </a:p>
          <a:p>
            <a:pPr lvl="1" indent="-398463">
              <a:defRPr/>
            </a:pPr>
            <a:endParaRPr lang="en-US" sz="500" dirty="0">
              <a:solidFill>
                <a:srgbClr val="FF0000"/>
              </a:solidFill>
              <a:latin typeface="Arial" pitchFamily="34" charset="0"/>
              <a:cs typeface="Arial" pitchFamily="34" charset="0"/>
            </a:endParaRPr>
          </a:p>
          <a:p>
            <a:pPr indent="-398463">
              <a:defRPr/>
            </a:pPr>
            <a:r>
              <a:rPr lang="en-US" sz="1200" dirty="0">
                <a:solidFill>
                  <a:prstClr val="black"/>
                </a:solidFill>
                <a:latin typeface="Arial" pitchFamily="34" charset="0"/>
                <a:cs typeface="Arial" pitchFamily="34" charset="0"/>
              </a:rPr>
              <a:t>Next Step:  Continue to review survey data and identify improvement </a:t>
            </a:r>
            <a:r>
              <a:rPr lang="en-US" sz="1200" dirty="0" smtClean="0">
                <a:solidFill>
                  <a:prstClr val="black"/>
                </a:solidFill>
                <a:latin typeface="Arial" pitchFamily="34" charset="0"/>
                <a:cs typeface="Arial" pitchFamily="34" charset="0"/>
              </a:rPr>
              <a:t>opportunities.  Note:  This measure has been discontinued for FY 2013.</a:t>
            </a:r>
            <a:endParaRPr lang="en-US" sz="1200" dirty="0">
              <a:solidFill>
                <a:prstClr val="black"/>
              </a:solidFill>
              <a:latin typeface="Arial" pitchFamily="34" charset="0"/>
              <a:cs typeface="Arial" pitchFamily="34" charset="0"/>
            </a:endParaRPr>
          </a:p>
        </p:txBody>
      </p:sp>
      <p:sp>
        <p:nvSpPr>
          <p:cNvPr id="4" name="Rectangle 3"/>
          <p:cNvSpPr/>
          <p:nvPr/>
        </p:nvSpPr>
        <p:spPr>
          <a:xfrm>
            <a:off x="914400" y="5486400"/>
            <a:ext cx="4572000" cy="369332"/>
          </a:xfrm>
          <a:prstGeom prst="rect">
            <a:avLst/>
          </a:prstGeom>
        </p:spPr>
        <p:txBody>
          <a:bodyPr>
            <a:spAutoFit/>
          </a:bodyPr>
          <a:lstStyle/>
          <a:p>
            <a:endParaRPr lang="en-US" dirty="0">
              <a:solidFill>
                <a:prstClr val="black"/>
              </a:solidFill>
            </a:endParaRPr>
          </a:p>
        </p:txBody>
      </p:sp>
      <p:sp>
        <p:nvSpPr>
          <p:cNvPr id="5" name="Rectangle 4"/>
          <p:cNvSpPr/>
          <p:nvPr/>
        </p:nvSpPr>
        <p:spPr>
          <a:xfrm>
            <a:off x="1295400" y="5867400"/>
            <a:ext cx="4572000" cy="369332"/>
          </a:xfrm>
          <a:prstGeom prst="rect">
            <a:avLst/>
          </a:prstGeom>
        </p:spPr>
        <p:txBody>
          <a:bodyPr>
            <a:spAutoFit/>
          </a:bodyPr>
          <a:lstStyle/>
          <a:p>
            <a:endParaRPr lang="en-US" dirty="0">
              <a:solidFill>
                <a:prstClr val="black"/>
              </a:solidFill>
            </a:endParaRPr>
          </a:p>
        </p:txBody>
      </p:sp>
    </p:spTree>
    <p:extLst>
      <p:ext uri="{BB962C8B-B14F-4D97-AF65-F5344CB8AC3E}">
        <p14:creationId xmlns="" xmlns:p14="http://schemas.microsoft.com/office/powerpoint/2010/main" val="25253060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Date Placeholder 1"/>
          <p:cNvSpPr>
            <a:spLocks noGrp="1"/>
          </p:cNvSpPr>
          <p:nvPr>
            <p:ph type="dt" sz="quarter" idx="10"/>
          </p:nvPr>
        </p:nvSpPr>
        <p:spPr>
          <a:xfrm>
            <a:off x="457200" y="6492875"/>
            <a:ext cx="2954338" cy="365125"/>
          </a:xfrm>
          <a:noFill/>
        </p:spPr>
        <p:txBody>
          <a:bodyPr/>
          <a:lstStyle/>
          <a:p>
            <a:r>
              <a:rPr lang="en-US" dirty="0" smtClean="0">
                <a:latin typeface="Arial" pitchFamily="34" charset="0"/>
              </a:rPr>
              <a:t>SG4 - Data Through September 2012</a:t>
            </a:r>
          </a:p>
        </p:txBody>
      </p:sp>
      <p:graphicFrame>
        <p:nvGraphicFramePr>
          <p:cNvPr id="4098" name="Object 2"/>
          <p:cNvGraphicFramePr>
            <a:graphicFrameLocks noGrp="1" noChangeAspect="1"/>
          </p:cNvGraphicFramePr>
          <p:nvPr>
            <p:ph sz="half" idx="4294967295"/>
            <p:extLst>
              <p:ext uri="{D42A27DB-BD31-4B8C-83A1-F6EECF244321}">
                <p14:modId xmlns="" xmlns:p14="http://schemas.microsoft.com/office/powerpoint/2010/main" val="409580396"/>
              </p:ext>
            </p:extLst>
          </p:nvPr>
        </p:nvGraphicFramePr>
        <p:xfrm>
          <a:off x="3222625" y="2320925"/>
          <a:ext cx="5591175" cy="4029075"/>
        </p:xfrm>
        <a:graphic>
          <a:graphicData uri="http://schemas.openxmlformats.org/presentationml/2006/ole">
            <p:oleObj spid="_x0000_s101390" name="Worksheet" r:id="rId4" imgW="8763051" imgH="6315114" progId="Excel.Sheet.8">
              <p:embed/>
            </p:oleObj>
          </a:graphicData>
        </a:graphic>
      </p:graphicFrame>
      <p:graphicFrame>
        <p:nvGraphicFramePr>
          <p:cNvPr id="93187" name="Group 3"/>
          <p:cNvGraphicFramePr>
            <a:graphicFrameLocks noGrp="1"/>
          </p:cNvGraphicFramePr>
          <p:nvPr>
            <p:extLst>
              <p:ext uri="{D42A27DB-BD31-4B8C-83A1-F6EECF244321}">
                <p14:modId xmlns="" xmlns:p14="http://schemas.microsoft.com/office/powerpoint/2010/main" val="497886245"/>
              </p:ext>
            </p:extLst>
          </p:nvPr>
        </p:nvGraphicFramePr>
        <p:xfrm>
          <a:off x="6851650" y="0"/>
          <a:ext cx="2292350" cy="991553"/>
        </p:xfrm>
        <a:graphic>
          <a:graphicData uri="http://schemas.openxmlformats.org/drawingml/2006/table">
            <a:tbl>
              <a:tblPr/>
              <a:tblGrid>
                <a:gridCol w="1544638"/>
                <a:gridCol w="747712"/>
              </a:tblGrid>
              <a:tr h="228600">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Status</a:t>
                      </a:r>
                    </a:p>
                  </a:txBody>
                  <a:tcPr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B8D2EA"/>
                    </a:solidFill>
                  </a:tcPr>
                </a:tc>
                <a:tc hMerge="1">
                  <a:txBody>
                    <a:bodyPr/>
                    <a:lstStyle/>
                    <a:p>
                      <a:endParaRPr lang="en-US"/>
                    </a:p>
                  </a:txBody>
                  <a:tcPr/>
                </a:tc>
              </a:tr>
              <a:tr h="24765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Current Quarter (Q3)</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1" i="0" u="none" strike="noStrike" cap="none" normalizeH="0" baseline="0" dirty="0" smtClean="0">
                        <a:ln>
                          <a:noFill/>
                        </a:ln>
                        <a:solidFill>
                          <a:srgbClr val="00B050"/>
                        </a:solidFill>
                        <a:effectLst/>
                        <a:latin typeface="Arial"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2413">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Next Quarter (Q4)</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1" i="0" u="none" strike="noStrike" cap="none" normalizeH="0" baseline="0" dirty="0" smtClean="0">
                        <a:ln>
                          <a:noFill/>
                        </a:ln>
                        <a:solidFill>
                          <a:srgbClr val="00B050"/>
                        </a:solidFill>
                        <a:effectLst/>
                        <a:latin typeface="Arial"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765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Projected Green Date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  N/A  </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sp>
        <p:nvSpPr>
          <p:cNvPr id="4113" name="Rectangle 26"/>
          <p:cNvSpPr>
            <a:spLocks noChangeArrowheads="1"/>
          </p:cNvSpPr>
          <p:nvPr/>
        </p:nvSpPr>
        <p:spPr bwMode="auto">
          <a:xfrm>
            <a:off x="3657600" y="1066800"/>
            <a:ext cx="5086350" cy="1244600"/>
          </a:xfrm>
          <a:prstGeom prst="rect">
            <a:avLst/>
          </a:prstGeom>
          <a:noFill/>
          <a:ln w="9525">
            <a:noFill/>
            <a:miter lim="800000"/>
            <a:headEnd/>
            <a:tailEnd/>
          </a:ln>
        </p:spPr>
        <p:txBody>
          <a:bodyPr anchor="ctr"/>
          <a:lstStyle/>
          <a:p>
            <a:pPr algn="ctr"/>
            <a:r>
              <a:rPr lang="en-US" sz="1600" dirty="0">
                <a:solidFill>
                  <a:srgbClr val="0000FF"/>
                </a:solidFill>
                <a:latin typeface="Arial Rounded MT Bold" pitchFamily="34" charset="0"/>
              </a:rPr>
              <a:t>Key Trend Line: </a:t>
            </a:r>
            <a:br>
              <a:rPr lang="en-US" sz="1600" dirty="0">
                <a:solidFill>
                  <a:srgbClr val="0000FF"/>
                </a:solidFill>
                <a:latin typeface="Arial Rounded MT Bold" pitchFamily="34" charset="0"/>
              </a:rPr>
            </a:br>
            <a:r>
              <a:rPr lang="en-US" sz="1600" dirty="0">
                <a:solidFill>
                  <a:srgbClr val="800000"/>
                </a:solidFill>
                <a:latin typeface="Arial Rounded MT Bold" pitchFamily="34" charset="0"/>
              </a:rPr>
              <a:t>Permanent Change of Station (PCS) Client Satisfaction – </a:t>
            </a:r>
            <a:r>
              <a:rPr lang="en-US" sz="1600" i="1" dirty="0">
                <a:solidFill>
                  <a:srgbClr val="800000"/>
                </a:solidFill>
                <a:latin typeface="Arial Rounded MT Bold" pitchFamily="34" charset="0"/>
              </a:rPr>
              <a:t>Pre-Move</a:t>
            </a:r>
          </a:p>
          <a:p>
            <a:pPr algn="ctr"/>
            <a:r>
              <a:rPr lang="en-US" sz="1600" b="1" dirty="0">
                <a:solidFill>
                  <a:schemeClr val="tx2"/>
                </a:solidFill>
              </a:rPr>
              <a:t> </a:t>
            </a:r>
            <a:r>
              <a:rPr lang="en-US" sz="1600" b="1" dirty="0"/>
              <a:t>Client Satisfaction Exceeds Goal</a:t>
            </a:r>
            <a:r>
              <a:rPr lang="en-US" sz="1600" dirty="0">
                <a:solidFill>
                  <a:srgbClr val="0000FF"/>
                </a:solidFill>
                <a:latin typeface="Arial Rounded MT Bold" pitchFamily="34" charset="0"/>
              </a:rPr>
              <a:t/>
            </a:r>
            <a:br>
              <a:rPr lang="en-US" sz="1600" dirty="0">
                <a:solidFill>
                  <a:srgbClr val="0000FF"/>
                </a:solidFill>
                <a:latin typeface="Arial Rounded MT Bold" pitchFamily="34" charset="0"/>
              </a:rPr>
            </a:br>
            <a:r>
              <a:rPr lang="en-US" sz="1600" dirty="0">
                <a:latin typeface="Arial Rounded MT Bold" pitchFamily="34" charset="0"/>
              </a:rPr>
              <a:t> </a:t>
            </a:r>
            <a:endParaRPr lang="en-US" sz="1400" dirty="0">
              <a:latin typeface="Arial Rounded MT Bold" pitchFamily="34" charset="0"/>
            </a:endParaRPr>
          </a:p>
        </p:txBody>
      </p:sp>
      <p:graphicFrame>
        <p:nvGraphicFramePr>
          <p:cNvPr id="93211" name="Group 27"/>
          <p:cNvGraphicFramePr>
            <a:graphicFrameLocks noGrp="1"/>
          </p:cNvGraphicFramePr>
          <p:nvPr/>
        </p:nvGraphicFramePr>
        <p:xfrm>
          <a:off x="0" y="0"/>
          <a:ext cx="2971800" cy="1950721"/>
        </p:xfrm>
        <a:graphic>
          <a:graphicData uri="http://schemas.openxmlformats.org/drawingml/2006/table">
            <a:tbl>
              <a:tblPr/>
              <a:tblGrid>
                <a:gridCol w="914400"/>
                <a:gridCol w="2057400"/>
              </a:tblGrid>
              <a:tr h="227013">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Linkages</a:t>
                      </a:r>
                    </a:p>
                  </a:txBody>
                  <a:tcPr horzOverflow="overflow">
                    <a:lnL cap="flat">
                      <a:noFill/>
                    </a:lnL>
                    <a:lnR cap="flat">
                      <a:noFill/>
                    </a:lnR>
                    <a:lnT cap="flat">
                      <a:noFill/>
                    </a:lnT>
                    <a:lnB>
                      <a:noFill/>
                    </a:lnB>
                    <a:lnTlToBr>
                      <a:noFill/>
                    </a:lnTlToBr>
                    <a:lnBlToTr>
                      <a:noFill/>
                    </a:lnBlToTr>
                    <a:solidFill>
                      <a:srgbClr val="EDD4A1"/>
                    </a:solidFill>
                  </a:tcPr>
                </a:tc>
                <a:tc hMerge="1">
                  <a:txBody>
                    <a:bodyPr/>
                    <a:lstStyle/>
                    <a:p>
                      <a:endParaRPr lang="en-US"/>
                    </a:p>
                  </a:txBody>
                  <a:tcPr/>
                </a:tc>
              </a:tr>
              <a:tr h="236538">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Org</a:t>
                      </a:r>
                    </a:p>
                  </a:txBody>
                  <a:tcPr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OM</a:t>
                      </a:r>
                    </a:p>
                  </a:txBody>
                  <a:tcPr horzOverflow="overflow">
                    <a:lnL w="12700" cap="flat" cmpd="sng" algn="ctr">
                      <a:solidFill>
                        <a:schemeClr val="tx1"/>
                      </a:solidFill>
                      <a:prstDash val="solid"/>
                      <a:round/>
                      <a:headEnd type="none" w="med" len="med"/>
                      <a:tailEnd type="none" w="med" len="med"/>
                    </a:lnL>
                    <a:lnR cap="flat">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r>
              <a:tr h="265113">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B/Line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Enabling</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Metric Type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Performance</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082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B/Scorecard</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Client Satisfaction</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812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Strategic Goal</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4</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6538">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Corp Outcome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900" b="0" i="0" u="none" strike="noStrike" cap="none" normalizeH="0" baseline="0" dirty="0" smtClean="0">
                          <a:ln>
                            <a:noFill/>
                          </a:ln>
                          <a:solidFill>
                            <a:schemeClr val="tx1"/>
                          </a:solidFill>
                          <a:effectLst/>
                          <a:latin typeface="Arial" charset="0"/>
                        </a:rPr>
                        <a:t>Increase Client Satisfaction (as a result of Increased Employee Satisfaction)</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solidFill>
                      <a:srgbClr val="FFFF00"/>
                    </a:solidFill>
                  </a:tcPr>
                </a:tc>
              </a:tr>
            </a:tbl>
          </a:graphicData>
        </a:graphic>
      </p:graphicFrame>
      <p:sp>
        <p:nvSpPr>
          <p:cNvPr id="4134" name="TextBox 16"/>
          <p:cNvSpPr txBox="1">
            <a:spLocks noChangeArrowheads="1"/>
          </p:cNvSpPr>
          <p:nvPr/>
        </p:nvSpPr>
        <p:spPr bwMode="auto">
          <a:xfrm>
            <a:off x="5562600" y="838200"/>
            <a:ext cx="914400" cy="369888"/>
          </a:xfrm>
          <a:prstGeom prst="rect">
            <a:avLst/>
          </a:prstGeom>
          <a:noFill/>
          <a:ln w="9525">
            <a:noFill/>
            <a:miter lim="800000"/>
            <a:headEnd/>
            <a:tailEnd/>
          </a:ln>
        </p:spPr>
        <p:txBody>
          <a:bodyPr>
            <a:spAutoFit/>
          </a:bodyPr>
          <a:lstStyle/>
          <a:p>
            <a:endParaRPr lang="en-US" dirty="0"/>
          </a:p>
        </p:txBody>
      </p:sp>
      <p:sp>
        <p:nvSpPr>
          <p:cNvPr id="12" name="TextBox 11"/>
          <p:cNvSpPr txBox="1"/>
          <p:nvPr/>
        </p:nvSpPr>
        <p:spPr>
          <a:xfrm>
            <a:off x="228600" y="2057400"/>
            <a:ext cx="2582863" cy="2492375"/>
          </a:xfrm>
          <a:prstGeom prst="rect">
            <a:avLst/>
          </a:prstGeom>
          <a:solidFill>
            <a:schemeClr val="bg2">
              <a:lumMod val="20000"/>
              <a:lumOff val="80000"/>
            </a:schemeClr>
          </a:solidFill>
        </p:spPr>
        <p:txBody>
          <a:bodyPr>
            <a:spAutoFit/>
          </a:bodyPr>
          <a:lstStyle/>
          <a:p>
            <a:pPr>
              <a:defRPr/>
            </a:pPr>
            <a:r>
              <a:rPr lang="en-US" sz="1200" dirty="0"/>
              <a:t>OM’s Financial Services Center (FSC) uses customer surveys to measure employee satisfaction with PCS move services provided.</a:t>
            </a:r>
          </a:p>
          <a:p>
            <a:pPr>
              <a:defRPr/>
            </a:pPr>
            <a:endParaRPr lang="en-US" sz="1200" dirty="0"/>
          </a:p>
          <a:p>
            <a:pPr>
              <a:defRPr/>
            </a:pPr>
            <a:r>
              <a:rPr lang="en-US" sz="1200" dirty="0"/>
              <a:t>FSC tracks satisfaction with </a:t>
            </a:r>
            <a:r>
              <a:rPr lang="en-US" sz="1200" u="sng" dirty="0"/>
              <a:t>pre- move </a:t>
            </a:r>
            <a:r>
              <a:rPr lang="en-US" sz="1200" dirty="0"/>
              <a:t>activities involving initial PCS steps such as processing of travel documents, employee move counseling, and initiation of household goods (HHG) and home sale work orders which are displayed here.</a:t>
            </a:r>
          </a:p>
        </p:txBody>
      </p:sp>
      <p:sp>
        <p:nvSpPr>
          <p:cNvPr id="4136" name="Slide Number Placeholder 16"/>
          <p:cNvSpPr>
            <a:spLocks noGrp="1"/>
          </p:cNvSpPr>
          <p:nvPr>
            <p:ph type="sldNum" sz="quarter" idx="11"/>
          </p:nvPr>
        </p:nvSpPr>
        <p:spPr>
          <a:xfrm>
            <a:off x="6553200" y="6356350"/>
            <a:ext cx="2133600" cy="365125"/>
          </a:xfrm>
          <a:noFill/>
        </p:spPr>
        <p:txBody>
          <a:bodyPr/>
          <a:lstStyle/>
          <a:p>
            <a:fld id="{9E39F72B-4005-462E-8DD5-F0F641B39A5E}" type="slidenum">
              <a:rPr lang="en-US" smtClean="0">
                <a:latin typeface="Arial" pitchFamily="34" charset="0"/>
              </a:rPr>
              <a:pPr/>
              <a:t>6</a:t>
            </a:fld>
            <a:endParaRPr lang="en-US" dirty="0" smtClean="0">
              <a:latin typeface="Arial" pitchFamily="34" charset="0"/>
            </a:endParaRPr>
          </a:p>
        </p:txBody>
      </p:sp>
      <p:sp>
        <p:nvSpPr>
          <p:cNvPr id="4137" name="TextBox 14"/>
          <p:cNvSpPr txBox="1">
            <a:spLocks noChangeArrowheads="1"/>
          </p:cNvSpPr>
          <p:nvPr/>
        </p:nvSpPr>
        <p:spPr bwMode="auto">
          <a:xfrm>
            <a:off x="4800600" y="2133600"/>
            <a:ext cx="3994150" cy="230832"/>
          </a:xfrm>
          <a:prstGeom prst="rect">
            <a:avLst/>
          </a:prstGeom>
          <a:noFill/>
          <a:ln w="9525">
            <a:noFill/>
            <a:miter lim="800000"/>
            <a:headEnd/>
            <a:tailEnd/>
          </a:ln>
        </p:spPr>
        <p:txBody>
          <a:bodyPr>
            <a:spAutoFit/>
          </a:bodyPr>
          <a:lstStyle/>
          <a:p>
            <a:r>
              <a:rPr lang="en-US" sz="900" dirty="0"/>
              <a:t>Scale of 1-5, With 5=Very Satisfied and 1=Very Dissatisfied</a:t>
            </a:r>
          </a:p>
        </p:txBody>
      </p:sp>
      <p:sp>
        <p:nvSpPr>
          <p:cNvPr id="4138" name="Oval 28"/>
          <p:cNvSpPr>
            <a:spLocks noChangeArrowheads="1"/>
          </p:cNvSpPr>
          <p:nvPr/>
        </p:nvSpPr>
        <p:spPr bwMode="auto">
          <a:xfrm>
            <a:off x="8610600" y="304800"/>
            <a:ext cx="152400" cy="152400"/>
          </a:xfrm>
          <a:prstGeom prst="ellipse">
            <a:avLst/>
          </a:prstGeom>
          <a:solidFill>
            <a:srgbClr val="00B050"/>
          </a:solidFill>
          <a:ln w="9525">
            <a:solidFill>
              <a:schemeClr val="tx1"/>
            </a:solidFill>
            <a:round/>
            <a:headEnd/>
            <a:tailEnd/>
          </a:ln>
        </p:spPr>
        <p:txBody>
          <a:bodyPr wrap="none" anchor="ctr"/>
          <a:lstStyle/>
          <a:p>
            <a:pPr algn="ctr"/>
            <a:r>
              <a:rPr lang="en-US" sz="1000" dirty="0"/>
              <a:t>G</a:t>
            </a:r>
          </a:p>
        </p:txBody>
      </p:sp>
      <p:sp>
        <p:nvSpPr>
          <p:cNvPr id="4139" name="Oval 28"/>
          <p:cNvSpPr>
            <a:spLocks noChangeArrowheads="1"/>
          </p:cNvSpPr>
          <p:nvPr/>
        </p:nvSpPr>
        <p:spPr bwMode="auto">
          <a:xfrm>
            <a:off x="8610600" y="533400"/>
            <a:ext cx="152400" cy="152400"/>
          </a:xfrm>
          <a:prstGeom prst="ellipse">
            <a:avLst/>
          </a:prstGeom>
          <a:solidFill>
            <a:srgbClr val="00B050"/>
          </a:solidFill>
          <a:ln w="9525">
            <a:solidFill>
              <a:schemeClr val="tx1"/>
            </a:solidFill>
            <a:round/>
            <a:headEnd/>
            <a:tailEnd/>
          </a:ln>
        </p:spPr>
        <p:txBody>
          <a:bodyPr wrap="none" anchor="ctr"/>
          <a:lstStyle/>
          <a:p>
            <a:pPr algn="ctr"/>
            <a:r>
              <a:rPr lang="en-US" sz="1000" dirty="0"/>
              <a:t>G</a:t>
            </a:r>
          </a:p>
        </p:txBody>
      </p:sp>
      <p:graphicFrame>
        <p:nvGraphicFramePr>
          <p:cNvPr id="14" name="Table 13"/>
          <p:cNvGraphicFramePr>
            <a:graphicFrameLocks noGrp="1"/>
          </p:cNvGraphicFramePr>
          <p:nvPr>
            <p:extLst>
              <p:ext uri="{D42A27DB-BD31-4B8C-83A1-F6EECF244321}">
                <p14:modId xmlns="" xmlns:p14="http://schemas.microsoft.com/office/powerpoint/2010/main" val="2146704841"/>
              </p:ext>
            </p:extLst>
          </p:nvPr>
        </p:nvGraphicFramePr>
        <p:xfrm>
          <a:off x="304800" y="4572000"/>
          <a:ext cx="2871216" cy="1911100"/>
        </p:xfrm>
        <a:graphic>
          <a:graphicData uri="http://schemas.openxmlformats.org/drawingml/2006/table">
            <a:tbl>
              <a:tblPr/>
              <a:tblGrid>
                <a:gridCol w="613847"/>
                <a:gridCol w="762357"/>
                <a:gridCol w="861365"/>
                <a:gridCol w="633647"/>
              </a:tblGrid>
              <a:tr h="191110">
                <a:tc gridSpan="4">
                  <a:txBody>
                    <a:bodyPr/>
                    <a:lstStyle/>
                    <a:p>
                      <a:pPr algn="ctr" fontAlgn="b"/>
                      <a:r>
                        <a:rPr lang="en-US" sz="1100" b="1" i="0" u="none" strike="noStrike" dirty="0">
                          <a:solidFill>
                            <a:srgbClr val="000000"/>
                          </a:solidFill>
                          <a:latin typeface="Calibri"/>
                        </a:rPr>
                        <a:t>PCS Pre-Move Survey Response Recap</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FFFF00"/>
                    </a:solidFill>
                  </a:tcPr>
                </a:tc>
                <a:tc hMerge="1">
                  <a:txBody>
                    <a:bodyPr/>
                    <a:lstStyle/>
                    <a:p>
                      <a:endParaRPr lang="en-US"/>
                    </a:p>
                  </a:txBody>
                  <a:tcPr/>
                </a:tc>
                <a:tc hMerge="1">
                  <a:txBody>
                    <a:bodyPr/>
                    <a:lstStyle/>
                    <a:p>
                      <a:endParaRPr lang="en-US"/>
                    </a:p>
                  </a:txBody>
                  <a:tcPr/>
                </a:tc>
                <a:tc hMerge="1">
                  <a:txBody>
                    <a:bodyPr/>
                    <a:lstStyle/>
                    <a:p>
                      <a:endParaRPr lang="en-US"/>
                    </a:p>
                  </a:txBody>
                  <a:tcPr/>
                </a:tc>
              </a:tr>
              <a:tr h="191110">
                <a:tc>
                  <a:txBody>
                    <a:bodyPr/>
                    <a:lstStyle/>
                    <a:p>
                      <a:pPr algn="ctr" fontAlgn="b"/>
                      <a:r>
                        <a:rPr lang="en-US" sz="1100" b="1" i="0" u="none" strike="noStrike" dirty="0">
                          <a:solidFill>
                            <a:srgbClr val="000000"/>
                          </a:solidFill>
                          <a:latin typeface="Calibri"/>
                        </a:rPr>
                        <a:t>Qtr/Yr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1100" b="1" i="0" u="none" strike="noStrike" dirty="0">
                          <a:solidFill>
                            <a:srgbClr val="000000"/>
                          </a:solidFill>
                          <a:latin typeface="Calibri"/>
                        </a:rPr>
                        <a:t># Surveyed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1100" b="1" i="0" u="none" strike="noStrike" dirty="0">
                          <a:solidFill>
                            <a:srgbClr val="000000"/>
                          </a:solidFill>
                          <a:latin typeface="Calibri"/>
                        </a:rPr>
                        <a:t># Responded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1100" b="1" i="0" u="none" strike="noStrike" dirty="0">
                          <a:solidFill>
                            <a:srgbClr val="000000"/>
                          </a:solidFill>
                          <a:latin typeface="Calibri"/>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191110">
                <a:tc>
                  <a:txBody>
                    <a:bodyPr/>
                    <a:lstStyle/>
                    <a:p>
                      <a:pPr algn="l" fontAlgn="b"/>
                      <a:r>
                        <a:rPr lang="en-US" sz="1100" b="0" i="0" u="none" strike="noStrike" dirty="0" smtClean="0">
                          <a:solidFill>
                            <a:srgbClr val="000000"/>
                          </a:solidFill>
                          <a:latin typeface="+mn-lt"/>
                        </a:rPr>
                        <a:t>Q1/2011</a:t>
                      </a:r>
                      <a:endParaRPr lang="en-US" sz="1100" b="0" i="0" u="none" strike="noStrike" dirty="0">
                        <a:solidFill>
                          <a:srgbClr val="000000"/>
                        </a:solidFill>
                        <a:latin typeface="+mn-lt"/>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298</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93</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31%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191110">
                <a:tc>
                  <a:txBody>
                    <a:bodyPr/>
                    <a:lstStyle/>
                    <a:p>
                      <a:pPr algn="l" fontAlgn="b"/>
                      <a:r>
                        <a:rPr lang="en-US" sz="1100" b="0" i="0" u="none" strike="noStrike" dirty="0" smtClean="0">
                          <a:solidFill>
                            <a:srgbClr val="000000"/>
                          </a:solidFill>
                          <a:latin typeface="Calibri"/>
                        </a:rPr>
                        <a:t>Q2/2011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248</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111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45%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191110">
                <a:tc>
                  <a:txBody>
                    <a:bodyPr/>
                    <a:lstStyle/>
                    <a:p>
                      <a:pPr algn="l" fontAlgn="b"/>
                      <a:r>
                        <a:rPr lang="en-US" sz="1100" b="0" i="0" u="none" strike="noStrike" dirty="0" smtClean="0">
                          <a:solidFill>
                            <a:srgbClr val="000000"/>
                          </a:solidFill>
                          <a:latin typeface="Calibri"/>
                        </a:rPr>
                        <a:t>Q3/2011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286</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142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50</a:t>
                      </a:r>
                      <a:r>
                        <a:rPr lang="en-US" sz="1100" b="0" i="0" u="none" strike="noStrike" dirty="0">
                          <a:solidFill>
                            <a:srgbClr val="000000"/>
                          </a:solidFill>
                          <a:latin typeface="Calibri"/>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191110">
                <a:tc>
                  <a:txBody>
                    <a:bodyPr/>
                    <a:lstStyle/>
                    <a:p>
                      <a:pPr algn="l" fontAlgn="b"/>
                      <a:r>
                        <a:rPr lang="en-US" sz="1100" b="0" i="0" u="none" strike="noStrike" dirty="0" smtClean="0">
                          <a:solidFill>
                            <a:srgbClr val="000000"/>
                          </a:solidFill>
                          <a:latin typeface="Calibri"/>
                        </a:rPr>
                        <a:t>Q4/2011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278</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89</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32%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191110">
                <a:tc>
                  <a:txBody>
                    <a:bodyPr/>
                    <a:lstStyle/>
                    <a:p>
                      <a:pPr algn="l" fontAlgn="b"/>
                      <a:r>
                        <a:rPr lang="en-US" sz="1100" b="0" i="0" u="none" strike="noStrike" dirty="0" smtClean="0">
                          <a:solidFill>
                            <a:srgbClr val="000000"/>
                          </a:solidFill>
                          <a:latin typeface="Calibri"/>
                        </a:rPr>
                        <a:t>Q1/2012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194</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74</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38%</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191110">
                <a:tc>
                  <a:txBody>
                    <a:bodyPr/>
                    <a:lstStyle/>
                    <a:p>
                      <a:pPr algn="l" fontAlgn="b"/>
                      <a:r>
                        <a:rPr lang="en-US" sz="1100" b="0" i="0" u="none" strike="noStrike" dirty="0" smtClean="0">
                          <a:solidFill>
                            <a:srgbClr val="000000"/>
                          </a:solidFill>
                          <a:latin typeface="Calibri"/>
                        </a:rPr>
                        <a:t>Q2/2012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184</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76</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41%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191110">
                <a:tc>
                  <a:txBody>
                    <a:bodyPr/>
                    <a:lstStyle/>
                    <a:p>
                      <a:pPr algn="l" fontAlgn="b"/>
                      <a:r>
                        <a:rPr lang="en-US" sz="1100" b="0" i="0" u="none" strike="noStrike" dirty="0" smtClean="0">
                          <a:solidFill>
                            <a:srgbClr val="000000"/>
                          </a:solidFill>
                          <a:latin typeface="Calibri"/>
                        </a:rPr>
                        <a:t>Q3/2012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232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84</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36%</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191110">
                <a:tc>
                  <a:txBody>
                    <a:bodyPr/>
                    <a:lstStyle/>
                    <a:p>
                      <a:pPr algn="l" fontAlgn="b"/>
                      <a:r>
                        <a:rPr lang="en-US" sz="1100" b="0" i="0" u="none" strike="noStrike" dirty="0" smtClean="0">
                          <a:solidFill>
                            <a:srgbClr val="000000"/>
                          </a:solidFill>
                          <a:latin typeface="Calibri"/>
                        </a:rPr>
                        <a:t>Q4/2012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253</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112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44%</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bl>
          </a:graphicData>
        </a:graphic>
      </p:graphicFrame>
    </p:spTree>
    <p:extLst>
      <p:ext uri="{BB962C8B-B14F-4D97-AF65-F5344CB8AC3E}">
        <p14:creationId xmlns="" xmlns:p14="http://schemas.microsoft.com/office/powerpoint/2010/main" val="10794212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86916"/>
            <a:ext cx="8915400" cy="6771084"/>
          </a:xfrm>
          <a:prstGeom prst="rect">
            <a:avLst/>
          </a:prstGeom>
          <a:noFill/>
        </p:spPr>
        <p:txBody>
          <a:bodyPr wrap="square">
            <a:spAutoFit/>
          </a:bodyPr>
          <a:lstStyle/>
          <a:p>
            <a:pPr>
              <a:defRPr/>
            </a:pPr>
            <a:r>
              <a:rPr lang="en-US" sz="1400" b="1" dirty="0">
                <a:latin typeface="Arial" pitchFamily="34" charset="0"/>
                <a:cs typeface="Arial" pitchFamily="34" charset="0"/>
              </a:rPr>
              <a:t>PCS Change of Station – Post-Move Notes</a:t>
            </a:r>
          </a:p>
          <a:p>
            <a:pPr>
              <a:defRPr/>
            </a:pPr>
            <a:endParaRPr lang="en-US" sz="500" dirty="0">
              <a:latin typeface="Arial" pitchFamily="34" charset="0"/>
              <a:cs typeface="Arial" pitchFamily="34" charset="0"/>
            </a:endParaRPr>
          </a:p>
          <a:p>
            <a:pPr marL="115888" indent="-115888">
              <a:buFont typeface="Arial" pitchFamily="34" charset="0"/>
              <a:buChar char="•"/>
              <a:defRPr/>
            </a:pPr>
            <a:r>
              <a:rPr lang="en-US" sz="1200" dirty="0">
                <a:latin typeface="Arial" pitchFamily="34" charset="0"/>
                <a:cs typeface="Arial" pitchFamily="34" charset="0"/>
              </a:rPr>
              <a:t> Post-Move survey measure evaluates customer satisfaction with PCS services for move events, including:</a:t>
            </a:r>
          </a:p>
          <a:p>
            <a:pPr marL="406400" lvl="1" indent="-174625">
              <a:buFont typeface="Arial" pitchFamily="34" charset="0"/>
              <a:buChar char="•"/>
              <a:defRPr/>
            </a:pPr>
            <a:r>
              <a:rPr lang="en-US" sz="1200" dirty="0">
                <a:latin typeface="Arial" pitchFamily="34" charset="0"/>
                <a:cs typeface="Arial" pitchFamily="34" charset="0"/>
              </a:rPr>
              <a:t>Physical move to new station</a:t>
            </a:r>
          </a:p>
          <a:p>
            <a:pPr marL="406400" lvl="1" indent="-174625">
              <a:buFont typeface="Arial" pitchFamily="34" charset="0"/>
              <a:buChar char="•"/>
              <a:defRPr/>
            </a:pPr>
            <a:r>
              <a:rPr lang="en-US" sz="1200" dirty="0">
                <a:latin typeface="Arial" pitchFamily="34" charset="0"/>
                <a:cs typeface="Arial" pitchFamily="34" charset="0"/>
              </a:rPr>
              <a:t>Household Goods (HHGs) shipment and </a:t>
            </a:r>
            <a:r>
              <a:rPr lang="en-US" sz="1200" dirty="0" smtClean="0">
                <a:latin typeface="Arial" pitchFamily="34" charset="0"/>
                <a:cs typeface="Arial" pitchFamily="34" charset="0"/>
              </a:rPr>
              <a:t>delivery</a:t>
            </a:r>
            <a:r>
              <a:rPr lang="en-US" sz="1200" dirty="0" smtClean="0"/>
              <a:t>  </a:t>
            </a:r>
            <a:endParaRPr lang="en-US" sz="1200" dirty="0">
              <a:latin typeface="Arial" pitchFamily="34" charset="0"/>
              <a:cs typeface="Arial" pitchFamily="34" charset="0"/>
            </a:endParaRPr>
          </a:p>
          <a:p>
            <a:pPr marL="406400" lvl="1" indent="-174625">
              <a:buFont typeface="Arial" pitchFamily="34" charset="0"/>
              <a:buChar char="•"/>
              <a:defRPr/>
            </a:pPr>
            <a:r>
              <a:rPr lang="en-US" sz="1200" dirty="0">
                <a:latin typeface="Arial" pitchFamily="34" charset="0"/>
                <a:cs typeface="Arial" pitchFamily="34" charset="0"/>
              </a:rPr>
              <a:t>Home sale services </a:t>
            </a:r>
            <a:r>
              <a:rPr lang="en-US" sz="1200" dirty="0" smtClean="0">
                <a:latin typeface="Arial" pitchFamily="34" charset="0"/>
                <a:cs typeface="Arial" pitchFamily="34" charset="0"/>
              </a:rPr>
              <a:t>initiation </a:t>
            </a:r>
            <a:r>
              <a:rPr lang="en-US" sz="1200" dirty="0">
                <a:latin typeface="Arial" pitchFamily="34" charset="0"/>
                <a:cs typeface="Arial" pitchFamily="34" charset="0"/>
              </a:rPr>
              <a:t>of PCS travel documents  </a:t>
            </a:r>
          </a:p>
          <a:p>
            <a:pPr marL="406400" lvl="1" indent="-174625">
              <a:buFont typeface="Arial" pitchFamily="34" charset="0"/>
              <a:buChar char="•"/>
              <a:defRPr/>
            </a:pPr>
            <a:r>
              <a:rPr lang="en-US" sz="1200" dirty="0">
                <a:latin typeface="Arial" pitchFamily="34" charset="0"/>
                <a:cs typeface="Arial" pitchFamily="34" charset="0"/>
              </a:rPr>
              <a:t>Travel claims processing</a:t>
            </a:r>
          </a:p>
          <a:p>
            <a:pPr marL="406400" lvl="1" indent="-174625">
              <a:defRPr/>
            </a:pPr>
            <a:endParaRPr lang="en-US" sz="500" dirty="0">
              <a:latin typeface="Arial" pitchFamily="34" charset="0"/>
              <a:cs typeface="Arial" pitchFamily="34" charset="0"/>
            </a:endParaRPr>
          </a:p>
          <a:p>
            <a:pPr marL="115888" indent="-115888">
              <a:buFont typeface="Arial" pitchFamily="34" charset="0"/>
              <a:buChar char="•"/>
              <a:defRPr/>
            </a:pPr>
            <a:r>
              <a:rPr lang="en-US" sz="1200" dirty="0">
                <a:latin typeface="Arial" pitchFamily="34" charset="0"/>
                <a:cs typeface="Arial" pitchFamily="34" charset="0"/>
              </a:rPr>
              <a:t> Employees are not required to respond to survey, but all employees completing </a:t>
            </a:r>
            <a:r>
              <a:rPr lang="en-US" sz="1200" dirty="0" smtClean="0">
                <a:latin typeface="Arial" pitchFamily="34" charset="0"/>
                <a:cs typeface="Arial" pitchFamily="34" charset="0"/>
              </a:rPr>
              <a:t>post-move </a:t>
            </a:r>
            <a:r>
              <a:rPr lang="en-US" sz="1200" dirty="0">
                <a:latin typeface="Arial" pitchFamily="34" charset="0"/>
                <a:cs typeface="Arial" pitchFamily="34" charset="0"/>
              </a:rPr>
              <a:t>events are surveyed</a:t>
            </a:r>
          </a:p>
          <a:p>
            <a:pPr marL="115888" indent="-115888">
              <a:defRPr/>
            </a:pPr>
            <a:endParaRPr lang="en-US" sz="500" dirty="0">
              <a:latin typeface="Arial" pitchFamily="34" charset="0"/>
              <a:cs typeface="Arial" pitchFamily="34" charset="0"/>
            </a:endParaRPr>
          </a:p>
          <a:p>
            <a:pPr>
              <a:buFont typeface="Arial" pitchFamily="34" charset="0"/>
              <a:buChar char="•"/>
              <a:defRPr/>
            </a:pPr>
            <a:r>
              <a:rPr lang="en-US" sz="1200" dirty="0">
                <a:latin typeface="Arial" pitchFamily="34" charset="0"/>
                <a:cs typeface="Arial" pitchFamily="34" charset="0"/>
              </a:rPr>
              <a:t>  Survey asks customers to rank overall satisfaction with </a:t>
            </a:r>
            <a:r>
              <a:rPr lang="en-US" sz="1200" dirty="0" smtClean="0">
                <a:latin typeface="Arial" pitchFamily="34" charset="0"/>
                <a:cs typeface="Arial" pitchFamily="34" charset="0"/>
              </a:rPr>
              <a:t>post-move </a:t>
            </a:r>
            <a:r>
              <a:rPr lang="en-US" sz="1200" dirty="0">
                <a:latin typeface="Arial" pitchFamily="34" charset="0"/>
                <a:cs typeface="Arial" pitchFamily="34" charset="0"/>
              </a:rPr>
              <a:t>services</a:t>
            </a:r>
          </a:p>
          <a:p>
            <a:pPr lvl="1" indent="-225425">
              <a:buFont typeface="Arial" pitchFamily="34" charset="0"/>
              <a:buChar char="•"/>
              <a:defRPr/>
            </a:pPr>
            <a:r>
              <a:rPr lang="en-US" sz="1200" dirty="0">
                <a:latin typeface="Arial" pitchFamily="34" charset="0"/>
                <a:cs typeface="Arial" pitchFamily="34" charset="0"/>
              </a:rPr>
              <a:t>Scale:  1 – Very Dissatisfied to 5 – Very Satisfied</a:t>
            </a:r>
          </a:p>
          <a:p>
            <a:pPr lvl="1" indent="-225425">
              <a:buFont typeface="Arial" pitchFamily="34" charset="0"/>
              <a:buChar char="•"/>
              <a:defRPr/>
            </a:pPr>
            <a:r>
              <a:rPr lang="en-US" sz="1200" dirty="0">
                <a:latin typeface="Arial" pitchFamily="34" charset="0"/>
                <a:cs typeface="Arial" pitchFamily="34" charset="0"/>
              </a:rPr>
              <a:t>Goal is </a:t>
            </a:r>
            <a:r>
              <a:rPr lang="en-US" sz="1200" dirty="0" smtClean="0">
                <a:latin typeface="Arial" pitchFamily="34" charset="0"/>
                <a:cs typeface="Arial" pitchFamily="34" charset="0"/>
              </a:rPr>
              <a:t>4.0 – </a:t>
            </a:r>
            <a:r>
              <a:rPr lang="en-US" sz="1200" dirty="0" smtClean="0">
                <a:solidFill>
                  <a:srgbClr val="00CC00"/>
                </a:solidFill>
                <a:latin typeface="Arial" pitchFamily="34" charset="0"/>
                <a:cs typeface="Arial" pitchFamily="34" charset="0"/>
              </a:rPr>
              <a:t>FY 2012 4th Quarter –  4.1 </a:t>
            </a:r>
            <a:endParaRPr lang="en-US" sz="1200" dirty="0">
              <a:solidFill>
                <a:srgbClr val="00CC00"/>
              </a:solidFill>
              <a:latin typeface="Arial" pitchFamily="34" charset="0"/>
              <a:cs typeface="Arial" pitchFamily="34" charset="0"/>
            </a:endParaRPr>
          </a:p>
          <a:p>
            <a:pPr lvl="1" indent="-225425">
              <a:defRPr/>
            </a:pPr>
            <a:endParaRPr lang="en-US" sz="500" dirty="0">
              <a:latin typeface="Arial" pitchFamily="34" charset="0"/>
              <a:cs typeface="Arial" pitchFamily="34" charset="0"/>
            </a:endParaRPr>
          </a:p>
          <a:p>
            <a:pPr marL="115888" indent="-115888">
              <a:buFont typeface="Arial" pitchFamily="34" charset="0"/>
              <a:buChar char="•"/>
              <a:defRPr/>
            </a:pPr>
            <a:r>
              <a:rPr lang="en-US" sz="1200" dirty="0">
                <a:latin typeface="Arial" pitchFamily="34" charset="0"/>
                <a:cs typeface="Arial" pitchFamily="34" charset="0"/>
              </a:rPr>
              <a:t> Survey Statistics 			</a:t>
            </a:r>
            <a:r>
              <a:rPr lang="en-US" sz="1200" dirty="0" smtClean="0">
                <a:latin typeface="Arial" pitchFamily="34" charset="0"/>
                <a:cs typeface="Arial" pitchFamily="34" charset="0"/>
              </a:rPr>
              <a:t>           </a:t>
            </a:r>
            <a:r>
              <a:rPr lang="en-US" sz="1200" u="sng" dirty="0">
                <a:latin typeface="Arial" pitchFamily="34" charset="0"/>
                <a:cs typeface="Arial" pitchFamily="34" charset="0"/>
              </a:rPr>
              <a:t>FY </a:t>
            </a:r>
            <a:r>
              <a:rPr lang="en-US" sz="1200" u="sng" dirty="0" smtClean="0">
                <a:latin typeface="Arial" pitchFamily="34" charset="0"/>
                <a:cs typeface="Arial" pitchFamily="34" charset="0"/>
              </a:rPr>
              <a:t>2011</a:t>
            </a:r>
            <a:r>
              <a:rPr lang="en-US" sz="1200" dirty="0" smtClean="0">
                <a:latin typeface="Arial" pitchFamily="34" charset="0"/>
                <a:cs typeface="Arial" pitchFamily="34" charset="0"/>
              </a:rPr>
              <a:t>		</a:t>
            </a:r>
            <a:r>
              <a:rPr lang="en-US" sz="1200" u="sng" dirty="0" smtClean="0">
                <a:solidFill>
                  <a:srgbClr val="0000FF"/>
                </a:solidFill>
                <a:latin typeface="Arial" pitchFamily="34" charset="0"/>
                <a:cs typeface="Arial" pitchFamily="34" charset="0"/>
              </a:rPr>
              <a:t>FY 2012</a:t>
            </a:r>
            <a:endParaRPr lang="en-US" sz="1200" u="sng" dirty="0">
              <a:solidFill>
                <a:srgbClr val="0000FF"/>
              </a:solidFill>
              <a:latin typeface="Arial" pitchFamily="34" charset="0"/>
              <a:cs typeface="Arial" pitchFamily="34" charset="0"/>
            </a:endParaRPr>
          </a:p>
          <a:p>
            <a:pPr marL="3316288" lvl="7" indent="-115888">
              <a:defRPr/>
            </a:pPr>
            <a:r>
              <a:rPr lang="en-US" sz="1200" dirty="0">
                <a:latin typeface="Arial" pitchFamily="34" charset="0"/>
                <a:cs typeface="Arial" pitchFamily="34" charset="0"/>
              </a:rPr>
              <a:t>		</a:t>
            </a:r>
            <a:r>
              <a:rPr lang="en-US" sz="1200" dirty="0" smtClean="0">
                <a:latin typeface="Arial" pitchFamily="34" charset="0"/>
                <a:cs typeface="Arial" pitchFamily="34" charset="0"/>
              </a:rPr>
              <a:t>  </a:t>
            </a:r>
            <a:r>
              <a:rPr lang="en-US" sz="1200" u="sng" dirty="0" smtClean="0">
                <a:latin typeface="Arial" pitchFamily="34" charset="0"/>
                <a:cs typeface="Arial" pitchFamily="34" charset="0"/>
              </a:rPr>
              <a:t>Q1</a:t>
            </a:r>
            <a:r>
              <a:rPr lang="en-US" sz="1200" dirty="0" smtClean="0">
                <a:latin typeface="Arial" pitchFamily="34" charset="0"/>
                <a:cs typeface="Arial" pitchFamily="34" charset="0"/>
              </a:rPr>
              <a:t>     </a:t>
            </a:r>
            <a:r>
              <a:rPr lang="en-US" sz="1200" u="sng" dirty="0">
                <a:latin typeface="Arial" pitchFamily="34" charset="0"/>
                <a:cs typeface="Arial" pitchFamily="34" charset="0"/>
              </a:rPr>
              <a:t>Q2</a:t>
            </a:r>
            <a:r>
              <a:rPr lang="en-US" sz="1200" dirty="0">
                <a:latin typeface="Arial" pitchFamily="34" charset="0"/>
                <a:cs typeface="Arial" pitchFamily="34" charset="0"/>
              </a:rPr>
              <a:t>    </a:t>
            </a:r>
            <a:r>
              <a:rPr lang="en-US" sz="1200" u="sng" dirty="0">
                <a:latin typeface="Arial" pitchFamily="34" charset="0"/>
                <a:cs typeface="Arial" pitchFamily="34" charset="0"/>
              </a:rPr>
              <a:t>Q3</a:t>
            </a:r>
            <a:r>
              <a:rPr lang="en-US" sz="1200" dirty="0">
                <a:latin typeface="Arial" pitchFamily="34" charset="0"/>
                <a:cs typeface="Arial" pitchFamily="34" charset="0"/>
              </a:rPr>
              <a:t>   </a:t>
            </a:r>
            <a:r>
              <a:rPr lang="en-US" sz="1200" dirty="0" smtClean="0">
                <a:latin typeface="Arial" pitchFamily="34" charset="0"/>
                <a:cs typeface="Arial" pitchFamily="34" charset="0"/>
              </a:rPr>
              <a:t>  </a:t>
            </a:r>
            <a:r>
              <a:rPr lang="en-US" sz="1200" u="sng" dirty="0" smtClean="0">
                <a:latin typeface="Arial" pitchFamily="34" charset="0"/>
                <a:cs typeface="Arial" pitchFamily="34" charset="0"/>
              </a:rPr>
              <a:t>Q4</a:t>
            </a:r>
            <a:r>
              <a:rPr lang="en-US" sz="1200" dirty="0" smtClean="0">
                <a:latin typeface="Arial" pitchFamily="34" charset="0"/>
                <a:cs typeface="Arial" pitchFamily="34" charset="0"/>
              </a:rPr>
              <a:t>	             </a:t>
            </a:r>
            <a:r>
              <a:rPr lang="en-US" sz="1200" u="sng" dirty="0" smtClean="0">
                <a:solidFill>
                  <a:srgbClr val="0000FF"/>
                </a:solidFill>
                <a:latin typeface="Arial" pitchFamily="34" charset="0"/>
                <a:cs typeface="Arial" pitchFamily="34" charset="0"/>
              </a:rPr>
              <a:t>Q1</a:t>
            </a:r>
            <a:r>
              <a:rPr lang="en-US" sz="1200" dirty="0" smtClean="0">
                <a:solidFill>
                  <a:srgbClr val="0000FF"/>
                </a:solidFill>
                <a:latin typeface="Arial" pitchFamily="34" charset="0"/>
                <a:cs typeface="Arial" pitchFamily="34" charset="0"/>
              </a:rPr>
              <a:t>	</a:t>
            </a:r>
            <a:r>
              <a:rPr lang="en-US" sz="1200" u="sng" dirty="0" smtClean="0">
                <a:solidFill>
                  <a:srgbClr val="0000FF"/>
                </a:solidFill>
                <a:latin typeface="Arial" pitchFamily="34" charset="0"/>
                <a:cs typeface="Arial" pitchFamily="34" charset="0"/>
              </a:rPr>
              <a:t>Q2 </a:t>
            </a:r>
            <a:r>
              <a:rPr lang="en-US" sz="1200" dirty="0" smtClean="0">
                <a:solidFill>
                  <a:srgbClr val="0000FF"/>
                </a:solidFill>
                <a:latin typeface="Arial" pitchFamily="34" charset="0"/>
                <a:cs typeface="Arial" pitchFamily="34" charset="0"/>
              </a:rPr>
              <a:t>      </a:t>
            </a:r>
            <a:r>
              <a:rPr lang="en-US" sz="1200" u="sng" dirty="0" smtClean="0">
                <a:solidFill>
                  <a:srgbClr val="0000FF"/>
                </a:solidFill>
                <a:latin typeface="Arial" pitchFamily="34" charset="0"/>
                <a:cs typeface="Arial" pitchFamily="34" charset="0"/>
              </a:rPr>
              <a:t>Q3</a:t>
            </a:r>
            <a:r>
              <a:rPr lang="en-US" sz="1200" dirty="0" smtClean="0">
                <a:solidFill>
                  <a:srgbClr val="0000FF"/>
                </a:solidFill>
                <a:latin typeface="Arial" pitchFamily="34" charset="0"/>
                <a:cs typeface="Arial" pitchFamily="34" charset="0"/>
              </a:rPr>
              <a:t>      </a:t>
            </a:r>
            <a:r>
              <a:rPr lang="en-US" sz="1200" u="sng" dirty="0" smtClean="0">
                <a:solidFill>
                  <a:srgbClr val="0000FF"/>
                </a:solidFill>
                <a:latin typeface="Arial" pitchFamily="34" charset="0"/>
                <a:cs typeface="Arial" pitchFamily="34" charset="0"/>
              </a:rPr>
              <a:t>Q4</a:t>
            </a:r>
            <a:endParaRPr lang="en-US" sz="1200" u="sng" dirty="0">
              <a:solidFill>
                <a:srgbClr val="0000FF"/>
              </a:solidFill>
              <a:latin typeface="Arial" pitchFamily="34" charset="0"/>
              <a:cs typeface="Arial" pitchFamily="34" charset="0"/>
            </a:endParaRPr>
          </a:p>
          <a:p>
            <a:pPr marL="573088" lvl="1" indent="-115888">
              <a:defRPr/>
            </a:pPr>
            <a:r>
              <a:rPr lang="en-US" sz="1200" dirty="0">
                <a:latin typeface="Arial" pitchFamily="34" charset="0"/>
                <a:cs typeface="Arial" pitchFamily="34" charset="0"/>
              </a:rPr>
              <a:t>Number Surveyed			 </a:t>
            </a:r>
            <a:r>
              <a:rPr lang="en-US" sz="1200" dirty="0" smtClean="0">
                <a:latin typeface="Arial" pitchFamily="34" charset="0"/>
                <a:cs typeface="Arial" pitchFamily="34" charset="0"/>
              </a:rPr>
              <a:t>363    </a:t>
            </a:r>
            <a:r>
              <a:rPr lang="en-US" sz="1200" dirty="0">
                <a:latin typeface="Arial" pitchFamily="34" charset="0"/>
                <a:cs typeface="Arial" pitchFamily="34" charset="0"/>
              </a:rPr>
              <a:t>203    </a:t>
            </a:r>
            <a:r>
              <a:rPr lang="en-US" sz="1200" dirty="0" smtClean="0">
                <a:latin typeface="Arial" pitchFamily="34" charset="0"/>
                <a:cs typeface="Arial" pitchFamily="34" charset="0"/>
              </a:rPr>
              <a:t>251   280	            </a:t>
            </a:r>
            <a:r>
              <a:rPr lang="en-US" sz="1200" dirty="0" smtClean="0">
                <a:solidFill>
                  <a:srgbClr val="0000FF"/>
                </a:solidFill>
                <a:latin typeface="Arial" pitchFamily="34" charset="0"/>
                <a:cs typeface="Arial" pitchFamily="34" charset="0"/>
              </a:rPr>
              <a:t>198</a:t>
            </a:r>
            <a:r>
              <a:rPr lang="en-US" sz="1200" dirty="0" smtClean="0">
                <a:latin typeface="Arial" pitchFamily="34" charset="0"/>
                <a:cs typeface="Arial" pitchFamily="34" charset="0"/>
              </a:rPr>
              <a:t>	</a:t>
            </a:r>
            <a:r>
              <a:rPr lang="en-US" sz="1200" dirty="0" smtClean="0">
                <a:solidFill>
                  <a:srgbClr val="0000FF"/>
                </a:solidFill>
                <a:latin typeface="Arial" pitchFamily="34" charset="0"/>
                <a:cs typeface="Arial" pitchFamily="34" charset="0"/>
              </a:rPr>
              <a:t>316     175     215</a:t>
            </a:r>
            <a:r>
              <a:rPr lang="en-US" sz="1200" dirty="0" smtClean="0">
                <a:latin typeface="Arial" pitchFamily="34" charset="0"/>
                <a:cs typeface="Arial" pitchFamily="34" charset="0"/>
              </a:rPr>
              <a:t>	</a:t>
            </a:r>
            <a:endParaRPr lang="en-US" sz="1200" dirty="0">
              <a:latin typeface="Arial" pitchFamily="34" charset="0"/>
              <a:cs typeface="Arial" pitchFamily="34" charset="0"/>
            </a:endParaRPr>
          </a:p>
          <a:p>
            <a:pPr marL="573088" lvl="1" indent="-115888">
              <a:defRPr/>
            </a:pPr>
            <a:r>
              <a:rPr lang="en-US" sz="1200" dirty="0">
                <a:latin typeface="Arial" pitchFamily="34" charset="0"/>
                <a:cs typeface="Arial" pitchFamily="34" charset="0"/>
              </a:rPr>
              <a:t>Number Responses Received		</a:t>
            </a:r>
            <a:r>
              <a:rPr lang="en-US" sz="1200" dirty="0" smtClean="0">
                <a:latin typeface="Arial" pitchFamily="34" charset="0"/>
                <a:cs typeface="Arial" pitchFamily="34" charset="0"/>
              </a:rPr>
              <a:t>   89      </a:t>
            </a:r>
            <a:r>
              <a:rPr lang="en-US" sz="1200" dirty="0">
                <a:latin typeface="Arial" pitchFamily="34" charset="0"/>
                <a:cs typeface="Arial" pitchFamily="34" charset="0"/>
              </a:rPr>
              <a:t>59	</a:t>
            </a:r>
            <a:r>
              <a:rPr lang="en-US" sz="1200" dirty="0" smtClean="0">
                <a:latin typeface="Arial" pitchFamily="34" charset="0"/>
                <a:cs typeface="Arial" pitchFamily="34" charset="0"/>
              </a:rPr>
              <a:t> 89     62	              </a:t>
            </a:r>
            <a:r>
              <a:rPr lang="en-US" sz="1200" dirty="0" smtClean="0">
                <a:solidFill>
                  <a:srgbClr val="0000FF"/>
                </a:solidFill>
                <a:latin typeface="Arial" pitchFamily="34" charset="0"/>
                <a:cs typeface="Arial" pitchFamily="34" charset="0"/>
              </a:rPr>
              <a:t>40	103       66       64</a:t>
            </a:r>
            <a:endParaRPr lang="en-US" sz="1200" dirty="0">
              <a:solidFill>
                <a:srgbClr val="0000FF"/>
              </a:solidFill>
              <a:latin typeface="Arial" pitchFamily="34" charset="0"/>
              <a:cs typeface="Arial" pitchFamily="34" charset="0"/>
            </a:endParaRPr>
          </a:p>
          <a:p>
            <a:pPr marL="573088" lvl="1" indent="-115888">
              <a:defRPr/>
            </a:pPr>
            <a:r>
              <a:rPr lang="en-US" sz="1200" dirty="0">
                <a:latin typeface="Arial" pitchFamily="34" charset="0"/>
                <a:cs typeface="Arial" pitchFamily="34" charset="0"/>
              </a:rPr>
              <a:t>Percentage of Responses Received	 </a:t>
            </a:r>
            <a:r>
              <a:rPr lang="en-US" sz="1200" dirty="0" smtClean="0">
                <a:latin typeface="Arial" pitchFamily="34" charset="0"/>
                <a:cs typeface="Arial" pitchFamily="34" charset="0"/>
              </a:rPr>
              <a:t>25</a:t>
            </a:r>
            <a:r>
              <a:rPr lang="en-US" sz="1200" dirty="0">
                <a:latin typeface="Arial" pitchFamily="34" charset="0"/>
                <a:cs typeface="Arial" pitchFamily="34" charset="0"/>
              </a:rPr>
              <a:t>%   29%   35</a:t>
            </a:r>
            <a:r>
              <a:rPr lang="en-US" sz="1200" dirty="0" smtClean="0">
                <a:latin typeface="Arial" pitchFamily="34" charset="0"/>
                <a:cs typeface="Arial" pitchFamily="34" charset="0"/>
              </a:rPr>
              <a:t>%  22%	            </a:t>
            </a:r>
            <a:r>
              <a:rPr lang="en-US" sz="1200" dirty="0" smtClean="0">
                <a:solidFill>
                  <a:srgbClr val="0000FF"/>
                </a:solidFill>
                <a:latin typeface="Arial" pitchFamily="34" charset="0"/>
                <a:cs typeface="Arial" pitchFamily="34" charset="0"/>
              </a:rPr>
              <a:t>20%</a:t>
            </a:r>
            <a:r>
              <a:rPr lang="en-US" sz="1200" dirty="0" smtClean="0">
                <a:latin typeface="Arial" pitchFamily="34" charset="0"/>
                <a:cs typeface="Arial" pitchFamily="34" charset="0"/>
              </a:rPr>
              <a:t>   </a:t>
            </a:r>
            <a:r>
              <a:rPr lang="en-US" sz="1200" dirty="0" smtClean="0">
                <a:solidFill>
                  <a:srgbClr val="0000FF"/>
                </a:solidFill>
                <a:latin typeface="Arial" pitchFamily="34" charset="0"/>
                <a:cs typeface="Arial" pitchFamily="34" charset="0"/>
              </a:rPr>
              <a:t>33%    38%    30%</a:t>
            </a:r>
            <a:endParaRPr lang="en-US" sz="1200" dirty="0">
              <a:solidFill>
                <a:srgbClr val="0000FF"/>
              </a:solidFill>
              <a:latin typeface="Arial" pitchFamily="34" charset="0"/>
              <a:cs typeface="Arial" pitchFamily="34" charset="0"/>
            </a:endParaRPr>
          </a:p>
          <a:p>
            <a:pPr marL="573088" lvl="1" indent="-115888">
              <a:defRPr/>
            </a:pPr>
            <a:r>
              <a:rPr lang="en-US" sz="1200" dirty="0">
                <a:latin typeface="Arial" pitchFamily="34" charset="0"/>
                <a:cs typeface="Arial" pitchFamily="34" charset="0"/>
              </a:rPr>
              <a:t>Summary of Results			  </a:t>
            </a:r>
            <a:r>
              <a:rPr lang="en-US" sz="1200" dirty="0" smtClean="0">
                <a:latin typeface="Arial" pitchFamily="34" charset="0"/>
                <a:cs typeface="Arial" pitchFamily="34" charset="0"/>
              </a:rPr>
              <a:t>4.1     </a:t>
            </a:r>
            <a:r>
              <a:rPr lang="en-US" sz="1200" dirty="0">
                <a:latin typeface="Arial" pitchFamily="34" charset="0"/>
                <a:cs typeface="Arial" pitchFamily="34" charset="0"/>
              </a:rPr>
              <a:t>3.9    </a:t>
            </a:r>
            <a:r>
              <a:rPr lang="en-US" sz="1200" dirty="0" smtClean="0">
                <a:latin typeface="Arial" pitchFamily="34" charset="0"/>
                <a:cs typeface="Arial" pitchFamily="34" charset="0"/>
              </a:rPr>
              <a:t>4.2     4.0	             </a:t>
            </a:r>
            <a:r>
              <a:rPr lang="en-US" sz="1200" dirty="0" smtClean="0">
                <a:solidFill>
                  <a:srgbClr val="0000FF"/>
                </a:solidFill>
                <a:latin typeface="Arial" pitchFamily="34" charset="0"/>
                <a:cs typeface="Arial" pitchFamily="34" charset="0"/>
              </a:rPr>
              <a:t>4.0	 4.0      4.1	  4.1</a:t>
            </a:r>
            <a:endParaRPr lang="en-US" sz="1200" dirty="0">
              <a:solidFill>
                <a:srgbClr val="0000FF"/>
              </a:solidFill>
              <a:latin typeface="Arial" pitchFamily="34" charset="0"/>
              <a:cs typeface="Arial" pitchFamily="34" charset="0"/>
            </a:endParaRPr>
          </a:p>
          <a:p>
            <a:pPr marL="573088" lvl="1" indent="-115888">
              <a:defRPr/>
            </a:pPr>
            <a:r>
              <a:rPr lang="en-US" sz="800" dirty="0">
                <a:latin typeface="Arial" pitchFamily="34" charset="0"/>
                <a:cs typeface="Arial" pitchFamily="34" charset="0"/>
              </a:rPr>
              <a:t>(Note:  </a:t>
            </a:r>
            <a:r>
              <a:rPr lang="en-US" sz="800" dirty="0" smtClean="0">
                <a:latin typeface="Arial" pitchFamily="34" charset="0"/>
                <a:cs typeface="Arial" pitchFamily="34" charset="0"/>
              </a:rPr>
              <a:t>FSC uses a </a:t>
            </a:r>
            <a:r>
              <a:rPr lang="en-US" sz="800" dirty="0">
                <a:latin typeface="Arial" pitchFamily="34" charset="0"/>
                <a:cs typeface="Arial" pitchFamily="34" charset="0"/>
              </a:rPr>
              <a:t>mid-point follow-up contact with survey recipients to try to improve survey response rates)</a:t>
            </a:r>
          </a:p>
          <a:p>
            <a:pPr marL="573088" lvl="1" indent="-115888">
              <a:defRPr/>
            </a:pPr>
            <a:r>
              <a:rPr lang="en-US" sz="800" dirty="0">
                <a:latin typeface="Arial" pitchFamily="34" charset="0"/>
                <a:cs typeface="Arial" pitchFamily="34" charset="0"/>
              </a:rPr>
              <a:t>	</a:t>
            </a:r>
            <a:r>
              <a:rPr lang="en-US" sz="800" dirty="0">
                <a:solidFill>
                  <a:srgbClr val="0000FF"/>
                </a:solidFill>
                <a:latin typeface="Arial" pitchFamily="34" charset="0"/>
                <a:cs typeface="Arial" pitchFamily="34" charset="0"/>
              </a:rPr>
              <a:t> </a:t>
            </a:r>
            <a:endParaRPr lang="en-US" sz="800" dirty="0">
              <a:latin typeface="Arial" pitchFamily="34" charset="0"/>
              <a:cs typeface="Arial" pitchFamily="34" charset="0"/>
            </a:endParaRPr>
          </a:p>
          <a:p>
            <a:pPr marL="115888" indent="-115888">
              <a:buFont typeface="Arial" pitchFamily="34" charset="0"/>
              <a:buChar char="•"/>
              <a:defRPr/>
            </a:pPr>
            <a:r>
              <a:rPr lang="en-US" sz="1200" dirty="0">
                <a:latin typeface="Arial" pitchFamily="34" charset="0"/>
                <a:cs typeface="Arial" pitchFamily="34" charset="0"/>
              </a:rPr>
              <a:t>Types of employee survey responses with </a:t>
            </a:r>
            <a:r>
              <a:rPr lang="en-US" sz="1200" dirty="0" smtClean="0">
                <a:latin typeface="Arial" pitchFamily="34" charset="0"/>
                <a:cs typeface="Arial" pitchFamily="34" charset="0"/>
              </a:rPr>
              <a:t>post-move </a:t>
            </a:r>
            <a:r>
              <a:rPr lang="en-US" sz="1200" dirty="0">
                <a:latin typeface="Arial" pitchFamily="34" charset="0"/>
                <a:cs typeface="Arial" pitchFamily="34" charset="0"/>
              </a:rPr>
              <a:t>process concerns</a:t>
            </a:r>
          </a:p>
          <a:p>
            <a:pPr lvl="1" indent="-225425">
              <a:buFont typeface="Arial" pitchFamily="34" charset="0"/>
              <a:buChar char="•"/>
              <a:defRPr/>
            </a:pPr>
            <a:r>
              <a:rPr lang="en-US" sz="1200" dirty="0" smtClean="0">
                <a:latin typeface="Arial" pitchFamily="34" charset="0"/>
                <a:cs typeface="Arial" pitchFamily="34" charset="0"/>
              </a:rPr>
              <a:t>The </a:t>
            </a:r>
            <a:r>
              <a:rPr lang="en-US" sz="1200" dirty="0">
                <a:latin typeface="Arial" pitchFamily="34" charset="0"/>
                <a:cs typeface="Arial" pitchFamily="34" charset="0"/>
              </a:rPr>
              <a:t>movers took headboards and tables apart to but did not put them back </a:t>
            </a:r>
            <a:r>
              <a:rPr lang="en-US" sz="1200" dirty="0" smtClean="0">
                <a:latin typeface="Arial" pitchFamily="34" charset="0"/>
                <a:cs typeface="Arial" pitchFamily="34" charset="0"/>
              </a:rPr>
              <a:t>together. They </a:t>
            </a:r>
            <a:r>
              <a:rPr lang="en-US" sz="1200" dirty="0">
                <a:latin typeface="Arial" pitchFamily="34" charset="0"/>
                <a:cs typeface="Arial" pitchFamily="34" charset="0"/>
              </a:rPr>
              <a:t>were left for me to do</a:t>
            </a:r>
            <a:r>
              <a:rPr lang="en-US" sz="1200" dirty="0" smtClean="0">
                <a:latin typeface="Arial" pitchFamily="34" charset="0"/>
                <a:cs typeface="Arial" pitchFamily="34" charset="0"/>
              </a:rPr>
              <a:t>.</a:t>
            </a:r>
          </a:p>
          <a:p>
            <a:pPr lvl="1" indent="-225425">
              <a:buFont typeface="Arial" pitchFamily="34" charset="0"/>
              <a:buChar char="•"/>
              <a:defRPr/>
            </a:pPr>
            <a:r>
              <a:rPr lang="en-US" sz="1200" dirty="0">
                <a:latin typeface="Arial" pitchFamily="34" charset="0"/>
                <a:cs typeface="Arial" pitchFamily="34" charset="0"/>
              </a:rPr>
              <a:t>RMW did a great job keeping in touch with me </a:t>
            </a:r>
            <a:r>
              <a:rPr lang="en-US" sz="1200" dirty="0" smtClean="0">
                <a:latin typeface="Arial" pitchFamily="34" charset="0"/>
                <a:cs typeface="Arial" pitchFamily="34" charset="0"/>
              </a:rPr>
              <a:t>throughout </a:t>
            </a:r>
            <a:r>
              <a:rPr lang="en-US" sz="1200" dirty="0">
                <a:latin typeface="Arial" pitchFamily="34" charset="0"/>
                <a:cs typeface="Arial" pitchFamily="34" charset="0"/>
              </a:rPr>
              <a:t>the whole process</a:t>
            </a:r>
            <a:r>
              <a:rPr lang="en-US" sz="1200" dirty="0" smtClean="0">
                <a:latin typeface="Arial" pitchFamily="34" charset="0"/>
                <a:cs typeface="Arial" pitchFamily="34" charset="0"/>
              </a:rPr>
              <a:t>.</a:t>
            </a:r>
          </a:p>
          <a:p>
            <a:pPr lvl="2" indent="-225425">
              <a:buFont typeface="Arial" pitchFamily="34" charset="0"/>
              <a:buChar char="•"/>
              <a:defRPr/>
            </a:pPr>
            <a:r>
              <a:rPr lang="en-US" sz="1200" dirty="0" smtClean="0">
                <a:latin typeface="Arial" pitchFamily="34" charset="0"/>
                <a:cs typeface="Arial" pitchFamily="34" charset="0"/>
              </a:rPr>
              <a:t>FSC provided survey feedback to RMW management and RMW COTR.</a:t>
            </a:r>
          </a:p>
          <a:p>
            <a:pPr lvl="1" indent="-225425">
              <a:buFont typeface="Arial" pitchFamily="34" charset="0"/>
              <a:buChar char="•"/>
              <a:defRPr/>
            </a:pPr>
            <a:r>
              <a:rPr lang="en-US" sz="1200" dirty="0">
                <a:latin typeface="Arial" pitchFamily="34" charset="0"/>
                <a:cs typeface="Arial" pitchFamily="34" charset="0"/>
              </a:rPr>
              <a:t>Everyone did a great job communicating what to expect next.  Thank you</a:t>
            </a:r>
            <a:r>
              <a:rPr lang="en-US" sz="1200" dirty="0" smtClean="0">
                <a:latin typeface="Arial" pitchFamily="34" charset="0"/>
                <a:cs typeface="Arial" pitchFamily="34" charset="0"/>
              </a:rPr>
              <a:t>!</a:t>
            </a:r>
          </a:p>
          <a:p>
            <a:pPr lvl="2" indent="-225425">
              <a:buFont typeface="Arial" pitchFamily="34" charset="0"/>
              <a:buChar char="•"/>
              <a:defRPr/>
            </a:pPr>
            <a:r>
              <a:rPr lang="en-US" sz="1200" dirty="0" smtClean="0">
                <a:latin typeface="Arial" pitchFamily="34" charset="0"/>
                <a:cs typeface="Arial" pitchFamily="34" charset="0"/>
              </a:rPr>
              <a:t>FSC provided survey feedback to Brookfield management and Brookfield COTR.</a:t>
            </a:r>
          </a:p>
          <a:p>
            <a:pPr lvl="1" indent="-225425">
              <a:buFont typeface="Arial" pitchFamily="34" charset="0"/>
              <a:buChar char="•"/>
              <a:defRPr/>
            </a:pPr>
            <a:r>
              <a:rPr lang="en-US" sz="1200" dirty="0">
                <a:latin typeface="Arial" pitchFamily="34" charset="0"/>
                <a:cs typeface="Arial" pitchFamily="34" charset="0"/>
              </a:rPr>
              <a:t>Support received from the Baltimore HRC was great</a:t>
            </a:r>
            <a:r>
              <a:rPr lang="en-US" sz="1200" dirty="0" smtClean="0">
                <a:latin typeface="Arial" pitchFamily="34" charset="0"/>
                <a:cs typeface="Arial" pitchFamily="34" charset="0"/>
              </a:rPr>
              <a:t>.  The </a:t>
            </a:r>
            <a:r>
              <a:rPr lang="en-US" sz="1200" dirty="0">
                <a:latin typeface="Arial" pitchFamily="34" charset="0"/>
                <a:cs typeface="Arial" pitchFamily="34" charset="0"/>
              </a:rPr>
              <a:t>HRC was not as responsive as the HR on the receiving end</a:t>
            </a:r>
            <a:r>
              <a:rPr lang="en-US" sz="1200" dirty="0" smtClean="0">
                <a:latin typeface="Arial" pitchFamily="34" charset="0"/>
                <a:cs typeface="Arial" pitchFamily="34" charset="0"/>
              </a:rPr>
              <a:t>.</a:t>
            </a:r>
          </a:p>
          <a:p>
            <a:pPr lvl="1" indent="-225425">
              <a:buFont typeface="Arial" pitchFamily="34" charset="0"/>
              <a:buChar char="•"/>
              <a:defRPr/>
            </a:pPr>
            <a:r>
              <a:rPr lang="en-US" sz="1200" dirty="0" smtClean="0">
                <a:latin typeface="Arial" pitchFamily="34" charset="0"/>
                <a:cs typeface="Arial" pitchFamily="34" charset="0"/>
              </a:rPr>
              <a:t>Everyone </a:t>
            </a:r>
            <a:r>
              <a:rPr lang="en-US" sz="1200" dirty="0">
                <a:latin typeface="Arial" pitchFamily="34" charset="0"/>
                <a:cs typeface="Arial" pitchFamily="34" charset="0"/>
              </a:rPr>
              <a:t>was very kind, understanding and helpful</a:t>
            </a:r>
            <a:r>
              <a:rPr lang="en-US" sz="1200" dirty="0" smtClean="0">
                <a:latin typeface="Arial" pitchFamily="34" charset="0"/>
                <a:cs typeface="Arial" pitchFamily="34" charset="0"/>
              </a:rPr>
              <a:t>.</a:t>
            </a:r>
          </a:p>
          <a:p>
            <a:pPr lvl="1" indent="-225425">
              <a:buFont typeface="Arial" pitchFamily="34" charset="0"/>
              <a:buChar char="•"/>
              <a:defRPr/>
            </a:pPr>
            <a:r>
              <a:rPr lang="en-US" sz="1200" dirty="0">
                <a:latin typeface="Arial" pitchFamily="34" charset="0"/>
                <a:cs typeface="Arial" pitchFamily="34" charset="0"/>
              </a:rPr>
              <a:t> I received a lump sum for Temporary Housing and that is the only amount I have received. </a:t>
            </a:r>
            <a:endParaRPr lang="en-US" sz="1200" dirty="0" smtClean="0">
              <a:latin typeface="Arial" pitchFamily="34" charset="0"/>
              <a:cs typeface="Arial" pitchFamily="34" charset="0"/>
            </a:endParaRPr>
          </a:p>
          <a:p>
            <a:pPr lvl="2" indent="-225425">
              <a:buFont typeface="Arial" pitchFamily="34" charset="0"/>
              <a:buChar char="•"/>
              <a:defRPr/>
            </a:pPr>
            <a:r>
              <a:rPr lang="en-US" sz="1200" dirty="0" smtClean="0">
                <a:latin typeface="Arial" pitchFamily="34" charset="0"/>
                <a:cs typeface="Arial" pitchFamily="34" charset="0"/>
              </a:rPr>
              <a:t>PCS counselor contacted employee and advised him to submit his enroute and miscellaneous claim.  Suggested using the automated claims process – which he did.  Claim submitted September 11</a:t>
            </a:r>
            <a:r>
              <a:rPr lang="en-US" sz="1200" baseline="30000" dirty="0" smtClean="0">
                <a:latin typeface="Arial" pitchFamily="34" charset="0"/>
                <a:cs typeface="Arial" pitchFamily="34" charset="0"/>
              </a:rPr>
              <a:t>th</a:t>
            </a:r>
            <a:r>
              <a:rPr lang="en-US" sz="1200" dirty="0" smtClean="0">
                <a:latin typeface="Arial" pitchFamily="34" charset="0"/>
                <a:cs typeface="Arial" pitchFamily="34" charset="0"/>
              </a:rPr>
              <a:t> and processed for payment September 13</a:t>
            </a:r>
            <a:r>
              <a:rPr lang="en-US" sz="1200" baseline="30000" dirty="0" smtClean="0">
                <a:latin typeface="Arial" pitchFamily="34" charset="0"/>
                <a:cs typeface="Arial" pitchFamily="34" charset="0"/>
              </a:rPr>
              <a:t>th</a:t>
            </a:r>
            <a:r>
              <a:rPr lang="en-US" sz="1200" dirty="0" smtClean="0">
                <a:latin typeface="Arial" pitchFamily="34" charset="0"/>
                <a:cs typeface="Arial" pitchFamily="34" charset="0"/>
              </a:rPr>
              <a:t>.</a:t>
            </a:r>
          </a:p>
          <a:p>
            <a:pPr marL="858838" lvl="2" indent="-173038">
              <a:buFont typeface="Arial" pitchFamily="34" charset="0"/>
              <a:buChar char="•"/>
              <a:defRPr/>
            </a:pPr>
            <a:r>
              <a:rPr lang="en-US" sz="1200" dirty="0" smtClean="0">
                <a:latin typeface="Arial" pitchFamily="34" charset="0"/>
                <a:cs typeface="Arial" pitchFamily="34" charset="0"/>
              </a:rPr>
              <a:t>FSC’s PCS claims automation initiative was completed June 30, 2012.  PCS claims automation roll out started July 16</a:t>
            </a:r>
            <a:r>
              <a:rPr lang="en-US" sz="1200" baseline="30000" dirty="0" smtClean="0">
                <a:latin typeface="Arial" pitchFamily="34" charset="0"/>
                <a:cs typeface="Arial" pitchFamily="34" charset="0"/>
              </a:rPr>
              <a:t>th.</a:t>
            </a:r>
            <a:r>
              <a:rPr lang="en-US" sz="1200" dirty="0" smtClean="0">
                <a:latin typeface="Arial" pitchFamily="34" charset="0"/>
                <a:cs typeface="Arial" pitchFamily="34" charset="0"/>
              </a:rPr>
              <a:t>.  To date 348 PCS claims have been processed and paid in an average of 3.97 days versus an average </a:t>
            </a:r>
            <a:r>
              <a:rPr lang="en-US" sz="1200" dirty="0">
                <a:latin typeface="Arial" pitchFamily="34" charset="0"/>
                <a:cs typeface="Arial" pitchFamily="34" charset="0"/>
              </a:rPr>
              <a:t>of 13-15 </a:t>
            </a:r>
            <a:r>
              <a:rPr lang="en-US" sz="1200" dirty="0" smtClean="0">
                <a:latin typeface="Arial" pitchFamily="34" charset="0"/>
                <a:cs typeface="Arial" pitchFamily="34" charset="0"/>
              </a:rPr>
              <a:t>days under the manual process.</a:t>
            </a:r>
            <a:endParaRPr lang="en-US" sz="1200" dirty="0" smtClean="0">
              <a:solidFill>
                <a:prstClr val="black"/>
              </a:solidFill>
              <a:latin typeface="Arial" pitchFamily="34" charset="0"/>
              <a:cs typeface="Arial" pitchFamily="34" charset="0"/>
            </a:endParaRPr>
          </a:p>
          <a:p>
            <a:pPr marL="401638" lvl="1" indent="-173038">
              <a:defRPr/>
            </a:pPr>
            <a:r>
              <a:rPr lang="en-US" sz="1200" dirty="0" smtClean="0">
                <a:solidFill>
                  <a:prstClr val="black"/>
                </a:solidFill>
                <a:latin typeface="Arial" pitchFamily="34" charset="0"/>
                <a:cs typeface="Arial" pitchFamily="34" charset="0"/>
              </a:rPr>
              <a:t>Next Step:  Continue to review survey data and monitor the new claims automation process to provide timely training and process updates.</a:t>
            </a:r>
            <a:endParaRPr lang="en-US" sz="1200" dirty="0">
              <a:latin typeface="Arial" pitchFamily="34" charset="0"/>
              <a:cs typeface="Arial" pitchFamily="34" charset="0"/>
            </a:endParaRPr>
          </a:p>
        </p:txBody>
      </p:sp>
    </p:spTree>
    <p:extLst>
      <p:ext uri="{BB962C8B-B14F-4D97-AF65-F5344CB8AC3E}">
        <p14:creationId xmlns="" xmlns:p14="http://schemas.microsoft.com/office/powerpoint/2010/main" val="30330783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2"/>
          <p:cNvGraphicFramePr>
            <a:graphicFrameLocks noGrp="1" noChangeAspect="1"/>
          </p:cNvGraphicFramePr>
          <p:nvPr>
            <p:ph sz="half" idx="4294967295"/>
            <p:extLst>
              <p:ext uri="{D42A27DB-BD31-4B8C-83A1-F6EECF244321}">
                <p14:modId xmlns="" xmlns:p14="http://schemas.microsoft.com/office/powerpoint/2010/main" val="1008687117"/>
              </p:ext>
            </p:extLst>
          </p:nvPr>
        </p:nvGraphicFramePr>
        <p:xfrm>
          <a:off x="3351213" y="2252663"/>
          <a:ext cx="5480050" cy="4068762"/>
        </p:xfrm>
        <a:graphic>
          <a:graphicData uri="http://schemas.openxmlformats.org/presentationml/2006/ole">
            <p:oleObj spid="_x0000_s102414" name="Worksheet" r:id="rId4" imgW="7877140" imgH="5848299" progId="Excel.Sheet.8">
              <p:embed/>
            </p:oleObj>
          </a:graphicData>
        </a:graphic>
      </p:graphicFrame>
      <p:graphicFrame>
        <p:nvGraphicFramePr>
          <p:cNvPr id="93187" name="Group 3"/>
          <p:cNvGraphicFramePr>
            <a:graphicFrameLocks noGrp="1"/>
          </p:cNvGraphicFramePr>
          <p:nvPr>
            <p:extLst>
              <p:ext uri="{D42A27DB-BD31-4B8C-83A1-F6EECF244321}">
                <p14:modId xmlns="" xmlns:p14="http://schemas.microsoft.com/office/powerpoint/2010/main" val="1030795171"/>
              </p:ext>
            </p:extLst>
          </p:nvPr>
        </p:nvGraphicFramePr>
        <p:xfrm>
          <a:off x="6851650" y="0"/>
          <a:ext cx="2292350" cy="991553"/>
        </p:xfrm>
        <a:graphic>
          <a:graphicData uri="http://schemas.openxmlformats.org/drawingml/2006/table">
            <a:tbl>
              <a:tblPr/>
              <a:tblGrid>
                <a:gridCol w="1544638"/>
                <a:gridCol w="747712"/>
              </a:tblGrid>
              <a:tr h="228600">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Status</a:t>
                      </a:r>
                    </a:p>
                  </a:txBody>
                  <a:tcPr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B8D2EA"/>
                    </a:solidFill>
                  </a:tcPr>
                </a:tc>
                <a:tc hMerge="1">
                  <a:txBody>
                    <a:bodyPr/>
                    <a:lstStyle/>
                    <a:p>
                      <a:endParaRPr lang="en-US"/>
                    </a:p>
                  </a:txBody>
                  <a:tcPr/>
                </a:tc>
              </a:tr>
              <a:tr h="24765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Current Quarter (Q3)</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1" i="0" u="none" strike="noStrike" cap="none" normalizeH="0" baseline="0" dirty="0" smtClean="0">
                        <a:ln>
                          <a:noFill/>
                        </a:ln>
                        <a:solidFill>
                          <a:srgbClr val="00B050"/>
                        </a:solidFill>
                        <a:effectLst/>
                        <a:latin typeface="Arial"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2413">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Next Quarter (Q4)</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1" i="0" u="none" strike="noStrike" cap="none" normalizeH="0" baseline="0" dirty="0" smtClean="0">
                        <a:ln>
                          <a:noFill/>
                        </a:ln>
                        <a:solidFill>
                          <a:srgbClr val="00B050"/>
                        </a:solidFill>
                        <a:effectLst/>
                        <a:latin typeface="Arial"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765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Projected Green Date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  N/A  </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sp>
        <p:nvSpPr>
          <p:cNvPr id="5136" name="Rectangle 26"/>
          <p:cNvSpPr>
            <a:spLocks noChangeArrowheads="1"/>
          </p:cNvSpPr>
          <p:nvPr/>
        </p:nvSpPr>
        <p:spPr bwMode="auto">
          <a:xfrm>
            <a:off x="3657600" y="1143000"/>
            <a:ext cx="5248275" cy="1244600"/>
          </a:xfrm>
          <a:prstGeom prst="rect">
            <a:avLst/>
          </a:prstGeom>
          <a:noFill/>
          <a:ln w="9525">
            <a:noFill/>
            <a:miter lim="800000"/>
            <a:headEnd/>
            <a:tailEnd/>
          </a:ln>
        </p:spPr>
        <p:txBody>
          <a:bodyPr anchor="ctr"/>
          <a:lstStyle/>
          <a:p>
            <a:pPr algn="ctr"/>
            <a:r>
              <a:rPr lang="en-US" sz="1600" dirty="0">
                <a:solidFill>
                  <a:srgbClr val="0000FF"/>
                </a:solidFill>
                <a:latin typeface="Arial Rounded MT Bold" pitchFamily="34" charset="0"/>
              </a:rPr>
              <a:t>Key Trend Line: </a:t>
            </a:r>
            <a:br>
              <a:rPr lang="en-US" sz="1600" dirty="0">
                <a:solidFill>
                  <a:srgbClr val="0000FF"/>
                </a:solidFill>
                <a:latin typeface="Arial Rounded MT Bold" pitchFamily="34" charset="0"/>
              </a:rPr>
            </a:br>
            <a:r>
              <a:rPr lang="en-US" sz="1600" dirty="0">
                <a:solidFill>
                  <a:srgbClr val="800000"/>
                </a:solidFill>
                <a:latin typeface="Arial Rounded MT Bold" pitchFamily="34" charset="0"/>
              </a:rPr>
              <a:t>Permanent Change of Station (PCS) Client Satisfaction – </a:t>
            </a:r>
            <a:r>
              <a:rPr lang="en-US" sz="1600" i="1" dirty="0">
                <a:solidFill>
                  <a:srgbClr val="800000"/>
                </a:solidFill>
                <a:latin typeface="Arial Rounded MT Bold" pitchFamily="34" charset="0"/>
              </a:rPr>
              <a:t>Post-Move</a:t>
            </a:r>
          </a:p>
          <a:p>
            <a:pPr algn="ctr"/>
            <a:r>
              <a:rPr lang="en-US" sz="1600" b="1" dirty="0"/>
              <a:t>Client Satisfaction </a:t>
            </a:r>
            <a:r>
              <a:rPr lang="en-US" sz="1600" b="1" dirty="0" smtClean="0"/>
              <a:t>Meets </a:t>
            </a:r>
            <a:r>
              <a:rPr lang="en-US" sz="1600" b="1" dirty="0"/>
              <a:t>Goal </a:t>
            </a:r>
            <a:r>
              <a:rPr lang="en-US" sz="1600" dirty="0">
                <a:solidFill>
                  <a:srgbClr val="0000FF"/>
                </a:solidFill>
                <a:latin typeface="Arial Rounded MT Bold" pitchFamily="34" charset="0"/>
              </a:rPr>
              <a:t/>
            </a:r>
            <a:br>
              <a:rPr lang="en-US" sz="1600" dirty="0">
                <a:solidFill>
                  <a:srgbClr val="0000FF"/>
                </a:solidFill>
                <a:latin typeface="Arial Rounded MT Bold" pitchFamily="34" charset="0"/>
              </a:rPr>
            </a:br>
            <a:r>
              <a:rPr lang="en-US" sz="1600" dirty="0">
                <a:latin typeface="Arial Rounded MT Bold" pitchFamily="34" charset="0"/>
              </a:rPr>
              <a:t> </a:t>
            </a:r>
            <a:endParaRPr lang="en-US" sz="1400" dirty="0">
              <a:latin typeface="Arial Rounded MT Bold" pitchFamily="34" charset="0"/>
            </a:endParaRPr>
          </a:p>
        </p:txBody>
      </p:sp>
      <p:graphicFrame>
        <p:nvGraphicFramePr>
          <p:cNvPr id="93211" name="Group 27"/>
          <p:cNvGraphicFramePr>
            <a:graphicFrameLocks noGrp="1"/>
          </p:cNvGraphicFramePr>
          <p:nvPr/>
        </p:nvGraphicFramePr>
        <p:xfrm>
          <a:off x="0" y="0"/>
          <a:ext cx="2971800" cy="1950721"/>
        </p:xfrm>
        <a:graphic>
          <a:graphicData uri="http://schemas.openxmlformats.org/drawingml/2006/table">
            <a:tbl>
              <a:tblPr/>
              <a:tblGrid>
                <a:gridCol w="914400"/>
                <a:gridCol w="2057400"/>
              </a:tblGrid>
              <a:tr h="227013">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Linkages</a:t>
                      </a:r>
                    </a:p>
                  </a:txBody>
                  <a:tcPr horzOverflow="overflow">
                    <a:lnL cap="flat">
                      <a:noFill/>
                    </a:lnL>
                    <a:lnR cap="flat">
                      <a:noFill/>
                    </a:lnR>
                    <a:lnT cap="flat">
                      <a:noFill/>
                    </a:lnT>
                    <a:lnB>
                      <a:noFill/>
                    </a:lnB>
                    <a:lnTlToBr>
                      <a:noFill/>
                    </a:lnTlToBr>
                    <a:lnBlToTr>
                      <a:noFill/>
                    </a:lnBlToTr>
                    <a:solidFill>
                      <a:srgbClr val="EDD4A1"/>
                    </a:solidFill>
                  </a:tcPr>
                </a:tc>
                <a:tc hMerge="1">
                  <a:txBody>
                    <a:bodyPr/>
                    <a:lstStyle/>
                    <a:p>
                      <a:endParaRPr lang="en-US"/>
                    </a:p>
                  </a:txBody>
                  <a:tcPr/>
                </a:tc>
              </a:tr>
              <a:tr h="236538">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Org</a:t>
                      </a:r>
                    </a:p>
                  </a:txBody>
                  <a:tcPr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OM</a:t>
                      </a:r>
                    </a:p>
                  </a:txBody>
                  <a:tcPr horzOverflow="overflow">
                    <a:lnL w="12700" cap="flat" cmpd="sng" algn="ctr">
                      <a:solidFill>
                        <a:schemeClr val="tx1"/>
                      </a:solidFill>
                      <a:prstDash val="solid"/>
                      <a:round/>
                      <a:headEnd type="none" w="med" len="med"/>
                      <a:tailEnd type="none" w="med" len="med"/>
                    </a:lnL>
                    <a:lnR cap="flat">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r>
              <a:tr h="265113">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B/Line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Enabling</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Metric Type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Performance</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082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B/Scorecard</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Client Satisfaction</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812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Strategic Goal</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4</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6538">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Corp Outcome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900" b="0" i="0" u="none" strike="noStrike" cap="none" normalizeH="0" baseline="0" dirty="0" smtClean="0">
                          <a:ln>
                            <a:noFill/>
                          </a:ln>
                          <a:solidFill>
                            <a:schemeClr val="tx1"/>
                          </a:solidFill>
                          <a:effectLst/>
                          <a:latin typeface="Arial" charset="0"/>
                        </a:rPr>
                        <a:t>Increase Client Satisfaction (as a result of Increased Employee Satisfaction)</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solidFill>
                      <a:srgbClr val="FFFF00"/>
                    </a:solidFill>
                  </a:tcPr>
                </a:tc>
              </a:tr>
            </a:tbl>
          </a:graphicData>
        </a:graphic>
      </p:graphicFrame>
      <p:sp>
        <p:nvSpPr>
          <p:cNvPr id="5157" name="TextBox 16"/>
          <p:cNvSpPr txBox="1">
            <a:spLocks noChangeArrowheads="1"/>
          </p:cNvSpPr>
          <p:nvPr/>
        </p:nvSpPr>
        <p:spPr bwMode="auto">
          <a:xfrm>
            <a:off x="5562600" y="838200"/>
            <a:ext cx="914400" cy="369888"/>
          </a:xfrm>
          <a:prstGeom prst="rect">
            <a:avLst/>
          </a:prstGeom>
          <a:noFill/>
          <a:ln w="9525">
            <a:noFill/>
            <a:miter lim="800000"/>
            <a:headEnd/>
            <a:tailEnd/>
          </a:ln>
        </p:spPr>
        <p:txBody>
          <a:bodyPr>
            <a:spAutoFit/>
          </a:bodyPr>
          <a:lstStyle/>
          <a:p>
            <a:endParaRPr lang="en-US" dirty="0"/>
          </a:p>
        </p:txBody>
      </p:sp>
      <p:sp>
        <p:nvSpPr>
          <p:cNvPr id="12" name="TextBox 11"/>
          <p:cNvSpPr txBox="1"/>
          <p:nvPr/>
        </p:nvSpPr>
        <p:spPr>
          <a:xfrm>
            <a:off x="228600" y="2438400"/>
            <a:ext cx="2582863" cy="1200150"/>
          </a:xfrm>
          <a:prstGeom prst="rect">
            <a:avLst/>
          </a:prstGeom>
          <a:solidFill>
            <a:schemeClr val="bg2">
              <a:lumMod val="20000"/>
              <a:lumOff val="80000"/>
            </a:schemeClr>
          </a:solidFill>
        </p:spPr>
        <p:txBody>
          <a:bodyPr>
            <a:spAutoFit/>
          </a:bodyPr>
          <a:lstStyle/>
          <a:p>
            <a:pPr>
              <a:defRPr/>
            </a:pPr>
            <a:r>
              <a:rPr lang="en-US" sz="1200" dirty="0"/>
              <a:t>FSC also tracks satisfaction with </a:t>
            </a:r>
            <a:r>
              <a:rPr lang="en-US" sz="1200" u="sng" dirty="0"/>
              <a:t>post-move</a:t>
            </a:r>
            <a:r>
              <a:rPr lang="en-US" sz="1200" dirty="0"/>
              <a:t> activities that include employee’s physical move, HHG shipment and delivery,  travel claims processing, and home sale services.</a:t>
            </a:r>
          </a:p>
        </p:txBody>
      </p:sp>
      <p:sp>
        <p:nvSpPr>
          <p:cNvPr id="5159" name="Slide Number Placeholder 16"/>
          <p:cNvSpPr>
            <a:spLocks noGrp="1"/>
          </p:cNvSpPr>
          <p:nvPr>
            <p:ph type="sldNum" sz="quarter" idx="11"/>
          </p:nvPr>
        </p:nvSpPr>
        <p:spPr>
          <a:xfrm>
            <a:off x="6553200" y="6356350"/>
            <a:ext cx="2133600" cy="365125"/>
          </a:xfrm>
          <a:noFill/>
        </p:spPr>
        <p:txBody>
          <a:bodyPr/>
          <a:lstStyle/>
          <a:p>
            <a:fld id="{B0756BEF-E3B6-4B30-98B6-41D82E769A60}" type="slidenum">
              <a:rPr lang="en-US" smtClean="0">
                <a:latin typeface="Arial" pitchFamily="34" charset="0"/>
              </a:rPr>
              <a:pPr/>
              <a:t>8</a:t>
            </a:fld>
            <a:endParaRPr lang="en-US" dirty="0" smtClean="0">
              <a:latin typeface="Arial" pitchFamily="34" charset="0"/>
            </a:endParaRPr>
          </a:p>
        </p:txBody>
      </p:sp>
      <p:sp>
        <p:nvSpPr>
          <p:cNvPr id="5160" name="TextBox 14"/>
          <p:cNvSpPr txBox="1">
            <a:spLocks noChangeArrowheads="1"/>
          </p:cNvSpPr>
          <p:nvPr/>
        </p:nvSpPr>
        <p:spPr bwMode="auto">
          <a:xfrm>
            <a:off x="4800600" y="2133600"/>
            <a:ext cx="3994150" cy="230832"/>
          </a:xfrm>
          <a:prstGeom prst="rect">
            <a:avLst/>
          </a:prstGeom>
          <a:noFill/>
          <a:ln w="9525">
            <a:noFill/>
            <a:miter lim="800000"/>
            <a:headEnd/>
            <a:tailEnd/>
          </a:ln>
        </p:spPr>
        <p:txBody>
          <a:bodyPr>
            <a:spAutoFit/>
          </a:bodyPr>
          <a:lstStyle/>
          <a:p>
            <a:r>
              <a:rPr lang="en-US" sz="900" dirty="0"/>
              <a:t>Scale of 1-5, With 5=Very Satisfied and 1=Very Dissatisfied</a:t>
            </a:r>
          </a:p>
        </p:txBody>
      </p:sp>
      <p:sp>
        <p:nvSpPr>
          <p:cNvPr id="5161" name="Date Placeholder 1"/>
          <p:cNvSpPr>
            <a:spLocks noGrp="1"/>
          </p:cNvSpPr>
          <p:nvPr>
            <p:ph type="dt" sz="quarter" idx="10"/>
          </p:nvPr>
        </p:nvSpPr>
        <p:spPr>
          <a:xfrm>
            <a:off x="457200" y="6400801"/>
            <a:ext cx="2938463" cy="380999"/>
          </a:xfrm>
          <a:noFill/>
        </p:spPr>
        <p:txBody>
          <a:bodyPr/>
          <a:lstStyle/>
          <a:p>
            <a:r>
              <a:rPr lang="en-US" dirty="0" smtClean="0">
                <a:latin typeface="Arial" pitchFamily="34" charset="0"/>
              </a:rPr>
              <a:t>SG4 - Data Through September 2012</a:t>
            </a:r>
          </a:p>
        </p:txBody>
      </p:sp>
      <p:sp>
        <p:nvSpPr>
          <p:cNvPr id="5162" name="Oval 28"/>
          <p:cNvSpPr>
            <a:spLocks noChangeArrowheads="1"/>
          </p:cNvSpPr>
          <p:nvPr/>
        </p:nvSpPr>
        <p:spPr bwMode="auto">
          <a:xfrm>
            <a:off x="8610600" y="304800"/>
            <a:ext cx="152400" cy="152400"/>
          </a:xfrm>
          <a:prstGeom prst="ellipse">
            <a:avLst/>
          </a:prstGeom>
          <a:solidFill>
            <a:srgbClr val="00B050"/>
          </a:solidFill>
          <a:ln w="9525">
            <a:solidFill>
              <a:schemeClr val="tx1"/>
            </a:solidFill>
            <a:round/>
            <a:headEnd/>
            <a:tailEnd/>
          </a:ln>
        </p:spPr>
        <p:txBody>
          <a:bodyPr wrap="none" anchor="ctr"/>
          <a:lstStyle/>
          <a:p>
            <a:pPr algn="ctr"/>
            <a:r>
              <a:rPr lang="en-US" sz="1000" dirty="0"/>
              <a:t>G</a:t>
            </a:r>
          </a:p>
        </p:txBody>
      </p:sp>
      <p:sp>
        <p:nvSpPr>
          <p:cNvPr id="5163" name="Oval 28"/>
          <p:cNvSpPr>
            <a:spLocks noChangeArrowheads="1"/>
          </p:cNvSpPr>
          <p:nvPr/>
        </p:nvSpPr>
        <p:spPr bwMode="auto">
          <a:xfrm>
            <a:off x="8610600" y="533400"/>
            <a:ext cx="152400" cy="152400"/>
          </a:xfrm>
          <a:prstGeom prst="ellipse">
            <a:avLst/>
          </a:prstGeom>
          <a:solidFill>
            <a:srgbClr val="00B050"/>
          </a:solidFill>
          <a:ln w="9525">
            <a:solidFill>
              <a:schemeClr val="tx1"/>
            </a:solidFill>
            <a:round/>
            <a:headEnd/>
            <a:tailEnd/>
          </a:ln>
        </p:spPr>
        <p:txBody>
          <a:bodyPr wrap="none" anchor="ctr"/>
          <a:lstStyle/>
          <a:p>
            <a:pPr algn="ctr"/>
            <a:r>
              <a:rPr lang="en-US" sz="1000" dirty="0"/>
              <a:t>G</a:t>
            </a:r>
          </a:p>
        </p:txBody>
      </p:sp>
      <p:graphicFrame>
        <p:nvGraphicFramePr>
          <p:cNvPr id="15" name="Table 14"/>
          <p:cNvGraphicFramePr>
            <a:graphicFrameLocks noGrp="1"/>
          </p:cNvGraphicFramePr>
          <p:nvPr>
            <p:extLst>
              <p:ext uri="{D42A27DB-BD31-4B8C-83A1-F6EECF244321}">
                <p14:modId xmlns="" xmlns:p14="http://schemas.microsoft.com/office/powerpoint/2010/main" val="281126128"/>
              </p:ext>
            </p:extLst>
          </p:nvPr>
        </p:nvGraphicFramePr>
        <p:xfrm>
          <a:off x="304800" y="3886200"/>
          <a:ext cx="2871216" cy="2133600"/>
        </p:xfrm>
        <a:graphic>
          <a:graphicData uri="http://schemas.openxmlformats.org/drawingml/2006/table">
            <a:tbl>
              <a:tblPr/>
              <a:tblGrid>
                <a:gridCol w="613847"/>
                <a:gridCol w="762357"/>
                <a:gridCol w="861365"/>
                <a:gridCol w="633647"/>
              </a:tblGrid>
              <a:tr h="213360">
                <a:tc gridSpan="4">
                  <a:txBody>
                    <a:bodyPr/>
                    <a:lstStyle/>
                    <a:p>
                      <a:pPr algn="ctr" fontAlgn="b"/>
                      <a:r>
                        <a:rPr lang="en-US" sz="1100" b="1" i="0" u="none" strike="noStrike" dirty="0">
                          <a:solidFill>
                            <a:srgbClr val="000000"/>
                          </a:solidFill>
                          <a:latin typeface="Calibri"/>
                        </a:rPr>
                        <a:t>PCS </a:t>
                      </a:r>
                      <a:r>
                        <a:rPr lang="en-US" sz="1100" b="1" i="0" u="none" strike="noStrike" dirty="0" smtClean="0">
                          <a:solidFill>
                            <a:srgbClr val="000000"/>
                          </a:solidFill>
                          <a:latin typeface="Calibri"/>
                        </a:rPr>
                        <a:t>Post-Move </a:t>
                      </a:r>
                      <a:r>
                        <a:rPr lang="en-US" sz="1100" b="1" i="0" u="none" strike="noStrike" dirty="0">
                          <a:solidFill>
                            <a:srgbClr val="000000"/>
                          </a:solidFill>
                          <a:latin typeface="Calibri"/>
                        </a:rPr>
                        <a:t>Survey Response Recap</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FFFF00"/>
                    </a:solidFill>
                  </a:tcPr>
                </a:tc>
                <a:tc hMerge="1">
                  <a:txBody>
                    <a:bodyPr/>
                    <a:lstStyle/>
                    <a:p>
                      <a:endParaRPr lang="en-US"/>
                    </a:p>
                  </a:txBody>
                  <a:tcPr/>
                </a:tc>
                <a:tc hMerge="1">
                  <a:txBody>
                    <a:bodyPr/>
                    <a:lstStyle/>
                    <a:p>
                      <a:endParaRPr lang="en-US"/>
                    </a:p>
                  </a:txBody>
                  <a:tcPr/>
                </a:tc>
                <a:tc hMerge="1">
                  <a:txBody>
                    <a:bodyPr/>
                    <a:lstStyle/>
                    <a:p>
                      <a:endParaRPr lang="en-US"/>
                    </a:p>
                  </a:txBody>
                  <a:tcPr/>
                </a:tc>
              </a:tr>
              <a:tr h="213360">
                <a:tc>
                  <a:txBody>
                    <a:bodyPr/>
                    <a:lstStyle/>
                    <a:p>
                      <a:pPr algn="ctr" fontAlgn="b"/>
                      <a:r>
                        <a:rPr lang="en-US" sz="1100" b="1" i="0" u="none" strike="noStrike" dirty="0">
                          <a:solidFill>
                            <a:srgbClr val="000000"/>
                          </a:solidFill>
                          <a:latin typeface="Calibri"/>
                        </a:rPr>
                        <a:t>Qtr/Yr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1100" b="1" i="0" u="none" strike="noStrike" dirty="0">
                          <a:solidFill>
                            <a:srgbClr val="000000"/>
                          </a:solidFill>
                          <a:latin typeface="Calibri"/>
                        </a:rPr>
                        <a:t># Surveyed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1100" b="1" i="0" u="none" strike="noStrike" dirty="0">
                          <a:solidFill>
                            <a:srgbClr val="000000"/>
                          </a:solidFill>
                          <a:latin typeface="Calibri"/>
                        </a:rPr>
                        <a:t># Responded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1100" b="1" i="0" u="none" strike="noStrike" dirty="0">
                          <a:solidFill>
                            <a:srgbClr val="000000"/>
                          </a:solidFill>
                          <a:latin typeface="Calibri"/>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213360">
                <a:tc>
                  <a:txBody>
                    <a:bodyPr/>
                    <a:lstStyle/>
                    <a:p>
                      <a:pPr algn="l" fontAlgn="b"/>
                      <a:r>
                        <a:rPr lang="en-US" sz="1100" b="0" i="0" u="none" strike="noStrike" dirty="0" smtClean="0">
                          <a:solidFill>
                            <a:srgbClr val="000000"/>
                          </a:solidFill>
                          <a:latin typeface="+mn-lt"/>
                        </a:rPr>
                        <a:t>Q1/2011</a:t>
                      </a:r>
                      <a:endParaRPr lang="en-US" sz="1100" b="0" i="0" u="none" strike="noStrike" dirty="0">
                        <a:solidFill>
                          <a:srgbClr val="000000"/>
                        </a:solidFill>
                        <a:latin typeface="+mn-lt"/>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363</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89</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25%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213360">
                <a:tc>
                  <a:txBody>
                    <a:bodyPr/>
                    <a:lstStyle/>
                    <a:p>
                      <a:pPr algn="l" fontAlgn="b"/>
                      <a:r>
                        <a:rPr lang="en-US" sz="1100" b="0" i="0" u="none" strike="noStrike" dirty="0" smtClean="0">
                          <a:solidFill>
                            <a:srgbClr val="000000"/>
                          </a:solidFill>
                          <a:latin typeface="Calibri"/>
                        </a:rPr>
                        <a:t>Q2/2011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203</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59</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29%</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213360">
                <a:tc>
                  <a:txBody>
                    <a:bodyPr/>
                    <a:lstStyle/>
                    <a:p>
                      <a:pPr algn="l" fontAlgn="b"/>
                      <a:r>
                        <a:rPr lang="en-US" sz="1100" b="0" i="0" u="none" strike="noStrike" dirty="0" smtClean="0">
                          <a:solidFill>
                            <a:srgbClr val="000000"/>
                          </a:solidFill>
                          <a:latin typeface="Calibri"/>
                        </a:rPr>
                        <a:t>Q3/2011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251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89</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35%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213360">
                <a:tc>
                  <a:txBody>
                    <a:bodyPr/>
                    <a:lstStyle/>
                    <a:p>
                      <a:pPr algn="l" fontAlgn="b"/>
                      <a:r>
                        <a:rPr lang="en-US" sz="1100" b="0" i="0" u="none" strike="noStrike" dirty="0" smtClean="0">
                          <a:solidFill>
                            <a:srgbClr val="000000"/>
                          </a:solidFill>
                          <a:latin typeface="Calibri"/>
                        </a:rPr>
                        <a:t>Q4/2011</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280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62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22%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213360">
                <a:tc>
                  <a:txBody>
                    <a:bodyPr/>
                    <a:lstStyle/>
                    <a:p>
                      <a:pPr algn="l" fontAlgn="b"/>
                      <a:r>
                        <a:rPr lang="en-US" sz="1100" b="0" i="0" u="none" strike="noStrike" dirty="0" smtClean="0">
                          <a:solidFill>
                            <a:srgbClr val="000000"/>
                          </a:solidFill>
                          <a:latin typeface="Calibri"/>
                        </a:rPr>
                        <a:t>Q1/2012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198</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40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20%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213360">
                <a:tc>
                  <a:txBody>
                    <a:bodyPr/>
                    <a:lstStyle/>
                    <a:p>
                      <a:pPr algn="l" fontAlgn="b"/>
                      <a:r>
                        <a:rPr lang="en-US" sz="1100" b="0" i="0" u="none" strike="noStrike" dirty="0" smtClean="0">
                          <a:solidFill>
                            <a:srgbClr val="000000"/>
                          </a:solidFill>
                          <a:latin typeface="Calibri"/>
                        </a:rPr>
                        <a:t>Q2/2012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316</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103</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33%</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213360">
                <a:tc>
                  <a:txBody>
                    <a:bodyPr/>
                    <a:lstStyle/>
                    <a:p>
                      <a:pPr algn="l" fontAlgn="b"/>
                      <a:r>
                        <a:rPr lang="en-US" sz="1100" b="0" i="0" u="none" strike="noStrike" dirty="0" smtClean="0">
                          <a:solidFill>
                            <a:srgbClr val="000000"/>
                          </a:solidFill>
                          <a:latin typeface="Calibri"/>
                        </a:rPr>
                        <a:t>Q3/2012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175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66</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38%</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r h="213360">
                <a:tc>
                  <a:txBody>
                    <a:bodyPr/>
                    <a:lstStyle/>
                    <a:p>
                      <a:pPr algn="l" fontAlgn="b"/>
                      <a:r>
                        <a:rPr lang="en-US" sz="1100" b="0" i="0" u="none" strike="noStrike" dirty="0" smtClean="0">
                          <a:solidFill>
                            <a:srgbClr val="000000"/>
                          </a:solidFill>
                          <a:latin typeface="Calibri"/>
                        </a:rPr>
                        <a:t>Q4/2012</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215</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64</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en-US" sz="1100" b="0" i="0" u="none" strike="noStrike" dirty="0" smtClean="0">
                          <a:solidFill>
                            <a:srgbClr val="000000"/>
                          </a:solidFill>
                          <a:latin typeface="Calibri"/>
                        </a:rPr>
                        <a:t>30%</a:t>
                      </a:r>
                      <a:endParaRPr lang="en-US" sz="11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bl>
          </a:graphicData>
        </a:graphic>
      </p:graphicFrame>
    </p:spTree>
    <p:extLst>
      <p:ext uri="{BB962C8B-B14F-4D97-AF65-F5344CB8AC3E}">
        <p14:creationId xmlns="" xmlns:p14="http://schemas.microsoft.com/office/powerpoint/2010/main" val="37303604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762000"/>
            <a:ext cx="7962900" cy="3317831"/>
          </a:xfrm>
          <a:prstGeom prst="rect">
            <a:avLst/>
          </a:prstGeom>
          <a:ln>
            <a:noFill/>
          </a:ln>
        </p:spPr>
        <p:txBody>
          <a:bodyPr>
            <a:spAutoFit/>
          </a:bodyPr>
          <a:lstStyle/>
          <a:p>
            <a:pPr>
              <a:defRPr/>
            </a:pPr>
            <a:r>
              <a:rPr lang="en-US" sz="1400" b="1" i="1" dirty="0" smtClean="0">
                <a:latin typeface="Arial Narrow" pitchFamily="34" charset="0"/>
                <a:cs typeface="Arial" pitchFamily="34" charset="0"/>
              </a:rPr>
              <a:t>Note:  </a:t>
            </a:r>
            <a:r>
              <a:rPr lang="en-US" sz="1400" i="1" dirty="0" smtClean="0">
                <a:latin typeface="Arial Narrow" pitchFamily="34" charset="0"/>
                <a:cs typeface="Arial" pitchFamily="34" charset="0"/>
              </a:rPr>
              <a:t>The FY 2012  </a:t>
            </a:r>
            <a:r>
              <a:rPr lang="en-US" sz="1400" b="1" i="1" u="sng" dirty="0" smtClean="0">
                <a:latin typeface="Arial Narrow" pitchFamily="34" charset="0"/>
                <a:cs typeface="Arial" pitchFamily="34" charset="0"/>
              </a:rPr>
              <a:t>commercial vendor payment  timeliness goal of 99.7 percent </a:t>
            </a:r>
            <a:r>
              <a:rPr lang="en-US" sz="1400" i="1" dirty="0" smtClean="0">
                <a:latin typeface="Arial Narrow" pitchFamily="34" charset="0"/>
                <a:cs typeface="Arial" pitchFamily="34" charset="0"/>
              </a:rPr>
              <a:t>for commercial payments subject to the Prompt Pay Act (PPA) </a:t>
            </a:r>
            <a:r>
              <a:rPr lang="en-US" sz="1400" b="1" i="1" u="sng" dirty="0" smtClean="0">
                <a:latin typeface="Arial Narrow" pitchFamily="34" charset="0"/>
                <a:cs typeface="Arial" pitchFamily="34" charset="0"/>
              </a:rPr>
              <a:t>reflects a 0.1 percent improvement </a:t>
            </a:r>
            <a:r>
              <a:rPr lang="en-US" sz="1400" i="1" dirty="0" smtClean="0">
                <a:latin typeface="Arial Narrow" pitchFamily="34" charset="0"/>
                <a:cs typeface="Arial" pitchFamily="34" charset="0"/>
              </a:rPr>
              <a:t>over FY 2011 performance levels</a:t>
            </a:r>
          </a:p>
          <a:p>
            <a:pPr eaLnBrk="1" hangingPunct="1">
              <a:defRPr/>
            </a:pPr>
            <a:endParaRPr lang="en-US" sz="1400" i="1" dirty="0" smtClean="0">
              <a:latin typeface="Arial Narrow" pitchFamily="34" charset="0"/>
              <a:cs typeface="Arial" pitchFamily="34" charset="0"/>
            </a:endParaRPr>
          </a:p>
          <a:p>
            <a:pPr eaLnBrk="1" hangingPunct="1">
              <a:defRPr/>
            </a:pPr>
            <a:endParaRPr lang="en-US" sz="1400" i="1" dirty="0" smtClean="0">
              <a:latin typeface="Arial Narrow" pitchFamily="34" charset="0"/>
              <a:cs typeface="Arial" pitchFamily="34" charset="0"/>
            </a:endParaRPr>
          </a:p>
          <a:p>
            <a:pPr marL="456379" indent="-456379" eaLnBrk="1" hangingPunct="1">
              <a:lnSpc>
                <a:spcPct val="80000"/>
              </a:lnSpc>
              <a:defRPr/>
            </a:pPr>
            <a:r>
              <a:rPr lang="en-US" sz="1400" b="1" dirty="0" smtClean="0">
                <a:latin typeface="Arial Narrow" pitchFamily="34" charset="0"/>
              </a:rPr>
              <a:t>September </a:t>
            </a:r>
            <a:r>
              <a:rPr lang="en-US" sz="1400" b="1" dirty="0" smtClean="0">
                <a:latin typeface="Arial Narrow" pitchFamily="34" charset="0"/>
                <a:cs typeface="Arial" pitchFamily="34" charset="0"/>
              </a:rPr>
              <a:t>Highlights</a:t>
            </a:r>
            <a:r>
              <a:rPr lang="en-US" sz="1400" dirty="0">
                <a:latin typeface="Arial Narrow" pitchFamily="34" charset="0"/>
                <a:cs typeface="Arial" pitchFamily="34" charset="0"/>
              </a:rPr>
              <a:t>:</a:t>
            </a:r>
          </a:p>
          <a:p>
            <a:pPr>
              <a:lnSpc>
                <a:spcPct val="80000"/>
              </a:lnSpc>
              <a:defRPr/>
            </a:pPr>
            <a:endParaRPr lang="en-US" sz="1400" dirty="0">
              <a:latin typeface="Arial Narrow" pitchFamily="34" charset="0"/>
              <a:cs typeface="Arial" pitchFamily="34" charset="0"/>
            </a:endParaRPr>
          </a:p>
          <a:p>
            <a:pPr marL="182804" indent="-182804" eaLnBrk="1" hangingPunct="1">
              <a:lnSpc>
                <a:spcPct val="80000"/>
              </a:lnSpc>
              <a:buFontTx/>
              <a:buChar char="•"/>
              <a:defRPr/>
            </a:pPr>
            <a:r>
              <a:rPr lang="en-US" sz="1400" dirty="0">
                <a:latin typeface="Arial Narrow" pitchFamily="34" charset="0"/>
                <a:cs typeface="Arial" charset="0"/>
              </a:rPr>
              <a:t>VA </a:t>
            </a:r>
            <a:r>
              <a:rPr lang="en-US" sz="1400" dirty="0" smtClean="0">
                <a:latin typeface="Arial Narrow" pitchFamily="34" charset="0"/>
                <a:cs typeface="Arial" charset="0"/>
              </a:rPr>
              <a:t>bettered the goal paying 99.9 percent of commercial vendor payments within the Prompt Payment Act timelines preventing late payment interest penalties</a:t>
            </a:r>
          </a:p>
          <a:p>
            <a:pPr marL="640004" lvl="1" indent="-182804">
              <a:lnSpc>
                <a:spcPct val="80000"/>
              </a:lnSpc>
              <a:buFontTx/>
              <a:buChar char="•"/>
              <a:defRPr/>
            </a:pPr>
            <a:r>
              <a:rPr lang="en-US" sz="1400" dirty="0" smtClean="0">
                <a:latin typeface="Arial Narrow" pitchFamily="34" charset="0"/>
              </a:rPr>
              <a:t>VA paid 607,630 out of 608,520 invoices on time in September</a:t>
            </a:r>
          </a:p>
          <a:p>
            <a:pPr marL="640004" lvl="1" indent="-182804">
              <a:lnSpc>
                <a:spcPct val="80000"/>
              </a:lnSpc>
              <a:buFontTx/>
              <a:buChar char="•"/>
              <a:defRPr/>
            </a:pPr>
            <a:r>
              <a:rPr lang="en-US" sz="1400" dirty="0" smtClean="0">
                <a:latin typeface="Arial Narrow" pitchFamily="34" charset="0"/>
              </a:rPr>
              <a:t>VA paid 6,090,092 out of 6,100,139 invoices on time for the Rolling 12 Months (99.84 percent)</a:t>
            </a:r>
          </a:p>
          <a:p>
            <a:pPr marL="640004" lvl="1" indent="-182804">
              <a:lnSpc>
                <a:spcPct val="80000"/>
              </a:lnSpc>
              <a:buFontTx/>
              <a:buChar char="•"/>
              <a:defRPr/>
            </a:pPr>
            <a:r>
              <a:rPr lang="en-US" sz="1400" dirty="0" smtClean="0">
                <a:latin typeface="Arial Narrow" pitchFamily="34" charset="0"/>
              </a:rPr>
              <a:t>Total principal for commercial payments subject to PPA in September was $1.103B</a:t>
            </a:r>
          </a:p>
          <a:p>
            <a:pPr marL="640004" lvl="1" indent="-182804">
              <a:lnSpc>
                <a:spcPct val="80000"/>
              </a:lnSpc>
              <a:buFontTx/>
              <a:buChar char="•"/>
              <a:defRPr/>
            </a:pPr>
            <a:endParaRPr lang="en-US" sz="1400" dirty="0" smtClean="0">
              <a:latin typeface="Arial Narrow" pitchFamily="34" charset="0"/>
            </a:endParaRPr>
          </a:p>
          <a:p>
            <a:pPr marL="457014" indent="-457014" eaLnBrk="1" hangingPunct="1">
              <a:defRPr/>
            </a:pPr>
            <a:endParaRPr lang="en-US" sz="1200" b="1" dirty="0" smtClean="0">
              <a:latin typeface="Arial Narrow" pitchFamily="34" charset="0"/>
            </a:endParaRPr>
          </a:p>
          <a:p>
            <a:pPr marL="457014" indent="-457014" eaLnBrk="1" hangingPunct="1">
              <a:defRPr/>
            </a:pPr>
            <a:endParaRPr lang="en-US" sz="1200" b="1" dirty="0">
              <a:latin typeface="Arial Narrow" pitchFamily="34" charset="0"/>
            </a:endParaRPr>
          </a:p>
          <a:p>
            <a:pPr marL="457014" indent="-457014" eaLnBrk="1" hangingPunct="1">
              <a:defRPr/>
            </a:pPr>
            <a:endParaRPr lang="en-US" sz="1000" b="1" dirty="0">
              <a:latin typeface="Arial Narrow" pitchFamily="34" charset="0"/>
            </a:endParaRPr>
          </a:p>
          <a:p>
            <a:pPr marL="457014" indent="-457014" eaLnBrk="1" hangingPunct="1">
              <a:defRPr/>
            </a:pPr>
            <a:r>
              <a:rPr lang="en-US" sz="1000" b="1" dirty="0">
                <a:latin typeface="Arial Narrow" pitchFamily="34" charset="0"/>
              </a:rPr>
              <a:t>Prepared by:</a:t>
            </a:r>
            <a:r>
              <a:rPr lang="en-US" sz="1000" dirty="0">
                <a:latin typeface="Arial Narrow" pitchFamily="34" charset="0"/>
              </a:rPr>
              <a:t>  </a:t>
            </a:r>
            <a:r>
              <a:rPr lang="en-US" sz="1000" dirty="0" smtClean="0">
                <a:latin typeface="Arial Narrow" pitchFamily="34" charset="0"/>
              </a:rPr>
              <a:t>Kevin Miers, Systems &amp; Procedures Analyst, </a:t>
            </a:r>
            <a:r>
              <a:rPr lang="en-US" sz="1000" dirty="0">
                <a:latin typeface="Arial Narrow" pitchFamily="34" charset="0"/>
              </a:rPr>
              <a:t>VA Financial Services Center, </a:t>
            </a:r>
            <a:r>
              <a:rPr lang="en-US" sz="1000" dirty="0" smtClean="0">
                <a:latin typeface="Arial Narrow" pitchFamily="34" charset="0"/>
                <a:hlinkClick r:id="rId2"/>
              </a:rPr>
              <a:t>Kevin.Miers@va.gov</a:t>
            </a:r>
            <a:r>
              <a:rPr lang="en-US" sz="1000" dirty="0" smtClean="0">
                <a:latin typeface="Arial Narrow" pitchFamily="34" charset="0"/>
              </a:rPr>
              <a:t> </a:t>
            </a:r>
          </a:p>
          <a:p>
            <a:pPr marL="457014" indent="-457014" eaLnBrk="1" hangingPunct="1">
              <a:defRPr/>
            </a:pPr>
            <a:r>
              <a:rPr lang="en-US" sz="1000" b="1" dirty="0" smtClean="0">
                <a:latin typeface="Arial Narrow" pitchFamily="34" charset="0"/>
              </a:rPr>
              <a:t>Approved </a:t>
            </a:r>
            <a:r>
              <a:rPr lang="en-US" sz="1000" b="1" dirty="0">
                <a:latin typeface="Arial Narrow" pitchFamily="34" charset="0"/>
              </a:rPr>
              <a:t>by:</a:t>
            </a:r>
            <a:r>
              <a:rPr lang="en-US" sz="1000" dirty="0">
                <a:latin typeface="Arial Narrow" pitchFamily="34" charset="0"/>
              </a:rPr>
              <a:t>  Robert Adams, Deputy Director, VA Financial Services Center, (512) 460-5002 </a:t>
            </a:r>
            <a:endParaRPr lang="en-US" sz="1000" dirty="0" smtClean="0">
              <a:latin typeface="Arial Narrow" pitchFamily="34" charset="0"/>
            </a:endParaRPr>
          </a:p>
          <a:p>
            <a:pPr marL="457014" indent="-457014" eaLnBrk="1" hangingPunct="1">
              <a:defRPr/>
            </a:pPr>
            <a:r>
              <a:rPr lang="en-US" sz="1000" b="1" dirty="0" smtClean="0">
                <a:latin typeface="Arial Narrow" pitchFamily="34" charset="0"/>
              </a:rPr>
              <a:t>Version </a:t>
            </a:r>
            <a:r>
              <a:rPr lang="en-US" sz="1000" b="1" dirty="0">
                <a:latin typeface="Arial Narrow" pitchFamily="34" charset="0"/>
              </a:rPr>
              <a:t>Date:</a:t>
            </a:r>
            <a:r>
              <a:rPr lang="en-US" sz="1000" dirty="0">
                <a:latin typeface="Arial Narrow" pitchFamily="34" charset="0"/>
              </a:rPr>
              <a:t> </a:t>
            </a:r>
            <a:r>
              <a:rPr lang="en-US" sz="1000" dirty="0" smtClean="0">
                <a:latin typeface="Arial Narrow" pitchFamily="34" charset="0"/>
              </a:rPr>
              <a:t>October 9, 2012</a:t>
            </a:r>
            <a:endParaRPr lang="en-US" sz="1000" dirty="0">
              <a:latin typeface="Arial Narrow" pitchFamily="34" charset="0"/>
            </a:endParaRPr>
          </a:p>
        </p:txBody>
      </p:sp>
      <p:sp>
        <p:nvSpPr>
          <p:cNvPr id="3" name="TextBox 2"/>
          <p:cNvSpPr txBox="1"/>
          <p:nvPr/>
        </p:nvSpPr>
        <p:spPr>
          <a:xfrm>
            <a:off x="533400" y="304800"/>
            <a:ext cx="8001000" cy="369332"/>
          </a:xfrm>
          <a:prstGeom prst="rect">
            <a:avLst/>
          </a:prstGeom>
          <a:noFill/>
        </p:spPr>
        <p:txBody>
          <a:bodyPr wrap="square" rtlCol="0">
            <a:spAutoFit/>
          </a:bodyPr>
          <a:lstStyle/>
          <a:p>
            <a:pPr algn="ctr"/>
            <a:r>
              <a:rPr lang="en-US" dirty="0" smtClean="0">
                <a:latin typeface="Arial Rounded MT Bold" pitchFamily="34" charset="0"/>
              </a:rPr>
              <a:t>Commercial Vendor Payment Timeliness</a:t>
            </a:r>
            <a:endParaRPr lang="en-US" dirty="0"/>
          </a:p>
        </p:txBody>
      </p:sp>
    </p:spTree>
    <p:extLst>
      <p:ext uri="{BB962C8B-B14F-4D97-AF65-F5344CB8AC3E}">
        <p14:creationId xmlns="" xmlns:p14="http://schemas.microsoft.com/office/powerpoint/2010/main" val="2742963556"/>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3187" name="Group 3"/>
          <p:cNvGraphicFramePr>
            <a:graphicFrameLocks noGrp="1"/>
          </p:cNvGraphicFramePr>
          <p:nvPr>
            <p:extLst>
              <p:ext uri="{D42A27DB-BD31-4B8C-83A1-F6EECF244321}">
                <p14:modId xmlns="" xmlns:p14="http://schemas.microsoft.com/office/powerpoint/2010/main" val="210218988"/>
              </p:ext>
            </p:extLst>
          </p:nvPr>
        </p:nvGraphicFramePr>
        <p:xfrm>
          <a:off x="6477000" y="0"/>
          <a:ext cx="2667000" cy="991553"/>
        </p:xfrm>
        <a:graphic>
          <a:graphicData uri="http://schemas.openxmlformats.org/drawingml/2006/table">
            <a:tbl>
              <a:tblPr/>
              <a:tblGrid>
                <a:gridCol w="1797086"/>
                <a:gridCol w="869914"/>
              </a:tblGrid>
              <a:tr h="228600">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Status</a:t>
                      </a:r>
                    </a:p>
                  </a:txBody>
                  <a:tcPr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B8D2EA"/>
                    </a:solidFill>
                  </a:tcPr>
                </a:tc>
                <a:tc hMerge="1">
                  <a:txBody>
                    <a:bodyPr/>
                    <a:lstStyle/>
                    <a:p>
                      <a:endParaRPr lang="en-US"/>
                    </a:p>
                  </a:txBody>
                  <a:tcPr/>
                </a:tc>
              </a:tr>
              <a:tr h="24765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Current Month (September)</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1" i="0" u="none" strike="noStrike" cap="none" normalizeH="0" baseline="0" dirty="0" smtClean="0">
                        <a:ln>
                          <a:noFill/>
                        </a:ln>
                        <a:solidFill>
                          <a:srgbClr val="00B050"/>
                        </a:solidFill>
                        <a:effectLst/>
                        <a:latin typeface="Arial"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2413">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Next Month (October)</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1" i="0" u="none" strike="noStrike" cap="none" normalizeH="0" baseline="0" dirty="0" smtClean="0">
                        <a:ln>
                          <a:noFill/>
                        </a:ln>
                        <a:solidFill>
                          <a:srgbClr val="00B050"/>
                        </a:solidFill>
                        <a:effectLst/>
                        <a:latin typeface="Arial"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765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Projected Green Date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charset="0"/>
                        </a:rPr>
                        <a:t>  N/A  </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sp>
        <p:nvSpPr>
          <p:cNvPr id="5136" name="Rectangle 26"/>
          <p:cNvSpPr>
            <a:spLocks noChangeArrowheads="1"/>
          </p:cNvSpPr>
          <p:nvPr/>
        </p:nvSpPr>
        <p:spPr bwMode="auto">
          <a:xfrm>
            <a:off x="3657600" y="914400"/>
            <a:ext cx="5248275" cy="1244600"/>
          </a:xfrm>
          <a:prstGeom prst="rect">
            <a:avLst/>
          </a:prstGeom>
          <a:noFill/>
          <a:ln w="9525">
            <a:noFill/>
            <a:miter lim="800000"/>
            <a:headEnd/>
            <a:tailEnd/>
          </a:ln>
        </p:spPr>
        <p:txBody>
          <a:bodyPr anchor="ctr"/>
          <a:lstStyle/>
          <a:p>
            <a:pPr algn="ctr"/>
            <a:r>
              <a:rPr lang="en-US" sz="1600" dirty="0" smtClean="0">
                <a:solidFill>
                  <a:srgbClr val="0000FF"/>
                </a:solidFill>
                <a:latin typeface="Arial Rounded MT Bold" pitchFamily="34" charset="0"/>
              </a:rPr>
              <a:t>Metrics Detail: </a:t>
            </a:r>
            <a:r>
              <a:rPr lang="en-US" sz="1600" dirty="0">
                <a:solidFill>
                  <a:srgbClr val="0000FF"/>
                </a:solidFill>
                <a:latin typeface="Arial Rounded MT Bold" pitchFamily="34" charset="0"/>
              </a:rPr>
              <a:t/>
            </a:r>
            <a:br>
              <a:rPr lang="en-US" sz="1600" dirty="0">
                <a:solidFill>
                  <a:srgbClr val="0000FF"/>
                </a:solidFill>
                <a:latin typeface="Arial Rounded MT Bold" pitchFamily="34" charset="0"/>
              </a:rPr>
            </a:br>
            <a:r>
              <a:rPr lang="en-US" sz="1600" dirty="0" smtClean="0">
                <a:solidFill>
                  <a:srgbClr val="800000"/>
                </a:solidFill>
                <a:latin typeface="Arial Rounded MT Bold" pitchFamily="34" charset="0"/>
              </a:rPr>
              <a:t> Commercial Vendor Payment Timeliness</a:t>
            </a:r>
          </a:p>
          <a:p>
            <a:pPr algn="ctr"/>
            <a:r>
              <a:rPr lang="en-US" sz="1600" dirty="0" smtClean="0">
                <a:solidFill>
                  <a:srgbClr val="800000"/>
                </a:solidFill>
                <a:latin typeface="Arial Rounded MT Bold" pitchFamily="34" charset="0"/>
              </a:rPr>
              <a:t> </a:t>
            </a:r>
            <a:r>
              <a:rPr lang="en-US" sz="1600" b="1" dirty="0" smtClean="0"/>
              <a:t>Timeliness Exceeds </a:t>
            </a:r>
            <a:r>
              <a:rPr lang="en-US" sz="1600" b="1" dirty="0"/>
              <a:t>Goal </a:t>
            </a:r>
            <a:r>
              <a:rPr lang="en-US" sz="1600" dirty="0">
                <a:solidFill>
                  <a:srgbClr val="0000FF"/>
                </a:solidFill>
                <a:latin typeface="Arial Rounded MT Bold" pitchFamily="34" charset="0"/>
              </a:rPr>
              <a:t/>
            </a:r>
            <a:br>
              <a:rPr lang="en-US" sz="1600" dirty="0">
                <a:solidFill>
                  <a:srgbClr val="0000FF"/>
                </a:solidFill>
                <a:latin typeface="Arial Rounded MT Bold" pitchFamily="34" charset="0"/>
              </a:rPr>
            </a:br>
            <a:r>
              <a:rPr lang="en-US" sz="1600" dirty="0">
                <a:latin typeface="Arial Rounded MT Bold" pitchFamily="34" charset="0"/>
              </a:rPr>
              <a:t> </a:t>
            </a:r>
            <a:endParaRPr lang="en-US" sz="1400" dirty="0">
              <a:latin typeface="Arial Rounded MT Bold" pitchFamily="34" charset="0"/>
            </a:endParaRPr>
          </a:p>
        </p:txBody>
      </p:sp>
      <p:graphicFrame>
        <p:nvGraphicFramePr>
          <p:cNvPr id="93211" name="Group 27"/>
          <p:cNvGraphicFramePr>
            <a:graphicFrameLocks noGrp="1"/>
          </p:cNvGraphicFramePr>
          <p:nvPr/>
        </p:nvGraphicFramePr>
        <p:xfrm>
          <a:off x="0" y="0"/>
          <a:ext cx="2971800" cy="1813561"/>
        </p:xfrm>
        <a:graphic>
          <a:graphicData uri="http://schemas.openxmlformats.org/drawingml/2006/table">
            <a:tbl>
              <a:tblPr/>
              <a:tblGrid>
                <a:gridCol w="914400"/>
                <a:gridCol w="2057400"/>
              </a:tblGrid>
              <a:tr h="227013">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Linkages</a:t>
                      </a:r>
                    </a:p>
                  </a:txBody>
                  <a:tcPr horzOverflow="overflow">
                    <a:lnL cap="flat">
                      <a:noFill/>
                    </a:lnL>
                    <a:lnR cap="flat">
                      <a:noFill/>
                    </a:lnR>
                    <a:lnT cap="flat">
                      <a:noFill/>
                    </a:lnT>
                    <a:lnB>
                      <a:noFill/>
                    </a:lnB>
                    <a:lnTlToBr>
                      <a:noFill/>
                    </a:lnTlToBr>
                    <a:lnBlToTr>
                      <a:noFill/>
                    </a:lnBlToTr>
                    <a:solidFill>
                      <a:srgbClr val="EDD4A1"/>
                    </a:solidFill>
                  </a:tcPr>
                </a:tc>
                <a:tc hMerge="1">
                  <a:txBody>
                    <a:bodyPr/>
                    <a:lstStyle/>
                    <a:p>
                      <a:endParaRPr lang="en-US"/>
                    </a:p>
                  </a:txBody>
                  <a:tcPr/>
                </a:tc>
              </a:tr>
              <a:tr h="236538">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Org</a:t>
                      </a:r>
                    </a:p>
                  </a:txBody>
                  <a:tcPr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OM</a:t>
                      </a:r>
                    </a:p>
                  </a:txBody>
                  <a:tcPr horzOverflow="overflow">
                    <a:lnL w="12700" cap="flat" cmpd="sng" algn="ctr">
                      <a:solidFill>
                        <a:schemeClr val="tx1"/>
                      </a:solidFill>
                      <a:prstDash val="solid"/>
                      <a:round/>
                      <a:headEnd type="none" w="med" len="med"/>
                      <a:tailEnd type="none" w="med" len="med"/>
                    </a:lnL>
                    <a:lnR cap="flat">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r>
              <a:tr h="265113">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B/Line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Enabling</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Metric Type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Performance</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082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B/Scorecard</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Operations</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812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Strategic Goal</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4</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6538">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Narrow" pitchFamily="34" charset="0"/>
                        </a:rPr>
                        <a:t>Corp Outcome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solidFill>
                      <a:srgbClr val="FFFF00"/>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pitchFamily="34" charset="0"/>
                        </a:rPr>
                        <a:t>Improve Management and Support Services Timeliness</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solidFill>
                      <a:srgbClr val="FFFF00"/>
                    </a:solidFill>
                  </a:tcPr>
                </a:tc>
              </a:tr>
            </a:tbl>
          </a:graphicData>
        </a:graphic>
      </p:graphicFrame>
      <p:sp>
        <p:nvSpPr>
          <p:cNvPr id="5157" name="TextBox 16"/>
          <p:cNvSpPr txBox="1">
            <a:spLocks noChangeArrowheads="1"/>
          </p:cNvSpPr>
          <p:nvPr/>
        </p:nvSpPr>
        <p:spPr bwMode="auto">
          <a:xfrm>
            <a:off x="5562600" y="838200"/>
            <a:ext cx="914400" cy="369888"/>
          </a:xfrm>
          <a:prstGeom prst="rect">
            <a:avLst/>
          </a:prstGeom>
          <a:noFill/>
          <a:ln w="9525">
            <a:noFill/>
            <a:miter lim="800000"/>
            <a:headEnd/>
            <a:tailEnd/>
          </a:ln>
        </p:spPr>
        <p:txBody>
          <a:bodyPr>
            <a:spAutoFit/>
          </a:bodyPr>
          <a:lstStyle/>
          <a:p>
            <a:endParaRPr lang="en-US" dirty="0"/>
          </a:p>
        </p:txBody>
      </p:sp>
      <p:sp>
        <p:nvSpPr>
          <p:cNvPr id="5159" name="Slide Number Placeholder 16"/>
          <p:cNvSpPr>
            <a:spLocks noGrp="1"/>
          </p:cNvSpPr>
          <p:nvPr>
            <p:ph type="sldNum" sz="quarter" idx="11"/>
          </p:nvPr>
        </p:nvSpPr>
        <p:spPr>
          <a:xfrm>
            <a:off x="6553200" y="6356350"/>
            <a:ext cx="2133600" cy="365125"/>
          </a:xfrm>
          <a:noFill/>
        </p:spPr>
        <p:txBody>
          <a:bodyPr/>
          <a:lstStyle/>
          <a:p>
            <a:fld id="{B0756BEF-E3B6-4B30-98B6-41D82E769A60}" type="slidenum">
              <a:rPr lang="en-US" smtClean="0">
                <a:latin typeface="Arial" pitchFamily="34" charset="0"/>
              </a:rPr>
              <a:pPr/>
              <a:t>10</a:t>
            </a:fld>
            <a:endParaRPr lang="en-US" dirty="0" smtClean="0">
              <a:latin typeface="Arial" pitchFamily="34" charset="0"/>
            </a:endParaRPr>
          </a:p>
        </p:txBody>
      </p:sp>
      <p:sp>
        <p:nvSpPr>
          <p:cNvPr id="5161" name="Date Placeholder 1"/>
          <p:cNvSpPr>
            <a:spLocks noGrp="1"/>
          </p:cNvSpPr>
          <p:nvPr>
            <p:ph type="dt" sz="quarter" idx="10"/>
          </p:nvPr>
        </p:nvSpPr>
        <p:spPr>
          <a:xfrm>
            <a:off x="609600" y="6248400"/>
            <a:ext cx="2938463" cy="609601"/>
          </a:xfrm>
          <a:noFill/>
        </p:spPr>
        <p:txBody>
          <a:bodyPr/>
          <a:lstStyle/>
          <a:p>
            <a:r>
              <a:rPr lang="en-US" dirty="0" smtClean="0">
                <a:latin typeface="Arial" pitchFamily="34" charset="0"/>
              </a:rPr>
              <a:t>SG4 - Data Through September 2012</a:t>
            </a:r>
          </a:p>
        </p:txBody>
      </p:sp>
      <p:sp>
        <p:nvSpPr>
          <p:cNvPr id="5162" name="Oval 28"/>
          <p:cNvSpPr>
            <a:spLocks noChangeArrowheads="1"/>
          </p:cNvSpPr>
          <p:nvPr/>
        </p:nvSpPr>
        <p:spPr bwMode="auto">
          <a:xfrm>
            <a:off x="8610600" y="304800"/>
            <a:ext cx="152400" cy="152400"/>
          </a:xfrm>
          <a:prstGeom prst="ellipse">
            <a:avLst/>
          </a:prstGeom>
          <a:solidFill>
            <a:srgbClr val="00B050"/>
          </a:solidFill>
          <a:ln w="9525">
            <a:solidFill>
              <a:schemeClr val="tx1"/>
            </a:solidFill>
            <a:round/>
            <a:headEnd/>
            <a:tailEnd/>
          </a:ln>
        </p:spPr>
        <p:txBody>
          <a:bodyPr wrap="none" anchor="ctr"/>
          <a:lstStyle/>
          <a:p>
            <a:pPr algn="ctr"/>
            <a:r>
              <a:rPr lang="en-US" sz="1000" dirty="0"/>
              <a:t>G</a:t>
            </a:r>
          </a:p>
        </p:txBody>
      </p:sp>
      <p:sp>
        <p:nvSpPr>
          <p:cNvPr id="5163" name="Oval 28"/>
          <p:cNvSpPr>
            <a:spLocks noChangeArrowheads="1"/>
          </p:cNvSpPr>
          <p:nvPr/>
        </p:nvSpPr>
        <p:spPr bwMode="auto">
          <a:xfrm>
            <a:off x="8610600" y="533400"/>
            <a:ext cx="152400" cy="152400"/>
          </a:xfrm>
          <a:prstGeom prst="ellipse">
            <a:avLst/>
          </a:prstGeom>
          <a:solidFill>
            <a:srgbClr val="00B050"/>
          </a:solidFill>
          <a:ln w="9525">
            <a:solidFill>
              <a:schemeClr val="tx1"/>
            </a:solidFill>
            <a:round/>
            <a:headEnd/>
            <a:tailEnd/>
          </a:ln>
        </p:spPr>
        <p:txBody>
          <a:bodyPr wrap="none" anchor="ctr"/>
          <a:lstStyle/>
          <a:p>
            <a:pPr algn="ctr"/>
            <a:r>
              <a:rPr lang="en-US" sz="1000" dirty="0"/>
              <a:t>G</a:t>
            </a:r>
          </a:p>
        </p:txBody>
      </p:sp>
      <p:sp>
        <p:nvSpPr>
          <p:cNvPr id="12" name="TextBox 11"/>
          <p:cNvSpPr txBox="1"/>
          <p:nvPr/>
        </p:nvSpPr>
        <p:spPr>
          <a:xfrm>
            <a:off x="457200" y="3124199"/>
            <a:ext cx="1524000" cy="577081"/>
          </a:xfrm>
          <a:prstGeom prst="rect">
            <a:avLst/>
          </a:prstGeom>
          <a:noFill/>
        </p:spPr>
        <p:txBody>
          <a:bodyPr wrap="square" rtlCol="0">
            <a:spAutoFit/>
          </a:bodyPr>
          <a:lstStyle/>
          <a:p>
            <a:r>
              <a:rPr lang="en-US" sz="1050" dirty="0" smtClean="0"/>
              <a:t>Percent Paid Within Prompt Payment Act Guidelines</a:t>
            </a:r>
            <a:endParaRPr lang="en-US" sz="1050" dirty="0"/>
          </a:p>
        </p:txBody>
      </p:sp>
      <p:graphicFrame>
        <p:nvGraphicFramePr>
          <p:cNvPr id="36867" name="Object 2"/>
          <p:cNvGraphicFramePr>
            <a:graphicFrameLocks noGrp="1" noChangeAspect="1"/>
          </p:cNvGraphicFramePr>
          <p:nvPr>
            <p:extLst>
              <p:ext uri="{D42A27DB-BD31-4B8C-83A1-F6EECF244321}">
                <p14:modId xmlns="" xmlns:p14="http://schemas.microsoft.com/office/powerpoint/2010/main" val="2754189135"/>
              </p:ext>
            </p:extLst>
          </p:nvPr>
        </p:nvGraphicFramePr>
        <p:xfrm>
          <a:off x="-161925" y="1828800"/>
          <a:ext cx="9204325" cy="4679950"/>
        </p:xfrm>
        <a:graphic>
          <a:graphicData uri="http://schemas.openxmlformats.org/presentationml/2006/ole">
            <p:oleObj spid="_x0000_s100371" name="Worksheet" r:id="rId4" imgW="7229568" imgH="4715010" progId="Excel.Sheet.8">
              <p:embed/>
            </p:oleObj>
          </a:graphicData>
        </a:graphic>
      </p:graphicFrame>
    </p:spTree>
    <p:extLst>
      <p:ext uri="{BB962C8B-B14F-4D97-AF65-F5344CB8AC3E}">
        <p14:creationId xmlns="" xmlns:p14="http://schemas.microsoft.com/office/powerpoint/2010/main" val="1548511142"/>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136875</TotalTime>
  <Words>1280</Words>
  <Application>Microsoft Office PowerPoint</Application>
  <PresentationFormat>On-screen Show (4:3)</PresentationFormat>
  <Paragraphs>323</Paragraphs>
  <Slides>10</Slides>
  <Notes>6</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2" baseType="lpstr">
      <vt:lpstr>Office Theme</vt:lpstr>
      <vt:lpstr>Worksheet</vt:lpstr>
      <vt:lpstr>Improper Payments Initiative</vt:lpstr>
      <vt:lpstr>Improper Payments Initiative</vt:lpstr>
      <vt:lpstr>Slide 3</vt:lpstr>
      <vt:lpstr>Slide 4</vt:lpstr>
      <vt:lpstr>Slide 5</vt:lpstr>
      <vt:lpstr>Slide 6</vt:lpstr>
      <vt:lpstr>Slide 7</vt:lpstr>
      <vt:lpstr>Slide 8</vt:lpstr>
      <vt:lpstr>Slide 9</vt:lpstr>
      <vt:lpstr>Slide 10</vt:lpstr>
    </vt:vector>
  </TitlesOfParts>
  <Company>Department of Veterans Affairs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John D Gardner</dc:creator>
  <cp:lastModifiedBy>J. Schroeder</cp:lastModifiedBy>
  <cp:revision>576</cp:revision>
  <cp:lastPrinted>2012-09-07T15:17:07Z</cp:lastPrinted>
  <dcterms:created xsi:type="dcterms:W3CDTF">2011-01-25T19:25:14Z</dcterms:created>
  <dcterms:modified xsi:type="dcterms:W3CDTF">2012-10-15T20:11:29Z</dcterms:modified>
</cp:coreProperties>
</file>